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63" r:id="rId4"/>
    <p:sldId id="266" r:id="rId5"/>
    <p:sldId id="269" r:id="rId6"/>
    <p:sldId id="270" r:id="rId7"/>
    <p:sldId id="271" r:id="rId8"/>
    <p:sldId id="264" r:id="rId9"/>
    <p:sldId id="265" r:id="rId10"/>
    <p:sldId id="274"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7" autoAdjust="0"/>
    <p:restoredTop sz="94660"/>
  </p:normalViewPr>
  <p:slideViewPr>
    <p:cSldViewPr snapToGrid="0">
      <p:cViewPr varScale="1">
        <p:scale>
          <a:sx n="102" d="100"/>
          <a:sy n="102" d="100"/>
        </p:scale>
        <p:origin x="95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50" userId="0c075c7a-c56d-4223-ba82-0fbc2daf02ce" providerId="ADAL" clId="{F1751D50-CC1B-4FD8-AFD5-E54675ABA23D}"/>
    <pc:docChg chg="undo custSel addSld modSld">
      <pc:chgData name="matthew50" userId="0c075c7a-c56d-4223-ba82-0fbc2daf02ce" providerId="ADAL" clId="{F1751D50-CC1B-4FD8-AFD5-E54675ABA23D}" dt="2025-09-16T15:46:22.093" v="46" actId="1076"/>
      <pc:docMkLst>
        <pc:docMk/>
      </pc:docMkLst>
      <pc:sldChg chg="add">
        <pc:chgData name="matthew50" userId="0c075c7a-c56d-4223-ba82-0fbc2daf02ce" providerId="ADAL" clId="{F1751D50-CC1B-4FD8-AFD5-E54675ABA23D}" dt="2025-09-16T14:28:06.649" v="0"/>
        <pc:sldMkLst>
          <pc:docMk/>
          <pc:sldMk cId="287998288" sldId="263"/>
        </pc:sldMkLst>
      </pc:sldChg>
      <pc:sldChg chg="add">
        <pc:chgData name="matthew50" userId="0c075c7a-c56d-4223-ba82-0fbc2daf02ce" providerId="ADAL" clId="{F1751D50-CC1B-4FD8-AFD5-E54675ABA23D}" dt="2025-09-16T14:28:30.735" v="2"/>
        <pc:sldMkLst>
          <pc:docMk/>
          <pc:sldMk cId="531832758" sldId="264"/>
        </pc:sldMkLst>
      </pc:sldChg>
      <pc:sldChg chg="add">
        <pc:chgData name="matthew50" userId="0c075c7a-c56d-4223-ba82-0fbc2daf02ce" providerId="ADAL" clId="{F1751D50-CC1B-4FD8-AFD5-E54675ABA23D}" dt="2025-09-16T14:28:30.735" v="2"/>
        <pc:sldMkLst>
          <pc:docMk/>
          <pc:sldMk cId="2581071234" sldId="265"/>
        </pc:sldMkLst>
      </pc:sldChg>
      <pc:sldChg chg="add">
        <pc:chgData name="matthew50" userId="0c075c7a-c56d-4223-ba82-0fbc2daf02ce" providerId="ADAL" clId="{F1751D50-CC1B-4FD8-AFD5-E54675ABA23D}" dt="2025-09-16T14:28:43.628" v="3"/>
        <pc:sldMkLst>
          <pc:docMk/>
          <pc:sldMk cId="1475457295" sldId="266"/>
        </pc:sldMkLst>
      </pc:sldChg>
      <pc:sldChg chg="add">
        <pc:chgData name="matthew50" userId="0c075c7a-c56d-4223-ba82-0fbc2daf02ce" providerId="ADAL" clId="{F1751D50-CC1B-4FD8-AFD5-E54675ABA23D}" dt="2025-09-16T14:28:20.486" v="1"/>
        <pc:sldMkLst>
          <pc:docMk/>
          <pc:sldMk cId="1075866558" sldId="269"/>
        </pc:sldMkLst>
      </pc:sldChg>
      <pc:sldChg chg="add">
        <pc:chgData name="matthew50" userId="0c075c7a-c56d-4223-ba82-0fbc2daf02ce" providerId="ADAL" clId="{F1751D50-CC1B-4FD8-AFD5-E54675ABA23D}" dt="2025-09-16T14:28:20.486" v="1"/>
        <pc:sldMkLst>
          <pc:docMk/>
          <pc:sldMk cId="19390608" sldId="270"/>
        </pc:sldMkLst>
      </pc:sldChg>
      <pc:sldChg chg="add">
        <pc:chgData name="matthew50" userId="0c075c7a-c56d-4223-ba82-0fbc2daf02ce" providerId="ADAL" clId="{F1751D50-CC1B-4FD8-AFD5-E54675ABA23D}" dt="2025-09-16T14:28:20.486" v="1"/>
        <pc:sldMkLst>
          <pc:docMk/>
          <pc:sldMk cId="3480245081" sldId="271"/>
        </pc:sldMkLst>
      </pc:sldChg>
      <pc:sldChg chg="add">
        <pc:chgData name="matthew50" userId="0c075c7a-c56d-4223-ba82-0fbc2daf02ce" providerId="ADAL" clId="{F1751D50-CC1B-4FD8-AFD5-E54675ABA23D}" dt="2025-09-16T14:28:50.063" v="4"/>
        <pc:sldMkLst>
          <pc:docMk/>
          <pc:sldMk cId="3338093369" sldId="272"/>
        </pc:sldMkLst>
      </pc:sldChg>
      <pc:sldChg chg="addSp delSp modSp new mod">
        <pc:chgData name="matthew50" userId="0c075c7a-c56d-4223-ba82-0fbc2daf02ce" providerId="ADAL" clId="{F1751D50-CC1B-4FD8-AFD5-E54675ABA23D}" dt="2025-09-16T15:46:22.093" v="46" actId="1076"/>
        <pc:sldMkLst>
          <pc:docMk/>
          <pc:sldMk cId="2568451538" sldId="273"/>
        </pc:sldMkLst>
        <pc:spChg chg="add mod">
          <ac:chgData name="matthew50" userId="0c075c7a-c56d-4223-ba82-0fbc2daf02ce" providerId="ADAL" clId="{F1751D50-CC1B-4FD8-AFD5-E54675ABA23D}" dt="2025-09-16T15:46:22.093" v="46" actId="1076"/>
          <ac:spMkLst>
            <pc:docMk/>
            <pc:sldMk cId="2568451538" sldId="273"/>
            <ac:spMk id="14" creationId="{AB378A84-1DF6-4499-BEAE-7103E5B10418}"/>
          </ac:spMkLst>
        </pc:spChg>
      </pc:sldChg>
      <pc:sldChg chg="addSp delSp modSp new mod">
        <pc:chgData name="matthew50" userId="0c075c7a-c56d-4223-ba82-0fbc2daf02ce" providerId="ADAL" clId="{F1751D50-CC1B-4FD8-AFD5-E54675ABA23D}" dt="2025-09-16T15:44:38.922" v="32" actId="1076"/>
        <pc:sldMkLst>
          <pc:docMk/>
          <pc:sldMk cId="657959303" sldId="274"/>
        </pc:sldMkLst>
        <pc:spChg chg="add mod">
          <ac:chgData name="matthew50" userId="0c075c7a-c56d-4223-ba82-0fbc2daf02ce" providerId="ADAL" clId="{F1751D50-CC1B-4FD8-AFD5-E54675ABA23D}" dt="2025-09-16T15:44:38.922" v="32" actId="1076"/>
          <ac:spMkLst>
            <pc:docMk/>
            <pc:sldMk cId="657959303" sldId="274"/>
            <ac:spMk id="13" creationId="{C118CE42-1DDB-7E6C-2178-63D3001C1D7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6C89B-26D4-1F39-17E4-AA33CFF63F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3DD0006-6756-ED65-7031-83043FB723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0BA02F-382D-75D6-A2CA-4B981F07A919}"/>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5" name="Footer Placeholder 4">
            <a:extLst>
              <a:ext uri="{FF2B5EF4-FFF2-40B4-BE49-F238E27FC236}">
                <a16:creationId xmlns:a16="http://schemas.microsoft.com/office/drawing/2014/main" id="{448F7DB0-DE77-5632-2956-C46E2B38A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D551FD-94BC-58E3-D149-3A4A49E7BC9F}"/>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3977034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1EF9E-6D7D-3FB7-5357-E620CB2851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281A4C-4F2C-AEFC-0ECA-9BFC1E0D87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6A2E81-ACED-2942-CAF1-5B7C74AA37EA}"/>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5" name="Footer Placeholder 4">
            <a:extLst>
              <a:ext uri="{FF2B5EF4-FFF2-40B4-BE49-F238E27FC236}">
                <a16:creationId xmlns:a16="http://schemas.microsoft.com/office/drawing/2014/main" id="{A9052E83-509B-5CA0-2A23-9DC72C573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D307EB-1DBD-E0CD-36BE-6CB5CE0FA01D}"/>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4061439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412C-3B0F-0AB4-A626-7BA1DC7B41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8460BB-1F98-EBB4-E131-4696827D72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9E43E2-F180-2A39-8AE4-615FB2738877}"/>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5" name="Footer Placeholder 4">
            <a:extLst>
              <a:ext uri="{FF2B5EF4-FFF2-40B4-BE49-F238E27FC236}">
                <a16:creationId xmlns:a16="http://schemas.microsoft.com/office/drawing/2014/main" id="{861DD580-91B3-8816-EAD5-23238EE57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8BD1FF-D53E-EC3A-9D8D-AC89954C5F74}"/>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650803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70254-67BD-349C-0AA9-C044A02B9E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CF02F-BE25-15E7-C818-84EB11815E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8AA9A7-B699-42ED-4161-3065261A6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9785CF-7A4F-9F9F-F0CB-F3FDC4BFBE9D}"/>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6" name="Footer Placeholder 5">
            <a:extLst>
              <a:ext uri="{FF2B5EF4-FFF2-40B4-BE49-F238E27FC236}">
                <a16:creationId xmlns:a16="http://schemas.microsoft.com/office/drawing/2014/main" id="{6E55214B-201E-4FE9-BE6A-CE25747EB0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8C980-61C4-19CC-4899-8166C7747706}"/>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79384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96613-F5B3-1DA8-F0E5-53A8BC6D20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099AF7-8D36-5B99-8182-E99151AE80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F44A22-4610-AADC-D966-C008BC0CEF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EA82DF-EAD2-8CC2-E6CA-5D188CAF94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CD40E3-FA8F-9C4B-4F13-4B49E26DDC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6987C7-2BAD-D331-65EC-407B8913B23E}"/>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8" name="Footer Placeholder 7">
            <a:extLst>
              <a:ext uri="{FF2B5EF4-FFF2-40B4-BE49-F238E27FC236}">
                <a16:creationId xmlns:a16="http://schemas.microsoft.com/office/drawing/2014/main" id="{46C64624-CD3A-F694-C519-A0F041A081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95DB21-BEB2-8976-8AD3-B5ACE10443BA}"/>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534558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508DB-EE96-EB4D-C3A8-327E734E4F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79C6F2-B9B7-5FD1-953C-6E3C054FB56C}"/>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4" name="Footer Placeholder 3">
            <a:extLst>
              <a:ext uri="{FF2B5EF4-FFF2-40B4-BE49-F238E27FC236}">
                <a16:creationId xmlns:a16="http://schemas.microsoft.com/office/drawing/2014/main" id="{2D55A455-8842-2503-677A-AF2A6E82E8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AB0792-5AB0-D783-F93D-A3028D34A713}"/>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966252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9E62C6-EFC1-B8BA-53DC-5B532A95C264}"/>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3" name="Footer Placeholder 2">
            <a:extLst>
              <a:ext uri="{FF2B5EF4-FFF2-40B4-BE49-F238E27FC236}">
                <a16:creationId xmlns:a16="http://schemas.microsoft.com/office/drawing/2014/main" id="{12CE68ED-FED4-A184-CCF7-844363628C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D936D7-9D3D-0FCD-77FD-5EB7780E714A}"/>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356383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381C4-393F-5EFE-0CF1-CB36A13AD6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16322F-6038-82CE-5B41-EC8D4F50AD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1C320C-A2B5-37A4-FA9B-1B5D14E38D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26AA66-B941-6AD2-2FE5-09BC5F741F77}"/>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6" name="Footer Placeholder 5">
            <a:extLst>
              <a:ext uri="{FF2B5EF4-FFF2-40B4-BE49-F238E27FC236}">
                <a16:creationId xmlns:a16="http://schemas.microsoft.com/office/drawing/2014/main" id="{D97056E2-537D-6CB9-1696-E0598D8F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DF6F4-4E6D-AC4A-9126-1D3762992D39}"/>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4228587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E27A4-9FA3-CDB4-6488-C9C85B27C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09A9C-D1A6-4AB4-BA06-376361AEE1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D2F7C7-351F-97BE-1762-AFDBE4399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75E034-CAEE-F8C0-C8CA-3C18F84A2581}"/>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6" name="Footer Placeholder 5">
            <a:extLst>
              <a:ext uri="{FF2B5EF4-FFF2-40B4-BE49-F238E27FC236}">
                <a16:creationId xmlns:a16="http://schemas.microsoft.com/office/drawing/2014/main" id="{29B664CE-2BE4-0048-BC4C-7E8CAF7B8C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8C5F83-2D5B-BEDB-A084-6A6EBF98BC9F}"/>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2334199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086C-CC9B-5134-DFD8-B8DFE8F3E1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EA89BE-6A09-A0F0-E698-150A7D8614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3270D-BB1A-0A4D-DEBD-47A687978A65}"/>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5" name="Footer Placeholder 4">
            <a:extLst>
              <a:ext uri="{FF2B5EF4-FFF2-40B4-BE49-F238E27FC236}">
                <a16:creationId xmlns:a16="http://schemas.microsoft.com/office/drawing/2014/main" id="{BF1A6BFB-6DE8-7CDF-3F14-F1A255E7B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028E93-096E-8419-9C61-E40C12DAD9D7}"/>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211739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626DFE-E5C8-DBC0-C085-D0CFFDCE2E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881A4C-75BE-C08A-6ED6-F24021C4EE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B86A1B-C600-D215-6B5E-A9D17083290A}"/>
              </a:ext>
            </a:extLst>
          </p:cNvPr>
          <p:cNvSpPr>
            <a:spLocks noGrp="1"/>
          </p:cNvSpPr>
          <p:nvPr>
            <p:ph type="dt" sz="half" idx="10"/>
          </p:nvPr>
        </p:nvSpPr>
        <p:spPr/>
        <p:txBody>
          <a:bodyPr/>
          <a:lstStyle/>
          <a:p>
            <a:fld id="{F07D9696-E5F9-427C-AC6C-B4B1ECAFAF0A}" type="datetimeFigureOut">
              <a:rPr lang="en-US" smtClean="0"/>
              <a:t>9/17/2025</a:t>
            </a:fld>
            <a:endParaRPr lang="en-US"/>
          </a:p>
        </p:txBody>
      </p:sp>
      <p:sp>
        <p:nvSpPr>
          <p:cNvPr id="5" name="Footer Placeholder 4">
            <a:extLst>
              <a:ext uri="{FF2B5EF4-FFF2-40B4-BE49-F238E27FC236}">
                <a16:creationId xmlns:a16="http://schemas.microsoft.com/office/drawing/2014/main" id="{4C0CC5F8-DBA5-31FA-F08C-DCC32F54B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E6E91-A6B7-88B7-7389-860DD4444213}"/>
              </a:ext>
            </a:extLst>
          </p:cNvPr>
          <p:cNvSpPr>
            <a:spLocks noGrp="1"/>
          </p:cNvSpPr>
          <p:nvPr>
            <p:ph type="sldNum" sz="quarter" idx="12"/>
          </p:nvPr>
        </p:nvSpPr>
        <p:spPr/>
        <p:txBody>
          <a:bodyPr/>
          <a:lstStyle/>
          <a:p>
            <a:fld id="{82760331-2381-4834-869E-82F3E4172B9C}" type="slidenum">
              <a:rPr lang="en-US" smtClean="0"/>
              <a:t>‹#›</a:t>
            </a:fld>
            <a:endParaRPr lang="en-US"/>
          </a:p>
        </p:txBody>
      </p:sp>
    </p:spTree>
    <p:extLst>
      <p:ext uri="{BB962C8B-B14F-4D97-AF65-F5344CB8AC3E}">
        <p14:creationId xmlns:p14="http://schemas.microsoft.com/office/powerpoint/2010/main" val="115909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63AFA3-F802-5A52-D3AA-76E82FE6C5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CED9B6-E72C-5A03-8396-03BDE0EEB2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3A56AB-2C0A-91C5-CE72-F12CC078E3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7D9696-E5F9-427C-AC6C-B4B1ECAFAF0A}" type="datetimeFigureOut">
              <a:rPr lang="en-US" smtClean="0"/>
              <a:t>9/17/2025</a:t>
            </a:fld>
            <a:endParaRPr lang="en-US"/>
          </a:p>
        </p:txBody>
      </p:sp>
      <p:sp>
        <p:nvSpPr>
          <p:cNvPr id="5" name="Footer Placeholder 4">
            <a:extLst>
              <a:ext uri="{FF2B5EF4-FFF2-40B4-BE49-F238E27FC236}">
                <a16:creationId xmlns:a16="http://schemas.microsoft.com/office/drawing/2014/main" id="{0059EA0A-5A9A-DE90-3BE7-5FDDB0FB9A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E315CF-6B08-DFFA-7E3E-C727F0EC67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760331-2381-4834-869E-82F3E4172B9C}" type="slidenum">
              <a:rPr lang="en-US" smtClean="0"/>
              <a:t>‹#›</a:t>
            </a:fld>
            <a:endParaRPr lang="en-US"/>
          </a:p>
        </p:txBody>
      </p:sp>
    </p:spTree>
    <p:extLst>
      <p:ext uri="{BB962C8B-B14F-4D97-AF65-F5344CB8AC3E}">
        <p14:creationId xmlns:p14="http://schemas.microsoft.com/office/powerpoint/2010/main" val="1187753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3C801-680A-2A1F-60A6-8B1227D3B09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CB6FD9B-87D8-00E1-990E-D3BA839EC19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0608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4CA44B4-8B06-CD07-0FC7-AFBB7561FDF1}"/>
              </a:ext>
            </a:extLst>
          </p:cNvPr>
          <p:cNvSpPr txBox="1"/>
          <p:nvPr/>
        </p:nvSpPr>
        <p:spPr>
          <a:xfrm>
            <a:off x="338666" y="266786"/>
            <a:ext cx="10541000" cy="6309420"/>
          </a:xfrm>
          <a:prstGeom prst="rect">
            <a:avLst/>
          </a:prstGeom>
          <a:noFill/>
        </p:spPr>
        <p:txBody>
          <a:bodyPr wrap="square">
            <a:spAutoFit/>
          </a:bodyPr>
          <a:lstStyle/>
          <a:p>
            <a:pPr>
              <a:buNone/>
            </a:pPr>
            <a:r>
              <a:rPr lang="en-US" b="1" dirty="0"/>
              <a:t>GAI Workflow Lifecycle</a:t>
            </a:r>
          </a:p>
          <a:p>
            <a:pPr>
              <a:buNone/>
            </a:pPr>
            <a:endParaRPr lang="en-US" b="1" dirty="0"/>
          </a:p>
          <a:p>
            <a:pPr>
              <a:buNone/>
            </a:pPr>
            <a:r>
              <a:rPr lang="en-US" sz="1600" b="1" dirty="0"/>
              <a:t>Phase 1 – Exploration &amp; Experimentation</a:t>
            </a:r>
            <a:endParaRPr lang="en-US" sz="1600" dirty="0"/>
          </a:p>
          <a:p>
            <a:pPr>
              <a:buFont typeface="Arial" panose="020B0604020202020204" pitchFamily="34" charset="0"/>
              <a:buChar char="•"/>
            </a:pPr>
            <a:r>
              <a:rPr lang="en-US" sz="1600" dirty="0"/>
              <a:t>Run small-scale </a:t>
            </a:r>
            <a:r>
              <a:rPr lang="en-US" sz="1600" dirty="0" err="1"/>
              <a:t>PoCs</a:t>
            </a:r>
            <a:r>
              <a:rPr lang="en-US" sz="1600" dirty="0"/>
              <a:t> with </a:t>
            </a:r>
            <a:r>
              <a:rPr lang="en-US" sz="1600" dirty="0" err="1"/>
              <a:t>CompassAI</a:t>
            </a:r>
            <a:r>
              <a:rPr lang="en-US" sz="1600" dirty="0"/>
              <a:t>/Workbench or sandbox environments.</a:t>
            </a:r>
          </a:p>
          <a:p>
            <a:pPr>
              <a:buFont typeface="Arial" panose="020B0604020202020204" pitchFamily="34" charset="0"/>
              <a:buChar char="•"/>
            </a:pPr>
            <a:r>
              <a:rPr lang="en-US" sz="1600" dirty="0"/>
              <a:t>Test prompt designs, evaluate output quality, and document caveats.</a:t>
            </a:r>
          </a:p>
          <a:p>
            <a:pPr>
              <a:buFont typeface="Arial" panose="020B0604020202020204" pitchFamily="34" charset="0"/>
              <a:buChar char="•"/>
            </a:pPr>
            <a:r>
              <a:rPr lang="en-US" sz="1600" dirty="0"/>
              <a:t>Establish early human-in-the-loop validation checkpoints.</a:t>
            </a:r>
          </a:p>
          <a:p>
            <a:endParaRPr lang="en-US" sz="1600" dirty="0"/>
          </a:p>
          <a:p>
            <a:pPr>
              <a:buNone/>
            </a:pPr>
            <a:r>
              <a:rPr lang="en-US" sz="1600" b="1" dirty="0"/>
              <a:t>Phase 2 – Implementation into Development Pipeline</a:t>
            </a:r>
            <a:endParaRPr lang="en-US" sz="1600" dirty="0"/>
          </a:p>
          <a:p>
            <a:pPr>
              <a:buFont typeface="Arial" panose="020B0604020202020204" pitchFamily="34" charset="0"/>
              <a:buChar char="•"/>
            </a:pPr>
            <a:r>
              <a:rPr lang="en-US" sz="1600" dirty="0"/>
              <a:t>Programmatic integration of GAI via API into dev workflows.</a:t>
            </a:r>
          </a:p>
          <a:p>
            <a:pPr>
              <a:buFont typeface="Arial" panose="020B0604020202020204" pitchFamily="34" charset="0"/>
              <a:buChar char="•"/>
            </a:pPr>
            <a:r>
              <a:rPr lang="en-US" sz="1600" dirty="0"/>
              <a:t>Refine model selection by task; optimize latency and cost.</a:t>
            </a:r>
          </a:p>
          <a:p>
            <a:pPr>
              <a:buFont typeface="Arial" panose="020B0604020202020204" pitchFamily="34" charset="0"/>
              <a:buChar char="•"/>
            </a:pPr>
            <a:r>
              <a:rPr lang="en-US" sz="1600" dirty="0"/>
              <a:t>Deploy supporting infrastructure (vector DBs, observability, monitoring).</a:t>
            </a:r>
          </a:p>
          <a:p>
            <a:pPr>
              <a:buFont typeface="Arial" panose="020B0604020202020204" pitchFamily="34" charset="0"/>
              <a:buChar char="•"/>
            </a:pPr>
            <a:r>
              <a:rPr lang="en-US" sz="1600" dirty="0"/>
              <a:t>Demonstrate value at scale (tens of thousands of samples).</a:t>
            </a:r>
          </a:p>
          <a:p>
            <a:pPr>
              <a:buFont typeface="Arial" panose="020B0604020202020204" pitchFamily="34" charset="0"/>
              <a:buChar char="•"/>
            </a:pPr>
            <a:r>
              <a:rPr lang="en-US" sz="1600" dirty="0"/>
              <a:t>Apply governance &amp; risk management frameworks across the pipeline.</a:t>
            </a:r>
          </a:p>
          <a:p>
            <a:pPr>
              <a:buFont typeface="Arial" panose="020B0604020202020204" pitchFamily="34" charset="0"/>
              <a:buChar char="•"/>
            </a:pPr>
            <a:endParaRPr lang="en-US" sz="1600" dirty="0"/>
          </a:p>
          <a:p>
            <a:pPr>
              <a:buNone/>
            </a:pPr>
            <a:r>
              <a:rPr lang="en-US" sz="1600" b="1" dirty="0"/>
              <a:t>Phase 3 – Maintenance &amp; Evaluation</a:t>
            </a:r>
            <a:endParaRPr lang="en-US" sz="1600" dirty="0"/>
          </a:p>
          <a:p>
            <a:pPr>
              <a:buFont typeface="Arial" panose="020B0604020202020204" pitchFamily="34" charset="0"/>
              <a:buChar char="•"/>
            </a:pPr>
            <a:r>
              <a:rPr lang="en-US" sz="1600" dirty="0"/>
              <a:t>Continuously update prompts and workflows as new requirements emerge.</a:t>
            </a:r>
          </a:p>
          <a:p>
            <a:pPr>
              <a:buFont typeface="Arial" panose="020B0604020202020204" pitchFamily="34" charset="0"/>
              <a:buChar char="•"/>
            </a:pPr>
            <a:r>
              <a:rPr lang="en-US" sz="1600" dirty="0"/>
              <a:t>Monitor for model drift, data quality issues, and compliance risks.</a:t>
            </a:r>
          </a:p>
          <a:p>
            <a:pPr>
              <a:buFont typeface="Arial" panose="020B0604020202020204" pitchFamily="34" charset="0"/>
              <a:buChar char="•"/>
            </a:pPr>
            <a:r>
              <a:rPr lang="en-US" sz="1600" dirty="0"/>
              <a:t>Introduce feedback loops from user edits or analyst corrections to improve models.</a:t>
            </a:r>
          </a:p>
          <a:p>
            <a:pPr>
              <a:buFont typeface="Arial" panose="020B0604020202020204" pitchFamily="34" charset="0"/>
              <a:buChar char="•"/>
            </a:pPr>
            <a:r>
              <a:rPr lang="en-US" sz="1600" dirty="0"/>
              <a:t>Periodically evaluate against benchmarks and update documentation.</a:t>
            </a:r>
          </a:p>
          <a:p>
            <a:pPr>
              <a:buFont typeface="Arial" panose="020B0604020202020204" pitchFamily="34" charset="0"/>
              <a:buChar char="•"/>
            </a:pPr>
            <a:endParaRPr lang="en-US" sz="1600" dirty="0"/>
          </a:p>
          <a:p>
            <a:pPr>
              <a:buNone/>
            </a:pPr>
            <a:r>
              <a:rPr lang="en-US" sz="1600" b="1" dirty="0"/>
              <a:t>Phase 4 – Distillation &amp; Specialization</a:t>
            </a:r>
            <a:endParaRPr lang="en-US" sz="1600" dirty="0"/>
          </a:p>
          <a:p>
            <a:pPr>
              <a:buFont typeface="Arial" panose="020B0604020202020204" pitchFamily="34" charset="0"/>
              <a:buChar char="•"/>
            </a:pPr>
            <a:r>
              <a:rPr lang="en-US" sz="1600" dirty="0"/>
              <a:t>Fine-tune SLMs or student models on production-generated datasets.</a:t>
            </a:r>
          </a:p>
          <a:p>
            <a:pPr>
              <a:buFont typeface="Arial" panose="020B0604020202020204" pitchFamily="34" charset="0"/>
              <a:buChar char="•"/>
            </a:pPr>
            <a:r>
              <a:rPr lang="en-US" sz="1600" dirty="0"/>
              <a:t>Build lightweight, domain-specific models for efficiency and portability.</a:t>
            </a:r>
          </a:p>
          <a:p>
            <a:pPr>
              <a:buFont typeface="Arial" panose="020B0604020202020204" pitchFamily="34" charset="0"/>
              <a:buChar char="•"/>
            </a:pPr>
            <a:r>
              <a:rPr lang="en-US" sz="1600" dirty="0"/>
              <a:t>Retire or replace outdated models with updated baselines.</a:t>
            </a:r>
          </a:p>
          <a:p>
            <a:pPr>
              <a:buFont typeface="Arial" panose="020B0604020202020204" pitchFamily="34" charset="0"/>
              <a:buChar char="•"/>
            </a:pPr>
            <a:r>
              <a:rPr lang="en-US" sz="1600" dirty="0"/>
              <a:t>Continue human validation and governance oversight.</a:t>
            </a:r>
          </a:p>
        </p:txBody>
      </p:sp>
      <p:sp>
        <p:nvSpPr>
          <p:cNvPr id="10" name="Star: 5 Points 9">
            <a:extLst>
              <a:ext uri="{FF2B5EF4-FFF2-40B4-BE49-F238E27FC236}">
                <a16:creationId xmlns:a16="http://schemas.microsoft.com/office/drawing/2014/main" id="{9740656C-66C8-9C9E-BD00-E426C680F420}"/>
              </a:ext>
            </a:extLst>
          </p:cNvPr>
          <p:cNvSpPr/>
          <p:nvPr/>
        </p:nvSpPr>
        <p:spPr>
          <a:xfrm>
            <a:off x="6922398" y="3516964"/>
            <a:ext cx="412955" cy="357122"/>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2FF11AD-4765-338F-49A6-52039D2F91CB}"/>
              </a:ext>
            </a:extLst>
          </p:cNvPr>
          <p:cNvCxnSpPr/>
          <p:nvPr/>
        </p:nvCxnSpPr>
        <p:spPr>
          <a:xfrm>
            <a:off x="7462684" y="3210935"/>
            <a:ext cx="0" cy="96918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809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4CA44B4-8B06-CD07-0FC7-AFBB7561FDF1}"/>
              </a:ext>
            </a:extLst>
          </p:cNvPr>
          <p:cNvSpPr txBox="1"/>
          <p:nvPr/>
        </p:nvSpPr>
        <p:spPr>
          <a:xfrm>
            <a:off x="338666" y="266786"/>
            <a:ext cx="10541000" cy="6309420"/>
          </a:xfrm>
          <a:prstGeom prst="rect">
            <a:avLst/>
          </a:prstGeom>
          <a:noFill/>
        </p:spPr>
        <p:txBody>
          <a:bodyPr wrap="square">
            <a:spAutoFit/>
          </a:bodyPr>
          <a:lstStyle/>
          <a:p>
            <a:pPr>
              <a:buNone/>
            </a:pPr>
            <a:r>
              <a:rPr lang="en-US" b="1" dirty="0"/>
              <a:t>GAI Workflow Lifecycle</a:t>
            </a:r>
          </a:p>
          <a:p>
            <a:pPr>
              <a:buNone/>
            </a:pPr>
            <a:endParaRPr lang="en-US" b="1" dirty="0"/>
          </a:p>
          <a:p>
            <a:pPr>
              <a:buNone/>
            </a:pPr>
            <a:r>
              <a:rPr lang="en-US" sz="1600" b="1" dirty="0"/>
              <a:t>Phase 1 – Exploration &amp; Experimentation</a:t>
            </a:r>
            <a:endParaRPr lang="en-US" sz="1600" dirty="0"/>
          </a:p>
          <a:p>
            <a:pPr>
              <a:buFont typeface="Arial" panose="020B0604020202020204" pitchFamily="34" charset="0"/>
              <a:buChar char="•"/>
            </a:pPr>
            <a:r>
              <a:rPr lang="en-US" sz="1600" dirty="0"/>
              <a:t>Run small-scale </a:t>
            </a:r>
            <a:r>
              <a:rPr lang="en-US" sz="1600" dirty="0" err="1"/>
              <a:t>PoCs</a:t>
            </a:r>
            <a:r>
              <a:rPr lang="en-US" sz="1600" dirty="0"/>
              <a:t> with </a:t>
            </a:r>
            <a:r>
              <a:rPr lang="en-US" sz="1600" dirty="0" err="1"/>
              <a:t>CompassAI</a:t>
            </a:r>
            <a:r>
              <a:rPr lang="en-US" sz="1600" dirty="0"/>
              <a:t>/Workbench or sandbox environments.</a:t>
            </a:r>
          </a:p>
          <a:p>
            <a:pPr>
              <a:buFont typeface="Arial" panose="020B0604020202020204" pitchFamily="34" charset="0"/>
              <a:buChar char="•"/>
            </a:pPr>
            <a:r>
              <a:rPr lang="en-US" sz="1600" dirty="0"/>
              <a:t>Test prompt designs, evaluate output quality, and document caveats.</a:t>
            </a:r>
          </a:p>
          <a:p>
            <a:pPr>
              <a:buFont typeface="Arial" panose="020B0604020202020204" pitchFamily="34" charset="0"/>
              <a:buChar char="•"/>
            </a:pPr>
            <a:r>
              <a:rPr lang="en-US" sz="1600" dirty="0"/>
              <a:t>Establish early human-in-the-loop validation checkpoints.</a:t>
            </a:r>
          </a:p>
          <a:p>
            <a:endParaRPr lang="en-US" sz="1600" dirty="0"/>
          </a:p>
          <a:p>
            <a:pPr>
              <a:buNone/>
            </a:pPr>
            <a:r>
              <a:rPr lang="en-US" sz="1600" b="1" dirty="0"/>
              <a:t>Phase 2 – Implementation into Development Pipeline</a:t>
            </a:r>
            <a:endParaRPr lang="en-US" sz="1600" dirty="0"/>
          </a:p>
          <a:p>
            <a:pPr>
              <a:buFont typeface="Arial" panose="020B0604020202020204" pitchFamily="34" charset="0"/>
              <a:buChar char="•"/>
            </a:pPr>
            <a:r>
              <a:rPr lang="en-US" sz="1600" dirty="0"/>
              <a:t>Programmatic integration of GAI via API into dev workflows.</a:t>
            </a:r>
          </a:p>
          <a:p>
            <a:pPr>
              <a:buFont typeface="Arial" panose="020B0604020202020204" pitchFamily="34" charset="0"/>
              <a:buChar char="•"/>
            </a:pPr>
            <a:r>
              <a:rPr lang="en-US" sz="1600" dirty="0"/>
              <a:t>Refine model selection by task; optimize latency and cost.</a:t>
            </a:r>
          </a:p>
          <a:p>
            <a:pPr>
              <a:buFont typeface="Arial" panose="020B0604020202020204" pitchFamily="34" charset="0"/>
              <a:buChar char="•"/>
            </a:pPr>
            <a:r>
              <a:rPr lang="en-US" sz="1600" dirty="0"/>
              <a:t>Deploy supporting infrastructure (vector DBs, observability, monitoring).</a:t>
            </a:r>
          </a:p>
          <a:p>
            <a:pPr>
              <a:buFont typeface="Arial" panose="020B0604020202020204" pitchFamily="34" charset="0"/>
              <a:buChar char="•"/>
            </a:pPr>
            <a:r>
              <a:rPr lang="en-US" sz="1600" dirty="0"/>
              <a:t>Demonstrate value at scale (tens of thousands of samples).</a:t>
            </a:r>
          </a:p>
          <a:p>
            <a:pPr>
              <a:buFont typeface="Arial" panose="020B0604020202020204" pitchFamily="34" charset="0"/>
              <a:buChar char="•"/>
            </a:pPr>
            <a:r>
              <a:rPr lang="en-US" sz="1600" dirty="0"/>
              <a:t>Apply governance &amp; risk management frameworks across the pipeline.</a:t>
            </a:r>
          </a:p>
          <a:p>
            <a:pPr>
              <a:buFont typeface="Arial" panose="020B0604020202020204" pitchFamily="34" charset="0"/>
              <a:buChar char="•"/>
            </a:pPr>
            <a:endParaRPr lang="en-US" sz="1600" dirty="0"/>
          </a:p>
          <a:p>
            <a:pPr>
              <a:buNone/>
            </a:pPr>
            <a:r>
              <a:rPr lang="en-US" sz="1600" b="1" dirty="0"/>
              <a:t>Phase 3 – Maintenance &amp; Evaluation</a:t>
            </a:r>
            <a:endParaRPr lang="en-US" sz="1600" dirty="0"/>
          </a:p>
          <a:p>
            <a:pPr>
              <a:buFont typeface="Arial" panose="020B0604020202020204" pitchFamily="34" charset="0"/>
              <a:buChar char="•"/>
            </a:pPr>
            <a:r>
              <a:rPr lang="en-US" sz="1600" dirty="0"/>
              <a:t>Continuously update prompts and workflows as new requirements emerge.</a:t>
            </a:r>
          </a:p>
          <a:p>
            <a:pPr>
              <a:buFont typeface="Arial" panose="020B0604020202020204" pitchFamily="34" charset="0"/>
              <a:buChar char="•"/>
            </a:pPr>
            <a:r>
              <a:rPr lang="en-US" sz="1600" dirty="0"/>
              <a:t>Monitor for model drift, data quality issues, and compliance risks.</a:t>
            </a:r>
          </a:p>
          <a:p>
            <a:pPr>
              <a:buFont typeface="Arial" panose="020B0604020202020204" pitchFamily="34" charset="0"/>
              <a:buChar char="•"/>
            </a:pPr>
            <a:r>
              <a:rPr lang="en-US" sz="1600" dirty="0"/>
              <a:t>Introduce feedback loops from user edits or analyst corrections to improve models.</a:t>
            </a:r>
          </a:p>
          <a:p>
            <a:pPr>
              <a:buFont typeface="Arial" panose="020B0604020202020204" pitchFamily="34" charset="0"/>
              <a:buChar char="•"/>
            </a:pPr>
            <a:r>
              <a:rPr lang="en-US" sz="1600" dirty="0"/>
              <a:t>Periodically evaluate against benchmarks and update documentation.</a:t>
            </a:r>
          </a:p>
          <a:p>
            <a:pPr>
              <a:buFont typeface="Arial" panose="020B0604020202020204" pitchFamily="34" charset="0"/>
              <a:buChar char="•"/>
            </a:pPr>
            <a:endParaRPr lang="en-US" sz="1600" dirty="0"/>
          </a:p>
          <a:p>
            <a:pPr>
              <a:buNone/>
            </a:pPr>
            <a:r>
              <a:rPr lang="en-US" sz="1600" b="1" dirty="0"/>
              <a:t>Phase 4 – Distillation &amp; Specialization</a:t>
            </a:r>
            <a:endParaRPr lang="en-US" sz="1600" dirty="0"/>
          </a:p>
          <a:p>
            <a:pPr>
              <a:buFont typeface="Arial" panose="020B0604020202020204" pitchFamily="34" charset="0"/>
              <a:buChar char="•"/>
            </a:pPr>
            <a:r>
              <a:rPr lang="en-US" sz="1600" dirty="0"/>
              <a:t>Fine-tune SLMs or student models on production-generated datasets.</a:t>
            </a:r>
          </a:p>
          <a:p>
            <a:pPr>
              <a:buFont typeface="Arial" panose="020B0604020202020204" pitchFamily="34" charset="0"/>
              <a:buChar char="•"/>
            </a:pPr>
            <a:r>
              <a:rPr lang="en-US" sz="1600" dirty="0"/>
              <a:t>Build lightweight, domain-specific models for efficiency and portability.</a:t>
            </a:r>
          </a:p>
          <a:p>
            <a:pPr>
              <a:buFont typeface="Arial" panose="020B0604020202020204" pitchFamily="34" charset="0"/>
              <a:buChar char="•"/>
            </a:pPr>
            <a:r>
              <a:rPr lang="en-US" sz="1600" dirty="0"/>
              <a:t>Retire or replace outdated models with updated baselines.</a:t>
            </a:r>
          </a:p>
          <a:p>
            <a:pPr>
              <a:buFont typeface="Arial" panose="020B0604020202020204" pitchFamily="34" charset="0"/>
              <a:buChar char="•"/>
            </a:pPr>
            <a:r>
              <a:rPr lang="en-US" sz="1600" dirty="0"/>
              <a:t>Continue human validation and governance oversight.</a:t>
            </a:r>
          </a:p>
        </p:txBody>
      </p:sp>
      <p:sp>
        <p:nvSpPr>
          <p:cNvPr id="10" name="Star: 5 Points 9">
            <a:extLst>
              <a:ext uri="{FF2B5EF4-FFF2-40B4-BE49-F238E27FC236}">
                <a16:creationId xmlns:a16="http://schemas.microsoft.com/office/drawing/2014/main" id="{9740656C-66C8-9C9E-BD00-E426C680F420}"/>
              </a:ext>
            </a:extLst>
          </p:cNvPr>
          <p:cNvSpPr/>
          <p:nvPr/>
        </p:nvSpPr>
        <p:spPr>
          <a:xfrm>
            <a:off x="6922398" y="3516964"/>
            <a:ext cx="412955" cy="357122"/>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E2FF11AD-4765-338F-49A6-52039D2F91CB}"/>
              </a:ext>
            </a:extLst>
          </p:cNvPr>
          <p:cNvCxnSpPr/>
          <p:nvPr/>
        </p:nvCxnSpPr>
        <p:spPr>
          <a:xfrm>
            <a:off x="7462684" y="3210935"/>
            <a:ext cx="0" cy="96918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998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8C66C-B212-4565-135E-20B6DBBDFCEB}"/>
              </a:ext>
            </a:extLst>
          </p:cNvPr>
          <p:cNvSpPr>
            <a:spLocks noGrp="1"/>
          </p:cNvSpPr>
          <p:nvPr>
            <p:ph type="title"/>
          </p:nvPr>
        </p:nvSpPr>
        <p:spPr>
          <a:xfrm>
            <a:off x="560917" y="596373"/>
            <a:ext cx="10515600" cy="957262"/>
          </a:xfrm>
        </p:spPr>
        <p:txBody>
          <a:bodyPr/>
          <a:lstStyle/>
          <a:p>
            <a:r>
              <a:rPr lang="en-US" dirty="0"/>
              <a:t>Techniques &amp; Lessons learned	</a:t>
            </a:r>
          </a:p>
        </p:txBody>
      </p:sp>
      <p:sp>
        <p:nvSpPr>
          <p:cNvPr id="6" name="Rectangle 1">
            <a:extLst>
              <a:ext uri="{FF2B5EF4-FFF2-40B4-BE49-F238E27FC236}">
                <a16:creationId xmlns:a16="http://schemas.microsoft.com/office/drawing/2014/main" id="{4FEA5831-AFA6-16D0-CCC8-249656DFD287}"/>
              </a:ext>
            </a:extLst>
          </p:cNvPr>
          <p:cNvSpPr>
            <a:spLocks noChangeArrowheads="1"/>
          </p:cNvSpPr>
          <p:nvPr/>
        </p:nvSpPr>
        <p:spPr bwMode="auto">
          <a:xfrm>
            <a:off x="698500" y="1553635"/>
            <a:ext cx="6235700"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Model Strategy &amp; Cost Optimization</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Matched model to task:</a:t>
            </a:r>
          </a:p>
          <a:p>
            <a:pPr lvl="2"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GPT-4o-mini → salience filtering</a:t>
            </a:r>
          </a:p>
          <a:p>
            <a:pPr lvl="2"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GPT-4o → full extraction</a:t>
            </a:r>
          </a:p>
          <a:p>
            <a:pPr lvl="2"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GPT-4.1 → deduplication, sourcing, clustering</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Open-source embeddings (MiniLM-L6-v2) for chunking &amp; retrieval reduced token costs.</a:t>
            </a:r>
          </a:p>
          <a:p>
            <a:pPr lvl="1" eaLnBrk="0" fontAlgn="base" hangingPunct="0">
              <a:spcBef>
                <a:spcPct val="0"/>
              </a:spcBef>
              <a:spcAft>
                <a:spcPct val="0"/>
              </a:spcAft>
              <a:buFontTx/>
              <a:buChar char="•"/>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Scalable High-Signal Artifacts</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Distilled texts into </a:t>
            </a:r>
            <a:r>
              <a:rPr kumimoji="0" lang="en-US" altLang="en-US" sz="1000" i="0" u="none" strike="noStrike" cap="none" normalizeH="0" baseline="0" dirty="0">
                <a:ln>
                  <a:noFill/>
                </a:ln>
                <a:solidFill>
                  <a:schemeClr val="tx1"/>
                </a:solidFill>
                <a:effectLst/>
                <a:latin typeface="Arial" panose="020B0604020202020204" pitchFamily="34" charset="0"/>
              </a:rPr>
              <a:t>signal-only summaries </a:t>
            </a:r>
            <a:r>
              <a:rPr kumimoji="0" lang="en-US" altLang="en-US" sz="1000" b="0" i="0" u="none" strike="noStrike" cap="none" normalizeH="0" baseline="0" dirty="0">
                <a:ln>
                  <a:noFill/>
                </a:ln>
                <a:solidFill>
                  <a:schemeClr val="tx1"/>
                </a:solidFill>
                <a:effectLst/>
                <a:latin typeface="Arial" panose="020B0604020202020204" pitchFamily="34" charset="0"/>
              </a:rPr>
              <a:t>for model efficiency.</a:t>
            </a:r>
          </a:p>
          <a:p>
            <a:pPr lvl="1" eaLnBrk="0" fontAlgn="base" hangingPunct="0">
              <a:spcBef>
                <a:spcPct val="0"/>
              </a:spcBef>
              <a:spcAft>
                <a:spcPct val="0"/>
              </a:spcAft>
              <a:buFontTx/>
              <a:buChar char="•"/>
            </a:pPr>
            <a:r>
              <a:rPr kumimoji="0" lang="en-US" altLang="en-US" sz="1000" i="0" u="none" strike="noStrike" cap="none" normalizeH="0" baseline="0" dirty="0">
                <a:ln>
                  <a:noFill/>
                </a:ln>
                <a:solidFill>
                  <a:schemeClr val="tx1"/>
                </a:solidFill>
                <a:effectLst/>
                <a:latin typeface="Arial" panose="020B0604020202020204" pitchFamily="34" charset="0"/>
              </a:rPr>
              <a:t>Daily → Weekly → Monthly roll-ups </a:t>
            </a:r>
            <a:r>
              <a:rPr kumimoji="0" lang="en-US" altLang="en-US" sz="1000" b="0" i="0" u="none" strike="noStrike" cap="none" normalizeH="0" baseline="0" dirty="0">
                <a:ln>
                  <a:noFill/>
                </a:ln>
                <a:solidFill>
                  <a:schemeClr val="tx1"/>
                </a:solidFill>
                <a:effectLst/>
                <a:latin typeface="Arial" panose="020B0604020202020204" pitchFamily="34" charset="0"/>
              </a:rPr>
              <a:t>provided scalable and traceable insights.</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Used </a:t>
            </a:r>
            <a:r>
              <a:rPr kumimoji="0" lang="en-US" altLang="en-US" sz="1000" i="0" u="none" strike="noStrike" cap="none" normalizeH="0" baseline="0" dirty="0">
                <a:ln>
                  <a:noFill/>
                </a:ln>
                <a:solidFill>
                  <a:schemeClr val="tx1"/>
                </a:solidFill>
                <a:effectLst/>
                <a:latin typeface="Arial" panose="020B0604020202020204" pitchFamily="34" charset="0"/>
              </a:rPr>
              <a:t>proxy identifiers </a:t>
            </a:r>
            <a:r>
              <a:rPr kumimoji="0" lang="en-US" altLang="en-US" sz="1000" b="0" i="0" u="none" strike="noStrike" cap="none" normalizeH="0" baseline="0" dirty="0">
                <a:ln>
                  <a:noFill/>
                </a:ln>
                <a:solidFill>
                  <a:schemeClr val="tx1"/>
                </a:solidFill>
                <a:effectLst/>
                <a:latin typeface="Arial" panose="020B0604020202020204" pitchFamily="34" charset="0"/>
              </a:rPr>
              <a:t>to avoid token overflow from long UUIDs.</a:t>
            </a:r>
          </a:p>
          <a:p>
            <a:pPr lvl="1" eaLnBrk="0" fontAlgn="base" hangingPunct="0">
              <a:spcBef>
                <a:spcPct val="0"/>
              </a:spcBef>
              <a:spcAft>
                <a:spcPct val="0"/>
              </a:spcAft>
              <a:buFontTx/>
              <a:buChar char="•"/>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Output Structuring &amp; Formatting</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Enforced </a:t>
            </a:r>
            <a:r>
              <a:rPr kumimoji="0" lang="en-US" altLang="en-US" sz="1000" i="0" u="none" strike="noStrike" cap="none" normalizeH="0" baseline="0" dirty="0">
                <a:ln>
                  <a:noFill/>
                </a:ln>
                <a:solidFill>
                  <a:schemeClr val="tx1"/>
                </a:solidFill>
                <a:effectLst/>
                <a:latin typeface="Arial" panose="020B0604020202020204" pitchFamily="34" charset="0"/>
              </a:rPr>
              <a:t>JSON schemas </a:t>
            </a:r>
            <a:r>
              <a:rPr kumimoji="0" lang="en-US" altLang="en-US" sz="1000" b="0" i="0" u="none" strike="noStrike" cap="none" normalizeH="0" baseline="0" dirty="0">
                <a:ln>
                  <a:noFill/>
                </a:ln>
                <a:solidFill>
                  <a:schemeClr val="tx1"/>
                </a:solidFill>
                <a:effectLst/>
                <a:latin typeface="Arial" panose="020B0604020202020204" pitchFamily="34" charset="0"/>
              </a:rPr>
              <a:t>for reliable machine-readable output.</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Prompt precision mattered — quotation style, placeholder use (</a:t>
            </a:r>
            <a:r>
              <a:rPr kumimoji="0" lang="en-US" altLang="en-US" sz="1000" b="0" i="0" u="none" strike="noStrike" cap="none" normalizeH="0" baseline="0" dirty="0">
                <a:ln>
                  <a:noFill/>
                </a:ln>
                <a:solidFill>
                  <a:schemeClr val="tx1"/>
                </a:solidFill>
                <a:effectLst/>
                <a:latin typeface="Arial Unicode MS"/>
              </a:rPr>
              <a:t>&lt;</a:t>
            </a:r>
            <a:r>
              <a:rPr kumimoji="0" lang="en-US" altLang="en-US" sz="1000" b="0" i="0" u="none" strike="noStrike" cap="none" normalizeH="0" baseline="0" dirty="0" err="1">
                <a:ln>
                  <a:noFill/>
                </a:ln>
                <a:solidFill>
                  <a:schemeClr val="tx1"/>
                </a:solidFill>
                <a:effectLst/>
                <a:latin typeface="Arial Unicode MS"/>
              </a:rPr>
              <a:t>initiating_country</a:t>
            </a:r>
            <a:r>
              <a:rPr kumimoji="0" lang="en-US" altLang="en-US" sz="1000" b="0" i="0" u="none" strike="noStrike" cap="none" normalizeH="0" baseline="0" dirty="0">
                <a:ln>
                  <a:noFill/>
                </a:ln>
                <a:solidFill>
                  <a:schemeClr val="tx1"/>
                </a:solidFill>
                <a:effectLst/>
                <a:latin typeface="Arial Unicode MS"/>
              </a:rPr>
              <a:t>&gt;</a:t>
            </a:r>
            <a:r>
              <a:rPr kumimoji="0" lang="en-US" altLang="en-US" sz="1000" b="0" i="0" u="none" strike="noStrike" cap="none" normalizeH="0" baseline="0" dirty="0">
                <a:ln>
                  <a:noFill/>
                </a:ln>
                <a:solidFill>
                  <a:schemeClr val="tx1"/>
                </a:solidFill>
                <a:effectLst/>
              </a:rPr>
              <a:t>).</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Embedding </a:t>
            </a:r>
            <a:r>
              <a:rPr kumimoji="0" lang="en-US" altLang="en-US" sz="1000" i="0" u="none" strike="noStrike" cap="none" normalizeH="0" baseline="0" dirty="0">
                <a:ln>
                  <a:noFill/>
                </a:ln>
                <a:solidFill>
                  <a:schemeClr val="tx1"/>
                </a:solidFill>
                <a:effectLst/>
                <a:latin typeface="Arial" panose="020B0604020202020204" pitchFamily="34" charset="0"/>
              </a:rPr>
              <a:t>markdown metrics/charts </a:t>
            </a:r>
            <a:r>
              <a:rPr kumimoji="0" lang="en-US" altLang="en-US" sz="1000" b="0" i="0" u="none" strike="noStrike" cap="none" normalizeH="0" baseline="0" dirty="0">
                <a:ln>
                  <a:noFill/>
                </a:ln>
                <a:solidFill>
                  <a:schemeClr val="tx1"/>
                </a:solidFill>
                <a:effectLst/>
                <a:latin typeface="Arial" panose="020B0604020202020204" pitchFamily="34" charset="0"/>
              </a:rPr>
              <a:t>in prompts boosted ranking task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Sourcing &amp; Claim Verification</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Split </a:t>
            </a:r>
            <a:r>
              <a:rPr kumimoji="0" lang="en-US" altLang="en-US" sz="1000" i="0" u="none" strike="noStrike" cap="none" normalizeH="0" baseline="0" dirty="0">
                <a:ln>
                  <a:noFill/>
                </a:ln>
                <a:solidFill>
                  <a:schemeClr val="tx1"/>
                </a:solidFill>
                <a:effectLst/>
                <a:latin typeface="Arial" panose="020B0604020202020204" pitchFamily="34" charset="0"/>
              </a:rPr>
              <a:t>summarization</a:t>
            </a:r>
            <a:r>
              <a:rPr kumimoji="0" lang="en-US" altLang="en-US" sz="1000" b="0" i="0" u="none" strike="noStrike" cap="none" normalizeH="0" baseline="0" dirty="0">
                <a:ln>
                  <a:noFill/>
                </a:ln>
                <a:solidFill>
                  <a:schemeClr val="tx1"/>
                </a:solidFill>
                <a:effectLst/>
                <a:latin typeface="Arial" panose="020B0604020202020204" pitchFamily="34" charset="0"/>
              </a:rPr>
              <a:t> from </a:t>
            </a:r>
            <a:r>
              <a:rPr kumimoji="0" lang="en-US" altLang="en-US" sz="1000" i="0" u="none" strike="noStrike" cap="none" normalizeH="0" baseline="0" dirty="0">
                <a:ln>
                  <a:noFill/>
                </a:ln>
                <a:solidFill>
                  <a:schemeClr val="tx1"/>
                </a:solidFill>
                <a:effectLst/>
                <a:latin typeface="Arial" panose="020B0604020202020204" pitchFamily="34" charset="0"/>
              </a:rPr>
              <a:t>sourcing</a:t>
            </a:r>
            <a:r>
              <a:rPr kumimoji="0" lang="en-US" altLang="en-US" sz="1000" b="0" i="0" u="none" strike="noStrike" cap="none" normalizeH="0" baseline="0" dirty="0">
                <a:ln>
                  <a:noFill/>
                </a:ln>
                <a:solidFill>
                  <a:schemeClr val="tx1"/>
                </a:solidFill>
                <a:effectLst/>
                <a:latin typeface="Arial" panose="020B0604020202020204" pitchFamily="34" charset="0"/>
              </a:rPr>
              <a:t> to improve citation fidelity.</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Applied </a:t>
            </a:r>
            <a:r>
              <a:rPr kumimoji="0" lang="en-US" altLang="en-US" sz="1000" i="0" u="none" strike="noStrike" cap="none" normalizeH="0" baseline="0" dirty="0">
                <a:ln>
                  <a:noFill/>
                </a:ln>
                <a:solidFill>
                  <a:schemeClr val="tx1"/>
                </a:solidFill>
                <a:effectLst/>
                <a:latin typeface="Arial" panose="020B0604020202020204" pitchFamily="34" charset="0"/>
              </a:rPr>
              <a:t>TF-IDF narrowing </a:t>
            </a:r>
            <a:r>
              <a:rPr kumimoji="0" lang="en-US" altLang="en-US" sz="1000" b="0" i="0" u="none" strike="noStrike" cap="none" normalizeH="0" baseline="0" dirty="0">
                <a:ln>
                  <a:noFill/>
                </a:ln>
                <a:solidFill>
                  <a:schemeClr val="tx1"/>
                </a:solidFill>
                <a:effectLst/>
                <a:latin typeface="Arial" panose="020B0604020202020204" pitchFamily="34" charset="0"/>
              </a:rPr>
              <a:t>before model claim sourcing.</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Deduplication consolidated events while preserving all underlying sources.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Managing Volume &amp; Variety</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Preprocessing, chunking, clustering reduced raw reporting overload.</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Deduplication avoided event inflation from redundant coverage.</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Tiered summarization ensured detailed enrichment only for high-volume events.</a:t>
            </a:r>
          </a:p>
          <a:p>
            <a:pPr lvl="1" eaLnBrk="0" fontAlgn="base" hangingPunct="0">
              <a:spcBef>
                <a:spcPct val="0"/>
              </a:spcBef>
              <a:spcAft>
                <a:spcPct val="0"/>
              </a:spcAft>
              <a:buFontTx/>
              <a:buChar char="•"/>
            </a:pPr>
            <a:endParaRPr kumimoji="0" lang="en-US" alt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chemeClr val="tx1"/>
                </a:solidFill>
                <a:effectLst/>
                <a:latin typeface="Arial" panose="020B0604020202020204" pitchFamily="34" charset="0"/>
              </a:rPr>
              <a:t>Human-in-the-Loop &amp; Governance</a:t>
            </a:r>
            <a:endParaRPr kumimoji="0" lang="en-US" altLang="en-US" sz="10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Analysts validated high-stakes events and anomalies.</a:t>
            </a:r>
          </a:p>
          <a:p>
            <a:pPr lvl="1" eaLnBrk="0" fontAlgn="base" hangingPunct="0">
              <a:spcBef>
                <a:spcPct val="0"/>
              </a:spcBef>
              <a:spcAft>
                <a:spcPct val="0"/>
              </a:spcAft>
              <a:buFontTx/>
              <a:buChar char="•"/>
            </a:pPr>
            <a:r>
              <a:rPr kumimoji="0" lang="en-US" altLang="en-US" sz="1000" b="0" i="0" u="none" strike="noStrike" cap="none" normalizeH="0" baseline="0" dirty="0">
                <a:ln>
                  <a:noFill/>
                </a:ln>
                <a:solidFill>
                  <a:schemeClr val="tx1"/>
                </a:solidFill>
                <a:effectLst/>
                <a:latin typeface="Arial" panose="020B0604020202020204" pitchFamily="34" charset="0"/>
              </a:rPr>
              <a:t>Risk controls prevented unchecked propagation of hallucinated content.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5457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3DF450-22EF-0CE0-5685-62E4AFD6BE33}"/>
              </a:ext>
            </a:extLst>
          </p:cNvPr>
          <p:cNvPicPr>
            <a:picLocks noChangeAspect="1"/>
          </p:cNvPicPr>
          <p:nvPr/>
        </p:nvPicPr>
        <p:blipFill>
          <a:blip r:embed="rId2"/>
          <a:stretch>
            <a:fillRect/>
          </a:stretch>
        </p:blipFill>
        <p:spPr>
          <a:xfrm>
            <a:off x="434789" y="235152"/>
            <a:ext cx="10972800" cy="3626978"/>
          </a:xfrm>
          <a:prstGeom prst="rect">
            <a:avLst/>
          </a:prstGeom>
        </p:spPr>
      </p:pic>
    </p:spTree>
    <p:extLst>
      <p:ext uri="{BB962C8B-B14F-4D97-AF65-F5344CB8AC3E}">
        <p14:creationId xmlns:p14="http://schemas.microsoft.com/office/powerpoint/2010/main" val="1075866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9709-B29F-1116-3B08-FCA32223B0A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EB306AA4-DA67-43CC-FBC2-FCC978E76F01}"/>
              </a:ext>
            </a:extLst>
          </p:cNvPr>
          <p:cNvSpPr>
            <a:spLocks noGrp="1"/>
          </p:cNvSpPr>
          <p:nvPr>
            <p:ph type="body" idx="1"/>
          </p:nvPr>
        </p:nvSpPr>
        <p:spPr/>
        <p:txBody>
          <a:bodyPr/>
          <a:lstStyle/>
          <a:p>
            <a:endParaRPr lang="en-US"/>
          </a:p>
        </p:txBody>
      </p:sp>
      <p:pic>
        <p:nvPicPr>
          <p:cNvPr id="9" name="Picture 8">
            <a:extLst>
              <a:ext uri="{FF2B5EF4-FFF2-40B4-BE49-F238E27FC236}">
                <a16:creationId xmlns:a16="http://schemas.microsoft.com/office/drawing/2014/main" id="{7CFAEED3-55D2-59C4-572C-B666C4F1E4D1}"/>
              </a:ext>
            </a:extLst>
          </p:cNvPr>
          <p:cNvPicPr>
            <a:picLocks noChangeAspect="1"/>
          </p:cNvPicPr>
          <p:nvPr/>
        </p:nvPicPr>
        <p:blipFill>
          <a:blip r:embed="rId2"/>
          <a:stretch>
            <a:fillRect/>
          </a:stretch>
        </p:blipFill>
        <p:spPr>
          <a:xfrm>
            <a:off x="276909" y="347935"/>
            <a:ext cx="11555506" cy="5889375"/>
          </a:xfrm>
          <a:prstGeom prst="rect">
            <a:avLst/>
          </a:prstGeom>
        </p:spPr>
      </p:pic>
    </p:spTree>
    <p:extLst>
      <p:ext uri="{BB962C8B-B14F-4D97-AF65-F5344CB8AC3E}">
        <p14:creationId xmlns:p14="http://schemas.microsoft.com/office/powerpoint/2010/main" val="1939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2D12-72A3-833D-CAA1-B4322063E18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D41818D-B837-4A29-AD68-3576E1FD2B40}"/>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DD887D3F-2705-449E-F13C-D9FD83BD403F}"/>
              </a:ext>
            </a:extLst>
          </p:cNvPr>
          <p:cNvPicPr>
            <a:picLocks noChangeAspect="1"/>
          </p:cNvPicPr>
          <p:nvPr/>
        </p:nvPicPr>
        <p:blipFill>
          <a:blip r:embed="rId2"/>
          <a:stretch>
            <a:fillRect/>
          </a:stretch>
        </p:blipFill>
        <p:spPr>
          <a:xfrm>
            <a:off x="31376" y="219262"/>
            <a:ext cx="12192000" cy="6302934"/>
          </a:xfrm>
          <a:prstGeom prst="rect">
            <a:avLst/>
          </a:prstGeom>
        </p:spPr>
      </p:pic>
    </p:spTree>
    <p:extLst>
      <p:ext uri="{BB962C8B-B14F-4D97-AF65-F5344CB8AC3E}">
        <p14:creationId xmlns:p14="http://schemas.microsoft.com/office/powerpoint/2010/main" val="3480245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EFDBAB-9DCB-7B70-2352-2F1812C238E2}"/>
              </a:ext>
            </a:extLst>
          </p:cNvPr>
          <p:cNvPicPr>
            <a:picLocks noChangeAspect="1"/>
          </p:cNvPicPr>
          <p:nvPr/>
        </p:nvPicPr>
        <p:blipFill>
          <a:blip r:embed="rId2"/>
          <a:stretch>
            <a:fillRect/>
          </a:stretch>
        </p:blipFill>
        <p:spPr>
          <a:xfrm>
            <a:off x="0" y="2012877"/>
            <a:ext cx="6255071" cy="1416123"/>
          </a:xfrm>
          <a:prstGeom prst="rect">
            <a:avLst/>
          </a:prstGeom>
        </p:spPr>
      </p:pic>
      <p:pic>
        <p:nvPicPr>
          <p:cNvPr id="7" name="Picture 6">
            <a:extLst>
              <a:ext uri="{FF2B5EF4-FFF2-40B4-BE49-F238E27FC236}">
                <a16:creationId xmlns:a16="http://schemas.microsoft.com/office/drawing/2014/main" id="{7E7D1CA3-5E70-42B5-92E1-E6CE0F7E1BA3}"/>
              </a:ext>
            </a:extLst>
          </p:cNvPr>
          <p:cNvPicPr>
            <a:picLocks noChangeAspect="1"/>
          </p:cNvPicPr>
          <p:nvPr/>
        </p:nvPicPr>
        <p:blipFill>
          <a:blip r:embed="rId3"/>
          <a:stretch>
            <a:fillRect/>
          </a:stretch>
        </p:blipFill>
        <p:spPr>
          <a:xfrm>
            <a:off x="270087" y="3930721"/>
            <a:ext cx="4864350" cy="2502029"/>
          </a:xfrm>
          <a:prstGeom prst="rect">
            <a:avLst/>
          </a:prstGeom>
        </p:spPr>
      </p:pic>
      <p:pic>
        <p:nvPicPr>
          <p:cNvPr id="11" name="Picture 10">
            <a:extLst>
              <a:ext uri="{FF2B5EF4-FFF2-40B4-BE49-F238E27FC236}">
                <a16:creationId xmlns:a16="http://schemas.microsoft.com/office/drawing/2014/main" id="{00FFC35B-92AB-CF41-48CB-ADF7CF61CBB0}"/>
              </a:ext>
            </a:extLst>
          </p:cNvPr>
          <p:cNvPicPr>
            <a:picLocks noChangeAspect="1"/>
          </p:cNvPicPr>
          <p:nvPr/>
        </p:nvPicPr>
        <p:blipFill>
          <a:blip r:embed="rId4"/>
          <a:stretch>
            <a:fillRect/>
          </a:stretch>
        </p:blipFill>
        <p:spPr>
          <a:xfrm>
            <a:off x="5578614" y="1508289"/>
            <a:ext cx="6565843" cy="2898611"/>
          </a:xfrm>
          <a:prstGeom prst="rect">
            <a:avLst/>
          </a:prstGeom>
        </p:spPr>
      </p:pic>
      <p:pic>
        <p:nvPicPr>
          <p:cNvPr id="13" name="Picture 12">
            <a:extLst>
              <a:ext uri="{FF2B5EF4-FFF2-40B4-BE49-F238E27FC236}">
                <a16:creationId xmlns:a16="http://schemas.microsoft.com/office/drawing/2014/main" id="{A37D0D34-AB46-15E8-B8B4-24DFD37DA7E7}"/>
              </a:ext>
            </a:extLst>
          </p:cNvPr>
          <p:cNvPicPr>
            <a:picLocks noChangeAspect="1"/>
          </p:cNvPicPr>
          <p:nvPr/>
        </p:nvPicPr>
        <p:blipFill>
          <a:blip r:embed="rId5"/>
          <a:stretch>
            <a:fillRect/>
          </a:stretch>
        </p:blipFill>
        <p:spPr>
          <a:xfrm>
            <a:off x="5527859" y="4694549"/>
            <a:ext cx="6312224" cy="1511378"/>
          </a:xfrm>
          <a:prstGeom prst="rect">
            <a:avLst/>
          </a:prstGeom>
        </p:spPr>
      </p:pic>
      <p:sp>
        <p:nvSpPr>
          <p:cNvPr id="16" name="Title 15">
            <a:extLst>
              <a:ext uri="{FF2B5EF4-FFF2-40B4-BE49-F238E27FC236}">
                <a16:creationId xmlns:a16="http://schemas.microsoft.com/office/drawing/2014/main" id="{4DFD9A27-E695-9AD0-B45A-0F2AC5ACDFBF}"/>
              </a:ext>
            </a:extLst>
          </p:cNvPr>
          <p:cNvSpPr>
            <a:spLocks noGrp="1"/>
          </p:cNvSpPr>
          <p:nvPr>
            <p:ph type="title"/>
          </p:nvPr>
        </p:nvSpPr>
        <p:spPr>
          <a:xfrm>
            <a:off x="403411" y="104595"/>
            <a:ext cx="10177556" cy="1133475"/>
          </a:xfrm>
        </p:spPr>
        <p:txBody>
          <a:bodyPr>
            <a:normAutofit/>
          </a:bodyPr>
          <a:lstStyle/>
          <a:p>
            <a:r>
              <a:rPr lang="en-US" sz="4000" dirty="0"/>
              <a:t>Knowledge Distillation (Classification)</a:t>
            </a:r>
          </a:p>
        </p:txBody>
      </p:sp>
    </p:spTree>
    <p:extLst>
      <p:ext uri="{BB962C8B-B14F-4D97-AF65-F5344CB8AC3E}">
        <p14:creationId xmlns:p14="http://schemas.microsoft.com/office/powerpoint/2010/main" val="531832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C4DFAD-63D6-0C8E-5D6D-E367A4E6DD5A}"/>
              </a:ext>
            </a:extLst>
          </p:cNvPr>
          <p:cNvPicPr>
            <a:picLocks noChangeAspect="1"/>
          </p:cNvPicPr>
          <p:nvPr/>
        </p:nvPicPr>
        <p:blipFill>
          <a:blip r:embed="rId2"/>
          <a:stretch>
            <a:fillRect/>
          </a:stretch>
        </p:blipFill>
        <p:spPr>
          <a:xfrm>
            <a:off x="78834" y="1706762"/>
            <a:ext cx="5629569" cy="2916790"/>
          </a:xfrm>
          <a:prstGeom prst="rect">
            <a:avLst/>
          </a:prstGeom>
        </p:spPr>
      </p:pic>
      <p:pic>
        <p:nvPicPr>
          <p:cNvPr id="7" name="Picture 6">
            <a:extLst>
              <a:ext uri="{FF2B5EF4-FFF2-40B4-BE49-F238E27FC236}">
                <a16:creationId xmlns:a16="http://schemas.microsoft.com/office/drawing/2014/main" id="{3BF146F5-7EE2-4039-6857-7858936C10EC}"/>
              </a:ext>
            </a:extLst>
          </p:cNvPr>
          <p:cNvPicPr>
            <a:picLocks noChangeAspect="1"/>
          </p:cNvPicPr>
          <p:nvPr/>
        </p:nvPicPr>
        <p:blipFill>
          <a:blip r:embed="rId3"/>
          <a:stretch>
            <a:fillRect/>
          </a:stretch>
        </p:blipFill>
        <p:spPr>
          <a:xfrm>
            <a:off x="5600329" y="1756684"/>
            <a:ext cx="6305874" cy="3130711"/>
          </a:xfrm>
          <a:prstGeom prst="rect">
            <a:avLst/>
          </a:prstGeom>
        </p:spPr>
      </p:pic>
      <p:sp>
        <p:nvSpPr>
          <p:cNvPr id="9" name="TextBox 8">
            <a:extLst>
              <a:ext uri="{FF2B5EF4-FFF2-40B4-BE49-F238E27FC236}">
                <a16:creationId xmlns:a16="http://schemas.microsoft.com/office/drawing/2014/main" id="{2D9CEAF9-5252-F98E-E41C-3F578779144E}"/>
              </a:ext>
            </a:extLst>
          </p:cNvPr>
          <p:cNvSpPr txBox="1"/>
          <p:nvPr/>
        </p:nvSpPr>
        <p:spPr>
          <a:xfrm>
            <a:off x="330201" y="5151238"/>
            <a:ext cx="11700932" cy="1477328"/>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rPr>
              <a:t>When evaluated against GPT 4o’s synthetic labels, our </a:t>
            </a:r>
            <a:r>
              <a:rPr lang="en-US" b="0" i="0" dirty="0" err="1">
                <a:solidFill>
                  <a:srgbClr val="000000"/>
                </a:solidFill>
                <a:effectLst/>
                <a:latin typeface="Times New Roman" panose="02020603050405020304" pitchFamily="18" charset="0"/>
              </a:rPr>
              <a:t>DistilBERT</a:t>
            </a:r>
            <a:r>
              <a:rPr lang="en-US" b="0" i="0" dirty="0">
                <a:solidFill>
                  <a:srgbClr val="000000"/>
                </a:solidFill>
                <a:effectLst/>
                <a:latin typeface="Times New Roman" panose="02020603050405020304" pitchFamily="18" charset="0"/>
              </a:rPr>
              <a:t> student achieved an overall F1 score of 0.81—closely matching the teacher’s performance with both precision and recall at 0.82. Performance varied by topic, for example Transportation and Public Works led the pack (F1 ≈ 0.97), followed by International Affairs, Science &amp; Technology, and Agriculture &amp; Food (all &gt; 0.95), while Government Operations &amp; Politics was the most challenging category (F1 ≈ 0.71). Across 19 Congressional topics, the student model sustained high accuracy (15 categories &gt; 0.80).</a:t>
            </a:r>
            <a:endParaRPr lang="en-US" dirty="0"/>
          </a:p>
        </p:txBody>
      </p:sp>
      <p:sp>
        <p:nvSpPr>
          <p:cNvPr id="10" name="Title 15">
            <a:extLst>
              <a:ext uri="{FF2B5EF4-FFF2-40B4-BE49-F238E27FC236}">
                <a16:creationId xmlns:a16="http://schemas.microsoft.com/office/drawing/2014/main" id="{5CD90BFE-B84E-2B0B-C0D9-36E7FF638328}"/>
              </a:ext>
            </a:extLst>
          </p:cNvPr>
          <p:cNvSpPr>
            <a:spLocks noGrp="1"/>
          </p:cNvSpPr>
          <p:nvPr>
            <p:ph type="title"/>
          </p:nvPr>
        </p:nvSpPr>
        <p:spPr>
          <a:xfrm>
            <a:off x="403411" y="104595"/>
            <a:ext cx="10177556" cy="1133475"/>
          </a:xfrm>
        </p:spPr>
        <p:txBody>
          <a:bodyPr>
            <a:normAutofit/>
          </a:bodyPr>
          <a:lstStyle/>
          <a:p>
            <a:r>
              <a:rPr lang="en-US" sz="4000" dirty="0"/>
              <a:t>Knowledge Distillation (Cont’d)</a:t>
            </a:r>
          </a:p>
        </p:txBody>
      </p:sp>
    </p:spTree>
    <p:extLst>
      <p:ext uri="{BB962C8B-B14F-4D97-AF65-F5344CB8AC3E}">
        <p14:creationId xmlns:p14="http://schemas.microsoft.com/office/powerpoint/2010/main" val="2581071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118CE42-1DDB-7E6C-2178-63D3001C1D7A}"/>
              </a:ext>
            </a:extLst>
          </p:cNvPr>
          <p:cNvSpPr txBox="1"/>
          <p:nvPr/>
        </p:nvSpPr>
        <p:spPr>
          <a:xfrm>
            <a:off x="568411" y="1075704"/>
            <a:ext cx="12387649" cy="4801314"/>
          </a:xfrm>
          <a:prstGeom prst="rect">
            <a:avLst/>
          </a:prstGeom>
          <a:noFill/>
        </p:spPr>
        <p:txBody>
          <a:bodyPr wrap="square">
            <a:spAutoFit/>
          </a:bodyPr>
          <a:lstStyle/>
          <a:p>
            <a:pPr>
              <a:buNone/>
            </a:pPr>
            <a:r>
              <a:rPr lang="en-US" b="1" dirty="0"/>
              <a:t>Limitations &amp; Future Directions</a:t>
            </a:r>
          </a:p>
          <a:p>
            <a:pPr>
              <a:buNone/>
            </a:pPr>
            <a:r>
              <a:rPr lang="en-US" b="1" dirty="0"/>
              <a:t>Deduplication Fidelity</a:t>
            </a:r>
            <a:endParaRPr lang="en-US" dirty="0"/>
          </a:p>
          <a:p>
            <a:pPr lvl="1">
              <a:buFont typeface="Arial" panose="020B0604020202020204" pitchFamily="34" charset="0"/>
              <a:buChar char="•"/>
            </a:pPr>
            <a:r>
              <a:rPr lang="en-US" dirty="0"/>
              <a:t>Current: Monthly fidelity, not ground-truth index</a:t>
            </a:r>
          </a:p>
          <a:p>
            <a:pPr lvl="1">
              <a:buFont typeface="Arial" panose="020B0604020202020204" pitchFamily="34" charset="0"/>
              <a:buChar char="•"/>
            </a:pPr>
            <a:r>
              <a:rPr lang="en-US" dirty="0"/>
              <a:t>Challenge: Over/under merging events</a:t>
            </a:r>
          </a:p>
          <a:p>
            <a:pPr lvl="1">
              <a:buFont typeface="Arial" panose="020B0604020202020204" pitchFamily="34" charset="0"/>
              <a:buChar char="•"/>
            </a:pPr>
            <a:r>
              <a:rPr lang="en-US" dirty="0"/>
              <a:t>Future: Hierarchical schemas + batch reprocessing + SME adjudication</a:t>
            </a:r>
          </a:p>
          <a:p>
            <a:pPr>
              <a:buNone/>
            </a:pPr>
            <a:r>
              <a:rPr lang="en-US" b="1" dirty="0"/>
              <a:t>Human-in-the-Loop Validation</a:t>
            </a:r>
            <a:endParaRPr lang="en-US" dirty="0"/>
          </a:p>
          <a:p>
            <a:pPr lvl="1">
              <a:buFont typeface="Arial" panose="020B0604020202020204" pitchFamily="34" charset="0"/>
              <a:buChar char="•"/>
            </a:pPr>
            <a:r>
              <a:rPr lang="en-US" dirty="0"/>
              <a:t>Current: Limited analyst manpower</a:t>
            </a:r>
          </a:p>
          <a:p>
            <a:pPr lvl="1">
              <a:buFont typeface="Arial" panose="020B0604020202020204" pitchFamily="34" charset="0"/>
              <a:buChar char="•"/>
            </a:pPr>
            <a:r>
              <a:rPr lang="en-US" dirty="0"/>
              <a:t>Challenge: Continuous review not feasible</a:t>
            </a:r>
          </a:p>
          <a:p>
            <a:pPr lvl="1">
              <a:buFont typeface="Arial" panose="020B0604020202020204" pitchFamily="34" charset="0"/>
              <a:buChar char="•"/>
            </a:pPr>
            <a:r>
              <a:rPr lang="en-US" dirty="0"/>
              <a:t>Future: Selective validation + confidence metrics + reinforcement learning</a:t>
            </a:r>
          </a:p>
          <a:p>
            <a:pPr>
              <a:buNone/>
            </a:pPr>
            <a:r>
              <a:rPr lang="en-US" b="1" dirty="0"/>
              <a:t>Evaluation &amp; Ground Truth Gaps</a:t>
            </a:r>
            <a:endParaRPr lang="en-US" dirty="0"/>
          </a:p>
          <a:p>
            <a:pPr lvl="1">
              <a:buFont typeface="Arial" panose="020B0604020202020204" pitchFamily="34" charset="0"/>
              <a:buChar char="•"/>
            </a:pPr>
            <a:r>
              <a:rPr lang="en-US" dirty="0"/>
              <a:t>Current: No balanced dataset; human variance</a:t>
            </a:r>
          </a:p>
          <a:p>
            <a:pPr lvl="1">
              <a:buFont typeface="Arial" panose="020B0604020202020204" pitchFamily="34" charset="0"/>
              <a:buChar char="•"/>
            </a:pPr>
            <a:r>
              <a:rPr lang="en-US" dirty="0"/>
              <a:t>Challenge: Evaluation remains iterative</a:t>
            </a:r>
          </a:p>
          <a:p>
            <a:pPr lvl="1">
              <a:buFont typeface="Arial" panose="020B0604020202020204" pitchFamily="34" charset="0"/>
              <a:buChar char="•"/>
            </a:pPr>
            <a:r>
              <a:rPr lang="en-US" dirty="0"/>
              <a:t>Future: Build balanced corpus; overlap checks; refine schema w/ SME input</a:t>
            </a:r>
          </a:p>
          <a:p>
            <a:pPr>
              <a:buNone/>
            </a:pPr>
            <a:r>
              <a:rPr lang="en-US" b="1" dirty="0"/>
              <a:t>Cost &amp; Scaling</a:t>
            </a:r>
            <a:endParaRPr lang="en-US" dirty="0"/>
          </a:p>
          <a:p>
            <a:pPr lvl="1">
              <a:buFont typeface="Arial" panose="020B0604020202020204" pitchFamily="34" charset="0"/>
              <a:buChar char="•"/>
            </a:pPr>
            <a:r>
              <a:rPr lang="en-US" dirty="0"/>
              <a:t>Current: GPT-4.1 performance high, costs remain high</a:t>
            </a:r>
          </a:p>
          <a:p>
            <a:pPr lvl="1">
              <a:buFont typeface="Arial" panose="020B0604020202020204" pitchFamily="34" charset="0"/>
              <a:buChar char="•"/>
            </a:pPr>
            <a:r>
              <a:rPr lang="en-US" dirty="0"/>
              <a:t>Challenge: Large-scale ingestion not sustainable</a:t>
            </a:r>
          </a:p>
          <a:p>
            <a:pPr lvl="1">
              <a:buFont typeface="Arial" panose="020B0604020202020204" pitchFamily="34" charset="0"/>
              <a:buChar char="•"/>
            </a:pPr>
            <a:r>
              <a:rPr lang="en-US" dirty="0"/>
              <a:t>Future: Hybrid frontier + student/open-source models</a:t>
            </a:r>
          </a:p>
        </p:txBody>
      </p:sp>
    </p:spTree>
    <p:extLst>
      <p:ext uri="{BB962C8B-B14F-4D97-AF65-F5344CB8AC3E}">
        <p14:creationId xmlns:p14="http://schemas.microsoft.com/office/powerpoint/2010/main" val="657959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AB378A84-1DF6-4499-BEAE-7103E5B10418}"/>
              </a:ext>
            </a:extLst>
          </p:cNvPr>
          <p:cNvSpPr>
            <a:spLocks noChangeArrowheads="1"/>
          </p:cNvSpPr>
          <p:nvPr/>
        </p:nvSpPr>
        <p:spPr bwMode="auto">
          <a:xfrm>
            <a:off x="532370" y="1132347"/>
            <a:ext cx="1112725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Batch Deduplication (Deferred):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Deduplication occurs after weeks or months of data have been collected.</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Allows events to be evaluated in the context of the larger dataset, supporting higher-confidence consolidations.</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Minimizes fragmentation by ensuring the full range of references to an event are considered before assigning a stable identifier.</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Drawback: Delays analyst access to fully consolidated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Real-Time Deduplication (Streaming):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Deduplication occurs as new articles are ingested.</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Events are immediately compared against existing SPIDs, and matches are flagged as updates.</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Allows near-instant enrichment of event summaries and metrics.</a:t>
            </a:r>
          </a:p>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Arial" panose="020B0604020202020204" pitchFamily="34" charset="0"/>
              </a:rPr>
              <a:t>Drawback: Risks </a:t>
            </a:r>
            <a:r>
              <a:rPr kumimoji="0" lang="en-US" altLang="en-US" b="1" i="0" u="none" strike="noStrike" cap="none" normalizeH="0" baseline="0" dirty="0">
                <a:ln>
                  <a:noFill/>
                </a:ln>
                <a:solidFill>
                  <a:schemeClr val="tx1"/>
                </a:solidFill>
                <a:effectLst/>
                <a:latin typeface="Arial" panose="020B0604020202020204" pitchFamily="34" charset="0"/>
              </a:rPr>
              <a:t>over-consolidation</a:t>
            </a:r>
            <a:r>
              <a:rPr kumimoji="0" lang="en-US" altLang="en-US" b="0" i="0" u="none" strike="noStrike" cap="none" normalizeH="0" baseline="0" dirty="0">
                <a:ln>
                  <a:noFill/>
                </a:ln>
                <a:solidFill>
                  <a:schemeClr val="tx1"/>
                </a:solidFill>
                <a:effectLst/>
                <a:latin typeface="Arial" panose="020B0604020202020204" pitchFamily="34" charset="0"/>
              </a:rPr>
              <a:t> or fragmentation, since the model has less historical context to work with.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8451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919</Words>
  <Application>Microsoft Office PowerPoint</Application>
  <PresentationFormat>Widescreen</PresentationFormat>
  <Paragraphs>112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 Unicode MS</vt:lpstr>
      <vt:lpstr>Aptos</vt:lpstr>
      <vt:lpstr>Aptos Display</vt:lpstr>
      <vt:lpstr>Arial</vt:lpstr>
      <vt:lpstr>Times New Roman</vt:lpstr>
      <vt:lpstr>Office Theme</vt:lpstr>
      <vt:lpstr>PowerPoint Presentation</vt:lpstr>
      <vt:lpstr>PowerPoint Presentation</vt:lpstr>
      <vt:lpstr>PowerPoint Presentation</vt:lpstr>
      <vt:lpstr>Techniques &amp; Lessons learned </vt:lpstr>
      <vt:lpstr>PowerPoint Presentation</vt:lpstr>
      <vt:lpstr>PowerPoint Presentation</vt:lpstr>
      <vt:lpstr>PowerPoint Presentation</vt:lpstr>
      <vt:lpstr>Knowledge Distillation (Classification)</vt:lpstr>
      <vt:lpstr>Knowledge Distillation (Cont’d)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matthew50</dc:creator>
  <cp:lastModifiedBy>matthew50</cp:lastModifiedBy>
  <cp:revision>1</cp:revision>
  <dcterms:created xsi:type="dcterms:W3CDTF">2025-09-16T14:27:43Z</dcterms:created>
  <dcterms:modified xsi:type="dcterms:W3CDTF">2025-09-18T02:30:02Z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9b2fef4-3f15-4422-b43e-bb42715023dc_Enabled">
    <vt:lpwstr>true</vt:lpwstr>
  </property>
  <property fmtid="{D5CDD505-2E9C-101B-9397-08002B2CF9AE}" pid="3" name="MSIP_Label_99b2fef4-3f15-4422-b43e-bb42715023dc_SetDate">
    <vt:lpwstr>2025-09-16T14:27:59Z</vt:lpwstr>
  </property>
  <property fmtid="{D5CDD505-2E9C-101B-9397-08002B2CF9AE}" pid="4" name="MSIP_Label_99b2fef4-3f15-4422-b43e-bb42715023dc_Method">
    <vt:lpwstr>Privileged</vt:lpwstr>
  </property>
  <property fmtid="{D5CDD505-2E9C-101B-9397-08002B2CF9AE}" pid="5" name="MSIP_Label_99b2fef4-3f15-4422-b43e-bb42715023dc_Name">
    <vt:lpwstr>UNCLASSIFIED</vt:lpwstr>
  </property>
  <property fmtid="{D5CDD505-2E9C-101B-9397-08002B2CF9AE}" pid="6" name="MSIP_Label_99b2fef4-3f15-4422-b43e-bb42715023dc_SiteId">
    <vt:lpwstr>f8f6d4e3-afa9-4149-9012-cb5b450afd4f</vt:lpwstr>
  </property>
  <property fmtid="{D5CDD505-2E9C-101B-9397-08002B2CF9AE}" pid="7" name="MSIP_Label_99b2fef4-3f15-4422-b43e-bb42715023dc_ActionId">
    <vt:lpwstr>ac4d333c-4c86-4d26-850d-613896ee809f</vt:lpwstr>
  </property>
  <property fmtid="{D5CDD505-2E9C-101B-9397-08002B2CF9AE}" pid="8" name="MSIP_Label_99b2fef4-3f15-4422-b43e-bb42715023dc_ContentBits">
    <vt:lpwstr>0</vt:lpwstr>
  </property>
  <property fmtid="{D5CDD505-2E9C-101B-9397-08002B2CF9AE}" pid="9" name="MSIP_Label_99b2fef4-3f15-4422-b43e-bb42715023dc_Tag">
    <vt:lpwstr>10, 0, 1, 1</vt:lpwstr>
  </property>
</Properties>
</file>