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0"/>
  </p:notesMasterIdLst>
  <p:sldIdLst>
    <p:sldId id="256" r:id="rId5"/>
    <p:sldId id="275" r:id="rId6"/>
    <p:sldId id="278" r:id="rId7"/>
    <p:sldId id="285" r:id="rId8"/>
    <p:sldId id="284" r:id="rId9"/>
    <p:sldId id="258" r:id="rId10"/>
    <p:sldId id="260" r:id="rId11"/>
    <p:sldId id="276" r:id="rId12"/>
    <p:sldId id="267" r:id="rId13"/>
    <p:sldId id="277" r:id="rId14"/>
    <p:sldId id="257" r:id="rId15"/>
    <p:sldId id="272" r:id="rId16"/>
    <p:sldId id="264" r:id="rId17"/>
    <p:sldId id="265" r:id="rId18"/>
    <p:sldId id="286" r:id="rId19"/>
    <p:sldId id="289" r:id="rId20"/>
    <p:sldId id="288" r:id="rId21"/>
    <p:sldId id="271" r:id="rId22"/>
    <p:sldId id="290" r:id="rId23"/>
    <p:sldId id="281" r:id="rId24"/>
    <p:sldId id="279" r:id="rId25"/>
    <p:sldId id="287" r:id="rId26"/>
    <p:sldId id="280" r:id="rId27"/>
    <p:sldId id="283" r:id="rId28"/>
    <p:sldId id="266"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DA4FD7-F8D1-4C09-85E2-3DD2B889E52C}" v="44" dt="2025-11-12T16:53:09.24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7" autoAdjust="0"/>
    <p:restoredTop sz="94660"/>
  </p:normalViewPr>
  <p:slideViewPr>
    <p:cSldViewPr snapToGrid="0">
      <p:cViewPr varScale="1">
        <p:scale>
          <a:sx n="105" d="100"/>
          <a:sy n="105" d="100"/>
        </p:scale>
        <p:origin x="78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ew50" userId="S::matthew50@opensource.gov::0c075c7a-c56d-4223-ba82-0fbc2daf02ce" providerId="AD" clId="Web-{7CD015E4-0FE4-67DB-35C5-C57B111B089D}"/>
    <pc:docChg chg="addSld delSld">
      <pc:chgData name="matthew50" userId="S::matthew50@opensource.gov::0c075c7a-c56d-4223-ba82-0fbc2daf02ce" providerId="AD" clId="Web-{7CD015E4-0FE4-67DB-35C5-C57B111B089D}" dt="2025-11-07T16:30:09.920" v="2"/>
      <pc:docMkLst>
        <pc:docMk/>
      </pc:docMkLst>
      <pc:sldChg chg="add">
        <pc:chgData name="matthew50" userId="S::matthew50@opensource.gov::0c075c7a-c56d-4223-ba82-0fbc2daf02ce" providerId="AD" clId="Web-{7CD015E4-0FE4-67DB-35C5-C57B111B089D}" dt="2025-11-07T16:30:06.373" v="0"/>
        <pc:sldMkLst>
          <pc:docMk/>
          <pc:sldMk cId="400365892" sldId="257"/>
        </pc:sldMkLst>
      </pc:sldChg>
      <pc:sldChg chg="del">
        <pc:chgData name="matthew50" userId="S::matthew50@opensource.gov::0c075c7a-c56d-4223-ba82-0fbc2daf02ce" providerId="AD" clId="Web-{7CD015E4-0FE4-67DB-35C5-C57B111B089D}" dt="2025-11-07T16:30:09.920" v="2"/>
        <pc:sldMkLst>
          <pc:docMk/>
          <pc:sldMk cId="287998288" sldId="263"/>
        </pc:sldMkLst>
      </pc:sldChg>
      <pc:sldChg chg="add">
        <pc:chgData name="matthew50" userId="S::matthew50@opensource.gov::0c075c7a-c56d-4223-ba82-0fbc2daf02ce" providerId="AD" clId="Web-{7CD015E4-0FE4-67DB-35C5-C57B111B089D}" dt="2025-11-07T16:30:06.529" v="1"/>
        <pc:sldMkLst>
          <pc:docMk/>
          <pc:sldMk cId="4096069185" sldId="277"/>
        </pc:sldMkLst>
      </pc:sldChg>
    </pc:docChg>
  </pc:docChgLst>
  <pc:docChgLst>
    <pc:chgData name="matthew50" userId="0c075c7a-c56d-4223-ba82-0fbc2daf02ce" providerId="ADAL" clId="{006288FC-9A58-45D1-AEF0-9FED53A28B5D}"/>
    <pc:docChg chg="undo custSel addSld delSld modSld sldOrd">
      <pc:chgData name="matthew50" userId="0c075c7a-c56d-4223-ba82-0fbc2daf02ce" providerId="ADAL" clId="{006288FC-9A58-45D1-AEF0-9FED53A28B5D}" dt="2025-11-12T16:38:21.923" v="717"/>
      <pc:docMkLst>
        <pc:docMk/>
      </pc:docMkLst>
      <pc:sldChg chg="modSp mod">
        <pc:chgData name="matthew50" userId="0c075c7a-c56d-4223-ba82-0fbc2daf02ce" providerId="ADAL" clId="{006288FC-9A58-45D1-AEF0-9FED53A28B5D}" dt="2025-11-07T16:18:50.857" v="37" actId="20577"/>
        <pc:sldMkLst>
          <pc:docMk/>
          <pc:sldMk cId="2106085529" sldId="256"/>
        </pc:sldMkLst>
        <pc:spChg chg="mod">
          <ac:chgData name="matthew50" userId="0c075c7a-c56d-4223-ba82-0fbc2daf02ce" providerId="ADAL" clId="{006288FC-9A58-45D1-AEF0-9FED53A28B5D}" dt="2025-11-07T16:18:36.719" v="11" actId="20577"/>
          <ac:spMkLst>
            <pc:docMk/>
            <pc:sldMk cId="2106085529" sldId="256"/>
            <ac:spMk id="2" creationId="{A7C3C801-680A-2A1F-60A6-8B1227D3B092}"/>
          </ac:spMkLst>
        </pc:spChg>
        <pc:spChg chg="mod">
          <ac:chgData name="matthew50" userId="0c075c7a-c56d-4223-ba82-0fbc2daf02ce" providerId="ADAL" clId="{006288FC-9A58-45D1-AEF0-9FED53A28B5D}" dt="2025-11-07T16:18:50.857" v="37" actId="20577"/>
          <ac:spMkLst>
            <pc:docMk/>
            <pc:sldMk cId="2106085529" sldId="256"/>
            <ac:spMk id="3" creationId="{5CB6FD9B-87D8-00E1-990E-D3BA839EC19B}"/>
          </ac:spMkLst>
        </pc:spChg>
      </pc:sldChg>
      <pc:sldChg chg="ord">
        <pc:chgData name="matthew50" userId="0c075c7a-c56d-4223-ba82-0fbc2daf02ce" providerId="ADAL" clId="{006288FC-9A58-45D1-AEF0-9FED53A28B5D}" dt="2025-11-07T17:40:29.543" v="278"/>
        <pc:sldMkLst>
          <pc:docMk/>
          <pc:sldMk cId="400365892" sldId="257"/>
        </pc:sldMkLst>
      </pc:sldChg>
      <pc:sldChg chg="modSp add mod">
        <pc:chgData name="matthew50" userId="0c075c7a-c56d-4223-ba82-0fbc2daf02ce" providerId="ADAL" clId="{006288FC-9A58-45D1-AEF0-9FED53A28B5D}" dt="2025-11-12T15:00:57.820" v="520" actId="20577"/>
        <pc:sldMkLst>
          <pc:docMk/>
          <pc:sldMk cId="1455916771" sldId="258"/>
        </pc:sldMkLst>
        <pc:spChg chg="mod">
          <ac:chgData name="matthew50" userId="0c075c7a-c56d-4223-ba82-0fbc2daf02ce" providerId="ADAL" clId="{006288FC-9A58-45D1-AEF0-9FED53A28B5D}" dt="2025-11-12T15:00:57.820" v="520" actId="20577"/>
          <ac:spMkLst>
            <pc:docMk/>
            <pc:sldMk cId="1455916771" sldId="258"/>
            <ac:spMk id="3" creationId="{D126D3C7-C342-69F2-B08D-A154E2442F8C}"/>
          </ac:spMkLst>
        </pc:spChg>
      </pc:sldChg>
      <pc:sldChg chg="add del">
        <pc:chgData name="matthew50" userId="0c075c7a-c56d-4223-ba82-0fbc2daf02ce" providerId="ADAL" clId="{006288FC-9A58-45D1-AEF0-9FED53A28B5D}" dt="2025-11-12T16:26:29.581" v="698" actId="47"/>
        <pc:sldMkLst>
          <pc:docMk/>
          <pc:sldMk cId="1313241319" sldId="259"/>
        </pc:sldMkLst>
      </pc:sldChg>
      <pc:sldChg chg="add">
        <pc:chgData name="matthew50" userId="0c075c7a-c56d-4223-ba82-0fbc2daf02ce" providerId="ADAL" clId="{006288FC-9A58-45D1-AEF0-9FED53A28B5D}" dt="2025-11-07T16:25:52.802" v="177"/>
        <pc:sldMkLst>
          <pc:docMk/>
          <pc:sldMk cId="965144412" sldId="260"/>
        </pc:sldMkLst>
      </pc:sldChg>
      <pc:sldChg chg="ord">
        <pc:chgData name="matthew50" userId="0c075c7a-c56d-4223-ba82-0fbc2daf02ce" providerId="ADAL" clId="{006288FC-9A58-45D1-AEF0-9FED53A28B5D}" dt="2025-11-12T16:33:23.212" v="702"/>
        <pc:sldMkLst>
          <pc:docMk/>
          <pc:sldMk cId="531832758" sldId="264"/>
        </pc:sldMkLst>
      </pc:sldChg>
      <pc:sldChg chg="modSp mod ord">
        <pc:chgData name="matthew50" userId="0c075c7a-c56d-4223-ba82-0fbc2daf02ce" providerId="ADAL" clId="{006288FC-9A58-45D1-AEF0-9FED53A28B5D}" dt="2025-11-12T16:33:27.457" v="704"/>
        <pc:sldMkLst>
          <pc:docMk/>
          <pc:sldMk cId="2581071234" sldId="265"/>
        </pc:sldMkLst>
        <pc:picChg chg="mod">
          <ac:chgData name="matthew50" userId="0c075c7a-c56d-4223-ba82-0fbc2daf02ce" providerId="ADAL" clId="{006288FC-9A58-45D1-AEF0-9FED53A28B5D}" dt="2025-11-12T15:30:45.044" v="533" actId="1076"/>
          <ac:picMkLst>
            <pc:docMk/>
            <pc:sldMk cId="2581071234" sldId="265"/>
            <ac:picMk id="5" creationId="{B4C4DFAD-63D6-0C8E-5D6D-E367A4E6DD5A}"/>
          </ac:picMkLst>
        </pc:picChg>
      </pc:sldChg>
      <pc:sldChg chg="modSp mod ord">
        <pc:chgData name="matthew50" userId="0c075c7a-c56d-4223-ba82-0fbc2daf02ce" providerId="ADAL" clId="{006288FC-9A58-45D1-AEF0-9FED53A28B5D}" dt="2025-11-12T15:39:57.936" v="604" actId="20577"/>
        <pc:sldMkLst>
          <pc:docMk/>
          <pc:sldMk cId="1475457295" sldId="266"/>
        </pc:sldMkLst>
        <pc:spChg chg="mod">
          <ac:chgData name="matthew50" userId="0c075c7a-c56d-4223-ba82-0fbc2daf02ce" providerId="ADAL" clId="{006288FC-9A58-45D1-AEF0-9FED53A28B5D}" dt="2025-11-12T15:39:57.936" v="604" actId="20577"/>
          <ac:spMkLst>
            <pc:docMk/>
            <pc:sldMk cId="1475457295" sldId="266"/>
            <ac:spMk id="6" creationId="{4FEA5831-AFA6-16D0-CCC8-249656DFD287}"/>
          </ac:spMkLst>
        </pc:spChg>
      </pc:sldChg>
      <pc:sldChg chg="add ord">
        <pc:chgData name="matthew50" userId="0c075c7a-c56d-4223-ba82-0fbc2daf02ce" providerId="ADAL" clId="{006288FC-9A58-45D1-AEF0-9FED53A28B5D}" dt="2025-11-07T17:40:13.489" v="276"/>
        <pc:sldMkLst>
          <pc:docMk/>
          <pc:sldMk cId="2405635433" sldId="267"/>
        </pc:sldMkLst>
      </pc:sldChg>
      <pc:sldChg chg="del ord">
        <pc:chgData name="matthew50" userId="0c075c7a-c56d-4223-ba82-0fbc2daf02ce" providerId="ADAL" clId="{006288FC-9A58-45D1-AEF0-9FED53A28B5D}" dt="2025-11-12T15:38:01.595" v="573" actId="47"/>
        <pc:sldMkLst>
          <pc:docMk/>
          <pc:sldMk cId="1075866558" sldId="269"/>
        </pc:sldMkLst>
      </pc:sldChg>
      <pc:sldChg chg="del">
        <pc:chgData name="matthew50" userId="0c075c7a-c56d-4223-ba82-0fbc2daf02ce" providerId="ADAL" clId="{006288FC-9A58-45D1-AEF0-9FED53A28B5D}" dt="2025-11-12T12:41:30.879" v="319" actId="47"/>
        <pc:sldMkLst>
          <pc:docMk/>
          <pc:sldMk cId="19390608" sldId="270"/>
        </pc:sldMkLst>
      </pc:sldChg>
      <pc:sldChg chg="ord">
        <pc:chgData name="matthew50" userId="0c075c7a-c56d-4223-ba82-0fbc2daf02ce" providerId="ADAL" clId="{006288FC-9A58-45D1-AEF0-9FED53A28B5D}" dt="2025-11-12T16:38:21.923" v="717"/>
        <pc:sldMkLst>
          <pc:docMk/>
          <pc:sldMk cId="3480245081" sldId="271"/>
        </pc:sldMkLst>
      </pc:sldChg>
      <pc:sldChg chg="ord">
        <pc:chgData name="matthew50" userId="0c075c7a-c56d-4223-ba82-0fbc2daf02ce" providerId="ADAL" clId="{006288FC-9A58-45D1-AEF0-9FED53A28B5D}" dt="2025-11-12T16:30:35.206" v="700"/>
        <pc:sldMkLst>
          <pc:docMk/>
          <pc:sldMk cId="3338093369" sldId="272"/>
        </pc:sldMkLst>
      </pc:sldChg>
      <pc:sldChg chg="del">
        <pc:chgData name="matthew50" userId="0c075c7a-c56d-4223-ba82-0fbc2daf02ce" providerId="ADAL" clId="{006288FC-9A58-45D1-AEF0-9FED53A28B5D}" dt="2025-11-12T15:38:34.175" v="577" actId="47"/>
        <pc:sldMkLst>
          <pc:docMk/>
          <pc:sldMk cId="2568451538" sldId="273"/>
        </pc:sldMkLst>
      </pc:sldChg>
      <pc:sldChg chg="del">
        <pc:chgData name="matthew50" userId="0c075c7a-c56d-4223-ba82-0fbc2daf02ce" providerId="ADAL" clId="{006288FC-9A58-45D1-AEF0-9FED53A28B5D}" dt="2025-11-12T15:39:14.894" v="578" actId="47"/>
        <pc:sldMkLst>
          <pc:docMk/>
          <pc:sldMk cId="657959303" sldId="274"/>
        </pc:sldMkLst>
      </pc:sldChg>
      <pc:sldChg chg="modSp new mod">
        <pc:chgData name="matthew50" userId="0c075c7a-c56d-4223-ba82-0fbc2daf02ce" providerId="ADAL" clId="{006288FC-9A58-45D1-AEF0-9FED53A28B5D}" dt="2025-11-12T16:18:52.487" v="696" actId="20577"/>
        <pc:sldMkLst>
          <pc:docMk/>
          <pc:sldMk cId="4068704661" sldId="275"/>
        </pc:sldMkLst>
        <pc:spChg chg="mod">
          <ac:chgData name="matthew50" userId="0c075c7a-c56d-4223-ba82-0fbc2daf02ce" providerId="ADAL" clId="{006288FC-9A58-45D1-AEF0-9FED53A28B5D}" dt="2025-11-07T16:19:00.430" v="45" actId="20577"/>
          <ac:spMkLst>
            <pc:docMk/>
            <pc:sldMk cId="4068704661" sldId="275"/>
            <ac:spMk id="2" creationId="{8DB9F23D-C16C-9E2C-9E4D-5C961849AC1C}"/>
          </ac:spMkLst>
        </pc:spChg>
        <pc:spChg chg="mod">
          <ac:chgData name="matthew50" userId="0c075c7a-c56d-4223-ba82-0fbc2daf02ce" providerId="ADAL" clId="{006288FC-9A58-45D1-AEF0-9FED53A28B5D}" dt="2025-11-12T16:18:52.487" v="696" actId="20577"/>
          <ac:spMkLst>
            <pc:docMk/>
            <pc:sldMk cId="4068704661" sldId="275"/>
            <ac:spMk id="3" creationId="{051CB02E-A8C5-6BCE-6888-AC1114F09536}"/>
          </ac:spMkLst>
        </pc:spChg>
      </pc:sldChg>
      <pc:sldChg chg="modSp add mod">
        <pc:chgData name="matthew50" userId="0c075c7a-c56d-4223-ba82-0fbc2daf02ce" providerId="ADAL" clId="{006288FC-9A58-45D1-AEF0-9FED53A28B5D}" dt="2025-11-12T14:38:38.974" v="331" actId="27636"/>
        <pc:sldMkLst>
          <pc:docMk/>
          <pc:sldMk cId="2223718244" sldId="276"/>
        </pc:sldMkLst>
        <pc:spChg chg="mod">
          <ac:chgData name="matthew50" userId="0c075c7a-c56d-4223-ba82-0fbc2daf02ce" providerId="ADAL" clId="{006288FC-9A58-45D1-AEF0-9FED53A28B5D}" dt="2025-11-12T14:38:38.974" v="331" actId="27636"/>
          <ac:spMkLst>
            <pc:docMk/>
            <pc:sldMk cId="2223718244" sldId="276"/>
            <ac:spMk id="3" creationId="{6D7D4440-D52F-DB7F-F2C0-B8B3ECCEC6DD}"/>
          </ac:spMkLst>
        </pc:spChg>
      </pc:sldChg>
      <pc:sldChg chg="add del">
        <pc:chgData name="matthew50" userId="0c075c7a-c56d-4223-ba82-0fbc2daf02ce" providerId="ADAL" clId="{006288FC-9A58-45D1-AEF0-9FED53A28B5D}" dt="2025-11-07T16:25:13.396" v="176"/>
        <pc:sldMkLst>
          <pc:docMk/>
          <pc:sldMk cId="2753465348" sldId="276"/>
        </pc:sldMkLst>
      </pc:sldChg>
      <pc:sldChg chg="ord">
        <pc:chgData name="matthew50" userId="0c075c7a-c56d-4223-ba82-0fbc2daf02ce" providerId="ADAL" clId="{006288FC-9A58-45D1-AEF0-9FED53A28B5D}" dt="2025-11-07T17:39:52.618" v="274"/>
        <pc:sldMkLst>
          <pc:docMk/>
          <pc:sldMk cId="4096069185" sldId="277"/>
        </pc:sldMkLst>
      </pc:sldChg>
      <pc:sldChg chg="addSp delSp modSp new mod">
        <pc:chgData name="matthew50" userId="0c075c7a-c56d-4223-ba82-0fbc2daf02ce" providerId="ADAL" clId="{006288FC-9A58-45D1-AEF0-9FED53A28B5D}" dt="2025-11-12T14:49:23.112" v="449" actId="1076"/>
        <pc:sldMkLst>
          <pc:docMk/>
          <pc:sldMk cId="1761910488" sldId="278"/>
        </pc:sldMkLst>
        <pc:spChg chg="mod">
          <ac:chgData name="matthew50" userId="0c075c7a-c56d-4223-ba82-0fbc2daf02ce" providerId="ADAL" clId="{006288FC-9A58-45D1-AEF0-9FED53A28B5D}" dt="2025-11-12T14:49:19.827" v="448" actId="1076"/>
          <ac:spMkLst>
            <pc:docMk/>
            <pc:sldMk cId="1761910488" sldId="278"/>
            <ac:spMk id="2" creationId="{02797E83-A200-9B56-DC0D-351D4E8DD0B6}"/>
          </ac:spMkLst>
        </pc:spChg>
        <pc:spChg chg="add mod">
          <ac:chgData name="matthew50" userId="0c075c7a-c56d-4223-ba82-0fbc2daf02ce" providerId="ADAL" clId="{006288FC-9A58-45D1-AEF0-9FED53A28B5D}" dt="2025-11-12T14:49:23.112" v="449" actId="1076"/>
          <ac:spMkLst>
            <pc:docMk/>
            <pc:sldMk cId="1761910488" sldId="278"/>
            <ac:spMk id="7" creationId="{67322974-59DF-C95F-A358-89DC0F2EE68F}"/>
          </ac:spMkLst>
        </pc:spChg>
        <pc:picChg chg="add mod">
          <ac:chgData name="matthew50" userId="0c075c7a-c56d-4223-ba82-0fbc2daf02ce" providerId="ADAL" clId="{006288FC-9A58-45D1-AEF0-9FED53A28B5D}" dt="2025-11-07T16:43:25.625" v="227" actId="1076"/>
          <ac:picMkLst>
            <pc:docMk/>
            <pc:sldMk cId="1761910488" sldId="278"/>
            <ac:picMk id="5" creationId="{5431FAAC-B63E-B58A-580B-A91E6C68D0D9}"/>
          </ac:picMkLst>
        </pc:picChg>
      </pc:sldChg>
      <pc:sldChg chg="addSp modSp add mod ord">
        <pc:chgData name="matthew50" userId="0c075c7a-c56d-4223-ba82-0fbc2daf02ce" providerId="ADAL" clId="{006288FC-9A58-45D1-AEF0-9FED53A28B5D}" dt="2025-11-12T15:35:08.008" v="539"/>
        <pc:sldMkLst>
          <pc:docMk/>
          <pc:sldMk cId="2745781559" sldId="279"/>
        </pc:sldMkLst>
        <pc:picChg chg="add mod">
          <ac:chgData name="matthew50" userId="0c075c7a-c56d-4223-ba82-0fbc2daf02ce" providerId="ADAL" clId="{006288FC-9A58-45D1-AEF0-9FED53A28B5D}" dt="2025-11-12T12:42:11.240" v="325" actId="1076"/>
          <ac:picMkLst>
            <pc:docMk/>
            <pc:sldMk cId="2745781559" sldId="279"/>
            <ac:picMk id="7" creationId="{5A79260F-7442-C7CD-AB9E-270B25169642}"/>
          </ac:picMkLst>
        </pc:picChg>
      </pc:sldChg>
      <pc:sldChg chg="addSp delSp modSp new mod ord">
        <pc:chgData name="matthew50" userId="0c075c7a-c56d-4223-ba82-0fbc2daf02ce" providerId="ADAL" clId="{006288FC-9A58-45D1-AEF0-9FED53A28B5D}" dt="2025-11-12T15:42:58.608" v="630" actId="21"/>
        <pc:sldMkLst>
          <pc:docMk/>
          <pc:sldMk cId="3513528090" sldId="280"/>
        </pc:sldMkLst>
        <pc:picChg chg="add del mod">
          <ac:chgData name="matthew50" userId="0c075c7a-c56d-4223-ba82-0fbc2daf02ce" providerId="ADAL" clId="{006288FC-9A58-45D1-AEF0-9FED53A28B5D}" dt="2025-11-12T15:42:58.608" v="630" actId="21"/>
          <ac:picMkLst>
            <pc:docMk/>
            <pc:sldMk cId="3513528090" sldId="280"/>
            <ac:picMk id="5" creationId="{A900EC4D-BC3F-5F33-48E9-F4D7E58315D4}"/>
          </ac:picMkLst>
        </pc:picChg>
        <pc:picChg chg="add del mod">
          <ac:chgData name="matthew50" userId="0c075c7a-c56d-4223-ba82-0fbc2daf02ce" providerId="ADAL" clId="{006288FC-9A58-45D1-AEF0-9FED53A28B5D}" dt="2025-11-12T12:42:04.638" v="322" actId="21"/>
          <ac:picMkLst>
            <pc:docMk/>
            <pc:sldMk cId="3513528090" sldId="280"/>
            <ac:picMk id="7" creationId="{5A79260F-7442-C7CD-AB9E-270B25169642}"/>
          </ac:picMkLst>
        </pc:picChg>
        <pc:picChg chg="add mod">
          <ac:chgData name="matthew50" userId="0c075c7a-c56d-4223-ba82-0fbc2daf02ce" providerId="ADAL" clId="{006288FC-9A58-45D1-AEF0-9FED53A28B5D}" dt="2025-11-12T15:42:42.474" v="627" actId="14100"/>
          <ac:picMkLst>
            <pc:docMk/>
            <pc:sldMk cId="3513528090" sldId="280"/>
            <ac:picMk id="9" creationId="{1A6796F3-5029-F604-3B19-C12F50F85D9E}"/>
          </ac:picMkLst>
        </pc:picChg>
        <pc:picChg chg="add del mod">
          <ac:chgData name="matthew50" userId="0c075c7a-c56d-4223-ba82-0fbc2daf02ce" providerId="ADAL" clId="{006288FC-9A58-45D1-AEF0-9FED53A28B5D}" dt="2025-11-12T12:38:51.330" v="313" actId="21"/>
          <ac:picMkLst>
            <pc:docMk/>
            <pc:sldMk cId="3513528090" sldId="280"/>
            <ac:picMk id="11" creationId="{C7D996E8-12D1-BF75-1D61-32F7BBD2407B}"/>
          </ac:picMkLst>
        </pc:picChg>
      </pc:sldChg>
      <pc:sldChg chg="addSp delSp modSp new mod ord">
        <pc:chgData name="matthew50" userId="0c075c7a-c56d-4223-ba82-0fbc2daf02ce" providerId="ADAL" clId="{006288FC-9A58-45D1-AEF0-9FED53A28B5D}" dt="2025-11-12T16:35:45.073" v="709" actId="1076"/>
        <pc:sldMkLst>
          <pc:docMk/>
          <pc:sldMk cId="1418910946" sldId="281"/>
        </pc:sldMkLst>
        <pc:spChg chg="del">
          <ac:chgData name="matthew50" userId="0c075c7a-c56d-4223-ba82-0fbc2daf02ce" providerId="ADAL" clId="{006288FC-9A58-45D1-AEF0-9FED53A28B5D}" dt="2025-11-12T12:39:09.389" v="318" actId="478"/>
          <ac:spMkLst>
            <pc:docMk/>
            <pc:sldMk cId="1418910946" sldId="281"/>
            <ac:spMk id="2" creationId="{62D71568-ACB2-EE19-7652-2FC07FE947C0}"/>
          </ac:spMkLst>
        </pc:spChg>
        <pc:spChg chg="del">
          <ac:chgData name="matthew50" userId="0c075c7a-c56d-4223-ba82-0fbc2daf02ce" providerId="ADAL" clId="{006288FC-9A58-45D1-AEF0-9FED53A28B5D}" dt="2025-11-12T12:39:08.312" v="317" actId="478"/>
          <ac:spMkLst>
            <pc:docMk/>
            <pc:sldMk cId="1418910946" sldId="281"/>
            <ac:spMk id="3" creationId="{C7BCA1F2-BCB5-4282-C296-9C91D02702BA}"/>
          </ac:spMkLst>
        </pc:spChg>
        <pc:picChg chg="add mod">
          <ac:chgData name="matthew50" userId="0c075c7a-c56d-4223-ba82-0fbc2daf02ce" providerId="ADAL" clId="{006288FC-9A58-45D1-AEF0-9FED53A28B5D}" dt="2025-11-12T16:35:45.073" v="709" actId="1076"/>
          <ac:picMkLst>
            <pc:docMk/>
            <pc:sldMk cId="1418910946" sldId="281"/>
            <ac:picMk id="11" creationId="{C7D996E8-12D1-BF75-1D61-32F7BBD2407B}"/>
          </ac:picMkLst>
        </pc:picChg>
      </pc:sldChg>
      <pc:sldChg chg="add del">
        <pc:chgData name="matthew50" userId="0c075c7a-c56d-4223-ba82-0fbc2daf02ce" providerId="ADAL" clId="{006288FC-9A58-45D1-AEF0-9FED53A28B5D}" dt="2025-11-12T15:38:29.511" v="576" actId="47"/>
        <pc:sldMkLst>
          <pc:docMk/>
          <pc:sldMk cId="1147700630" sldId="282"/>
        </pc:sldMkLst>
      </pc:sldChg>
      <pc:sldChg chg="modSp add mod ord">
        <pc:chgData name="matthew50" userId="0c075c7a-c56d-4223-ba82-0fbc2daf02ce" providerId="ADAL" clId="{006288FC-9A58-45D1-AEF0-9FED53A28B5D}" dt="2025-11-12T16:36:34.517" v="713"/>
        <pc:sldMkLst>
          <pc:docMk/>
          <pc:sldMk cId="1369598275" sldId="283"/>
        </pc:sldMkLst>
        <pc:spChg chg="mod">
          <ac:chgData name="matthew50" userId="0c075c7a-c56d-4223-ba82-0fbc2daf02ce" providerId="ADAL" clId="{006288FC-9A58-45D1-AEF0-9FED53A28B5D}" dt="2025-11-12T15:36:31.686" v="542" actId="115"/>
          <ac:spMkLst>
            <pc:docMk/>
            <pc:sldMk cId="1369598275" sldId="283"/>
            <ac:spMk id="3" creationId="{4AAD12DF-AFC7-8B83-0A1D-985AD5941F8B}"/>
          </ac:spMkLst>
        </pc:spChg>
        <pc:spChg chg="mod">
          <ac:chgData name="matthew50" userId="0c075c7a-c56d-4223-ba82-0fbc2daf02ce" providerId="ADAL" clId="{006288FC-9A58-45D1-AEF0-9FED53A28B5D}" dt="2025-11-12T15:36:42.428" v="568" actId="27636"/>
          <ac:spMkLst>
            <pc:docMk/>
            <pc:sldMk cId="1369598275" sldId="283"/>
            <ac:spMk id="4" creationId="{4A9D32E6-7AEB-B767-2E5F-3B9B4660E640}"/>
          </ac:spMkLst>
        </pc:spChg>
      </pc:sldChg>
      <pc:sldChg chg="addSp delSp modSp new mod ord">
        <pc:chgData name="matthew50" userId="0c075c7a-c56d-4223-ba82-0fbc2daf02ce" providerId="ADAL" clId="{006288FC-9A58-45D1-AEF0-9FED53A28B5D}" dt="2025-11-12T16:22:41.257" v="697" actId="14734"/>
        <pc:sldMkLst>
          <pc:docMk/>
          <pc:sldMk cId="413312529" sldId="284"/>
        </pc:sldMkLst>
        <pc:spChg chg="mod">
          <ac:chgData name="matthew50" userId="0c075c7a-c56d-4223-ba82-0fbc2daf02ce" providerId="ADAL" clId="{006288FC-9A58-45D1-AEF0-9FED53A28B5D}" dt="2025-11-12T14:56:00.519" v="508" actId="20577"/>
          <ac:spMkLst>
            <pc:docMk/>
            <pc:sldMk cId="413312529" sldId="284"/>
            <ac:spMk id="2" creationId="{BFD0A239-98A4-38C6-1D40-FBFE5559D8E6}"/>
          </ac:spMkLst>
        </pc:spChg>
        <pc:spChg chg="add del">
          <ac:chgData name="matthew50" userId="0c075c7a-c56d-4223-ba82-0fbc2daf02ce" providerId="ADAL" clId="{006288FC-9A58-45D1-AEF0-9FED53A28B5D}" dt="2025-11-12T14:40:39.377" v="368" actId="478"/>
          <ac:spMkLst>
            <pc:docMk/>
            <pc:sldMk cId="413312529" sldId="284"/>
            <ac:spMk id="3" creationId="{9CF9EC83-EE15-C48E-BAE9-5AE22E58BB2A}"/>
          </ac:spMkLst>
        </pc:spChg>
        <pc:spChg chg="add mod">
          <ac:chgData name="matthew50" userId="0c075c7a-c56d-4223-ba82-0fbc2daf02ce" providerId="ADAL" clId="{006288FC-9A58-45D1-AEF0-9FED53A28B5D}" dt="2025-11-12T14:43:29.442" v="422" actId="21"/>
          <ac:spMkLst>
            <pc:docMk/>
            <pc:sldMk cId="413312529" sldId="284"/>
            <ac:spMk id="15" creationId="{450D0906-C681-B852-B5A0-847257C9E282}"/>
          </ac:spMkLst>
        </pc:spChg>
        <pc:graphicFrameChg chg="add mod">
          <ac:chgData name="matthew50" userId="0c075c7a-c56d-4223-ba82-0fbc2daf02ce" providerId="ADAL" clId="{006288FC-9A58-45D1-AEF0-9FED53A28B5D}" dt="2025-11-12T14:40:37.337" v="367"/>
          <ac:graphicFrameMkLst>
            <pc:docMk/>
            <pc:sldMk cId="413312529" sldId="284"/>
            <ac:graphicFrameMk id="4" creationId="{00ADE113-95F4-2DCE-4D99-E7809340BA1C}"/>
          </ac:graphicFrameMkLst>
        </pc:graphicFrameChg>
        <pc:graphicFrameChg chg="add mod">
          <ac:chgData name="matthew50" userId="0c075c7a-c56d-4223-ba82-0fbc2daf02ce" providerId="ADAL" clId="{006288FC-9A58-45D1-AEF0-9FED53A28B5D}" dt="2025-11-12T14:40:35.951" v="366"/>
          <ac:graphicFrameMkLst>
            <pc:docMk/>
            <pc:sldMk cId="413312529" sldId="284"/>
            <ac:graphicFrameMk id="5" creationId="{BC299569-7D55-ABC9-AB25-68EDD8AC91E6}"/>
          </ac:graphicFrameMkLst>
        </pc:graphicFrameChg>
        <pc:graphicFrameChg chg="add mod">
          <ac:chgData name="matthew50" userId="0c075c7a-c56d-4223-ba82-0fbc2daf02ce" providerId="ADAL" clId="{006288FC-9A58-45D1-AEF0-9FED53A28B5D}" dt="2025-11-12T14:40:35.951" v="366"/>
          <ac:graphicFrameMkLst>
            <pc:docMk/>
            <pc:sldMk cId="413312529" sldId="284"/>
            <ac:graphicFrameMk id="6" creationId="{21D29BCA-020A-04BA-B74A-95A5C1BC9FA4}"/>
          </ac:graphicFrameMkLst>
        </pc:graphicFrameChg>
        <pc:graphicFrameChg chg="add mod">
          <ac:chgData name="matthew50" userId="0c075c7a-c56d-4223-ba82-0fbc2daf02ce" providerId="ADAL" clId="{006288FC-9A58-45D1-AEF0-9FED53A28B5D}" dt="2025-11-12T14:40:35.951" v="366"/>
          <ac:graphicFrameMkLst>
            <pc:docMk/>
            <pc:sldMk cId="413312529" sldId="284"/>
            <ac:graphicFrameMk id="7" creationId="{C956884E-9D23-E1B6-3B97-3B5278B7933B}"/>
          </ac:graphicFrameMkLst>
        </pc:graphicFrameChg>
        <pc:graphicFrameChg chg="add mod">
          <ac:chgData name="matthew50" userId="0c075c7a-c56d-4223-ba82-0fbc2daf02ce" providerId="ADAL" clId="{006288FC-9A58-45D1-AEF0-9FED53A28B5D}" dt="2025-11-12T14:40:35.951" v="366"/>
          <ac:graphicFrameMkLst>
            <pc:docMk/>
            <pc:sldMk cId="413312529" sldId="284"/>
            <ac:graphicFrameMk id="8" creationId="{75882331-939E-57AD-818D-35DF3C37C516}"/>
          </ac:graphicFrameMkLst>
        </pc:graphicFrameChg>
        <pc:graphicFrameChg chg="add mod">
          <ac:chgData name="matthew50" userId="0c075c7a-c56d-4223-ba82-0fbc2daf02ce" providerId="ADAL" clId="{006288FC-9A58-45D1-AEF0-9FED53A28B5D}" dt="2025-11-12T14:40:40.265" v="369"/>
          <ac:graphicFrameMkLst>
            <pc:docMk/>
            <pc:sldMk cId="413312529" sldId="284"/>
            <ac:graphicFrameMk id="9" creationId="{A2D2BE12-0B09-AAEF-D8DA-28284B11F916}"/>
          </ac:graphicFrameMkLst>
        </pc:graphicFrameChg>
        <pc:graphicFrameChg chg="add mod">
          <ac:chgData name="matthew50" userId="0c075c7a-c56d-4223-ba82-0fbc2daf02ce" providerId="ADAL" clId="{006288FC-9A58-45D1-AEF0-9FED53A28B5D}" dt="2025-11-12T14:40:40.265" v="369"/>
          <ac:graphicFrameMkLst>
            <pc:docMk/>
            <pc:sldMk cId="413312529" sldId="284"/>
            <ac:graphicFrameMk id="10" creationId="{C6B20E37-9A8C-EC98-8A41-B367DFAE37CE}"/>
          </ac:graphicFrameMkLst>
        </pc:graphicFrameChg>
        <pc:graphicFrameChg chg="add mod">
          <ac:chgData name="matthew50" userId="0c075c7a-c56d-4223-ba82-0fbc2daf02ce" providerId="ADAL" clId="{006288FC-9A58-45D1-AEF0-9FED53A28B5D}" dt="2025-11-12T14:40:40.265" v="369"/>
          <ac:graphicFrameMkLst>
            <pc:docMk/>
            <pc:sldMk cId="413312529" sldId="284"/>
            <ac:graphicFrameMk id="11" creationId="{002070FF-EF96-A6AE-B5A2-D91A7B15E913}"/>
          </ac:graphicFrameMkLst>
        </pc:graphicFrameChg>
        <pc:graphicFrameChg chg="add mod">
          <ac:chgData name="matthew50" userId="0c075c7a-c56d-4223-ba82-0fbc2daf02ce" providerId="ADAL" clId="{006288FC-9A58-45D1-AEF0-9FED53A28B5D}" dt="2025-11-12T14:40:40.265" v="369"/>
          <ac:graphicFrameMkLst>
            <pc:docMk/>
            <pc:sldMk cId="413312529" sldId="284"/>
            <ac:graphicFrameMk id="12" creationId="{86601167-C216-9E6A-BCBA-5E8270769F08}"/>
          </ac:graphicFrameMkLst>
        </pc:graphicFrameChg>
        <pc:graphicFrameChg chg="add mod modGraphic">
          <ac:chgData name="matthew50" userId="0c075c7a-c56d-4223-ba82-0fbc2daf02ce" providerId="ADAL" clId="{006288FC-9A58-45D1-AEF0-9FED53A28B5D}" dt="2025-11-12T14:40:44.683" v="371" actId="14100"/>
          <ac:graphicFrameMkLst>
            <pc:docMk/>
            <pc:sldMk cId="413312529" sldId="284"/>
            <ac:graphicFrameMk id="13" creationId="{0C74F98C-5104-582B-D13A-329FABFB0E98}"/>
          </ac:graphicFrameMkLst>
        </pc:graphicFrameChg>
        <pc:graphicFrameChg chg="add mod modGraphic">
          <ac:chgData name="matthew50" userId="0c075c7a-c56d-4223-ba82-0fbc2daf02ce" providerId="ADAL" clId="{006288FC-9A58-45D1-AEF0-9FED53A28B5D}" dt="2025-11-12T16:22:41.257" v="697" actId="14734"/>
          <ac:graphicFrameMkLst>
            <pc:docMk/>
            <pc:sldMk cId="413312529" sldId="284"/>
            <ac:graphicFrameMk id="16" creationId="{1FCA0C3F-68AC-D2A2-616A-343178CEAE71}"/>
          </ac:graphicFrameMkLst>
        </pc:graphicFrameChg>
      </pc:sldChg>
      <pc:sldChg chg="modSp new mod">
        <pc:chgData name="matthew50" userId="0c075c7a-c56d-4223-ba82-0fbc2daf02ce" providerId="ADAL" clId="{006288FC-9A58-45D1-AEF0-9FED53A28B5D}" dt="2025-11-12T14:51:22.248" v="504" actId="27636"/>
        <pc:sldMkLst>
          <pc:docMk/>
          <pc:sldMk cId="3640102158" sldId="285"/>
        </pc:sldMkLst>
        <pc:spChg chg="mod">
          <ac:chgData name="matthew50" userId="0c075c7a-c56d-4223-ba82-0fbc2daf02ce" providerId="ADAL" clId="{006288FC-9A58-45D1-AEF0-9FED53A28B5D}" dt="2025-11-12T14:50:02.795" v="486" actId="20577"/>
          <ac:spMkLst>
            <pc:docMk/>
            <pc:sldMk cId="3640102158" sldId="285"/>
            <ac:spMk id="2" creationId="{20D791ED-1F6C-A57B-181F-9598B1263A00}"/>
          </ac:spMkLst>
        </pc:spChg>
        <pc:spChg chg="mod">
          <ac:chgData name="matthew50" userId="0c075c7a-c56d-4223-ba82-0fbc2daf02ce" providerId="ADAL" clId="{006288FC-9A58-45D1-AEF0-9FED53A28B5D}" dt="2025-11-12T14:51:22.248" v="504" actId="27636"/>
          <ac:spMkLst>
            <pc:docMk/>
            <pc:sldMk cId="3640102158" sldId="285"/>
            <ac:spMk id="3" creationId="{F0834C00-D8BF-8B47-60B6-9D3702DCD39A}"/>
          </ac:spMkLst>
        </pc:spChg>
      </pc:sldChg>
      <pc:sldChg chg="delSp add mod">
        <pc:chgData name="matthew50" userId="0c075c7a-c56d-4223-ba82-0fbc2daf02ce" providerId="ADAL" clId="{006288FC-9A58-45D1-AEF0-9FED53A28B5D}" dt="2025-11-12T15:34:45.530" v="537" actId="478"/>
        <pc:sldMkLst>
          <pc:docMk/>
          <pc:sldMk cId="284874872" sldId="286"/>
        </pc:sldMkLst>
        <pc:spChg chg="del">
          <ac:chgData name="matthew50" userId="0c075c7a-c56d-4223-ba82-0fbc2daf02ce" providerId="ADAL" clId="{006288FC-9A58-45D1-AEF0-9FED53A28B5D}" dt="2025-11-12T15:34:45.530" v="537" actId="478"/>
          <ac:spMkLst>
            <pc:docMk/>
            <pc:sldMk cId="284874872" sldId="286"/>
            <ac:spMk id="29" creationId="{EEA4E657-28F1-ED7E-3ED4-7B871A342432}"/>
          </ac:spMkLst>
        </pc:spChg>
      </pc:sldChg>
      <pc:sldChg chg="addSp delSp modSp new mod ord">
        <pc:chgData name="matthew50" userId="0c075c7a-c56d-4223-ba82-0fbc2daf02ce" providerId="ADAL" clId="{006288FC-9A58-45D1-AEF0-9FED53A28B5D}" dt="2025-11-12T16:36:17.595" v="711"/>
        <pc:sldMkLst>
          <pc:docMk/>
          <pc:sldMk cId="993963897" sldId="287"/>
        </pc:sldMkLst>
        <pc:spChg chg="del">
          <ac:chgData name="matthew50" userId="0c075c7a-c56d-4223-ba82-0fbc2daf02ce" providerId="ADAL" clId="{006288FC-9A58-45D1-AEF0-9FED53A28B5D}" dt="2025-11-12T15:43:01.810" v="632" actId="478"/>
          <ac:spMkLst>
            <pc:docMk/>
            <pc:sldMk cId="993963897" sldId="287"/>
            <ac:spMk id="2" creationId="{58DE5A6C-A0E2-A708-3171-D83422BECDE7}"/>
          </ac:spMkLst>
        </pc:spChg>
        <pc:spChg chg="del">
          <ac:chgData name="matthew50" userId="0c075c7a-c56d-4223-ba82-0fbc2daf02ce" providerId="ADAL" clId="{006288FC-9A58-45D1-AEF0-9FED53A28B5D}" dt="2025-11-12T15:43:07.959" v="635" actId="478"/>
          <ac:spMkLst>
            <pc:docMk/>
            <pc:sldMk cId="993963897" sldId="287"/>
            <ac:spMk id="3" creationId="{2F734DC8-845F-5C6D-BA74-8B5BE9C10062}"/>
          </ac:spMkLst>
        </pc:spChg>
        <pc:picChg chg="add mod">
          <ac:chgData name="matthew50" userId="0c075c7a-c56d-4223-ba82-0fbc2daf02ce" providerId="ADAL" clId="{006288FC-9A58-45D1-AEF0-9FED53A28B5D}" dt="2025-11-12T15:43:12.910" v="638" actId="1076"/>
          <ac:picMkLst>
            <pc:docMk/>
            <pc:sldMk cId="993963897" sldId="287"/>
            <ac:picMk id="5" creationId="{A900EC4D-BC3F-5F33-48E9-F4D7E58315D4}"/>
          </ac:picMkLst>
        </pc:picChg>
      </pc:sldChg>
      <pc:sldChg chg="addSp delSp modSp new mod ord">
        <pc:chgData name="matthew50" userId="0c075c7a-c56d-4223-ba82-0fbc2daf02ce" providerId="ADAL" clId="{006288FC-9A58-45D1-AEF0-9FED53A28B5D}" dt="2025-11-12T15:45:00.053" v="655" actId="478"/>
        <pc:sldMkLst>
          <pc:docMk/>
          <pc:sldMk cId="3273577210" sldId="288"/>
        </pc:sldMkLst>
        <pc:spChg chg="del">
          <ac:chgData name="matthew50" userId="0c075c7a-c56d-4223-ba82-0fbc2daf02ce" providerId="ADAL" clId="{006288FC-9A58-45D1-AEF0-9FED53A28B5D}" dt="2025-11-12T15:44:09.813" v="642" actId="478"/>
          <ac:spMkLst>
            <pc:docMk/>
            <pc:sldMk cId="3273577210" sldId="288"/>
            <ac:spMk id="2" creationId="{D4A26DFF-00B8-B0D2-9071-481A8840CA32}"/>
          </ac:spMkLst>
        </pc:spChg>
        <pc:spChg chg="del">
          <ac:chgData name="matthew50" userId="0c075c7a-c56d-4223-ba82-0fbc2daf02ce" providerId="ADAL" clId="{006288FC-9A58-45D1-AEF0-9FED53A28B5D}" dt="2025-11-12T15:45:00.053" v="655" actId="478"/>
          <ac:spMkLst>
            <pc:docMk/>
            <pc:sldMk cId="3273577210" sldId="288"/>
            <ac:spMk id="3" creationId="{E51879E0-C38F-7442-1BA5-9185D268F377}"/>
          </ac:spMkLst>
        </pc:spChg>
        <pc:picChg chg="add mod">
          <ac:chgData name="matthew50" userId="0c075c7a-c56d-4223-ba82-0fbc2daf02ce" providerId="ADAL" clId="{006288FC-9A58-45D1-AEF0-9FED53A28B5D}" dt="2025-11-12T15:44:17.991" v="648" actId="1076"/>
          <ac:picMkLst>
            <pc:docMk/>
            <pc:sldMk cId="3273577210" sldId="288"/>
            <ac:picMk id="5" creationId="{E6D41825-3B08-CD0E-DEF9-A260731D3D0B}"/>
          </ac:picMkLst>
        </pc:picChg>
        <pc:picChg chg="add mod">
          <ac:chgData name="matthew50" userId="0c075c7a-c56d-4223-ba82-0fbc2daf02ce" providerId="ADAL" clId="{006288FC-9A58-45D1-AEF0-9FED53A28B5D}" dt="2025-11-12T15:44:46.761" v="654" actId="1076"/>
          <ac:picMkLst>
            <pc:docMk/>
            <pc:sldMk cId="3273577210" sldId="288"/>
            <ac:picMk id="7" creationId="{6F710EC9-762F-03B7-0C83-DE51EDCDEEF8}"/>
          </ac:picMkLst>
        </pc:picChg>
      </pc:sldChg>
      <pc:sldChg chg="addSp delSp modSp new mod">
        <pc:chgData name="matthew50" userId="0c075c7a-c56d-4223-ba82-0fbc2daf02ce" providerId="ADAL" clId="{006288FC-9A58-45D1-AEF0-9FED53A28B5D}" dt="2025-11-12T15:46:19.587" v="668" actId="478"/>
        <pc:sldMkLst>
          <pc:docMk/>
          <pc:sldMk cId="848895715" sldId="289"/>
        </pc:sldMkLst>
        <pc:spChg chg="del">
          <ac:chgData name="matthew50" userId="0c075c7a-c56d-4223-ba82-0fbc2daf02ce" providerId="ADAL" clId="{006288FC-9A58-45D1-AEF0-9FED53A28B5D}" dt="2025-11-12T15:45:36.561" v="664" actId="478"/>
          <ac:spMkLst>
            <pc:docMk/>
            <pc:sldMk cId="848895715" sldId="289"/>
            <ac:spMk id="2" creationId="{EEC8DEC4-53FA-0FA1-0D59-260CB6BF636E}"/>
          </ac:spMkLst>
        </pc:spChg>
        <pc:spChg chg="del">
          <ac:chgData name="matthew50" userId="0c075c7a-c56d-4223-ba82-0fbc2daf02ce" providerId="ADAL" clId="{006288FC-9A58-45D1-AEF0-9FED53A28B5D}" dt="2025-11-12T15:45:21.954" v="657"/>
          <ac:spMkLst>
            <pc:docMk/>
            <pc:sldMk cId="848895715" sldId="289"/>
            <ac:spMk id="3" creationId="{A6CBAFEB-D2C2-C4D4-22A2-DC9029DD816F}"/>
          </ac:spMkLst>
        </pc:spChg>
        <pc:picChg chg="add mod">
          <ac:chgData name="matthew50" userId="0c075c7a-c56d-4223-ba82-0fbc2daf02ce" providerId="ADAL" clId="{006288FC-9A58-45D1-AEF0-9FED53A28B5D}" dt="2025-11-12T15:45:34.524" v="663" actId="1076"/>
          <ac:picMkLst>
            <pc:docMk/>
            <pc:sldMk cId="848895715" sldId="289"/>
            <ac:picMk id="5" creationId="{BF95F9C0-1AA2-21F7-0BAF-5EFFFF51B3F9}"/>
          </ac:picMkLst>
        </pc:picChg>
        <pc:picChg chg="add del mod">
          <ac:chgData name="matthew50" userId="0c075c7a-c56d-4223-ba82-0fbc2daf02ce" providerId="ADAL" clId="{006288FC-9A58-45D1-AEF0-9FED53A28B5D}" dt="2025-11-12T15:46:19.587" v="668" actId="478"/>
          <ac:picMkLst>
            <pc:docMk/>
            <pc:sldMk cId="848895715" sldId="289"/>
            <ac:picMk id="7" creationId="{CC6569FC-C3F4-E4EB-9927-59A310895578}"/>
          </ac:picMkLst>
        </pc:picChg>
      </pc:sldChg>
      <pc:sldChg chg="addSp delSp modSp new mod">
        <pc:chgData name="matthew50" userId="0c075c7a-c56d-4223-ba82-0fbc2daf02ce" providerId="ADAL" clId="{006288FC-9A58-45D1-AEF0-9FED53A28B5D}" dt="2025-11-12T16:35:07.035" v="706" actId="1076"/>
        <pc:sldMkLst>
          <pc:docMk/>
          <pc:sldMk cId="3739088321" sldId="290"/>
        </pc:sldMkLst>
        <pc:spChg chg="del">
          <ac:chgData name="matthew50" userId="0c075c7a-c56d-4223-ba82-0fbc2daf02ce" providerId="ADAL" clId="{006288FC-9A58-45D1-AEF0-9FED53A28B5D}" dt="2025-11-12T15:46:50.386" v="670" actId="478"/>
          <ac:spMkLst>
            <pc:docMk/>
            <pc:sldMk cId="3739088321" sldId="290"/>
            <ac:spMk id="2" creationId="{16B49407-5EA9-9470-FEB9-BE161F536B24}"/>
          </ac:spMkLst>
        </pc:spChg>
        <pc:spChg chg="del">
          <ac:chgData name="matthew50" userId="0c075c7a-c56d-4223-ba82-0fbc2daf02ce" providerId="ADAL" clId="{006288FC-9A58-45D1-AEF0-9FED53A28B5D}" dt="2025-11-12T15:46:52.915" v="671" actId="478"/>
          <ac:spMkLst>
            <pc:docMk/>
            <pc:sldMk cId="3739088321" sldId="290"/>
            <ac:spMk id="3" creationId="{E8C9E12C-C725-8504-E47D-D1068DE43242}"/>
          </ac:spMkLst>
        </pc:spChg>
        <pc:picChg chg="add mod">
          <ac:chgData name="matthew50" userId="0c075c7a-c56d-4223-ba82-0fbc2daf02ce" providerId="ADAL" clId="{006288FC-9A58-45D1-AEF0-9FED53A28B5D}" dt="2025-11-12T16:35:07.035" v="706" actId="1076"/>
          <ac:picMkLst>
            <pc:docMk/>
            <pc:sldMk cId="3739088321" sldId="290"/>
            <ac:picMk id="5" creationId="{6BC83E98-A1B4-61AE-AC3B-8D32B302FF4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0D7965-B6E4-4801-97C1-A8D12800090E}" type="datetimeFigureOut">
              <a:rPr lang="en-US" smtClean="0"/>
              <a:t>11/12/2025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656C7A-745F-4C3D-8182-9147478EB6EE}" type="slidenum">
              <a:rPr lang="en-US" smtClean="0"/>
              <a:t>‹#›</a:t>
            </a:fld>
            <a:endParaRPr lang="en-US"/>
          </a:p>
        </p:txBody>
      </p:sp>
    </p:spTree>
    <p:extLst>
      <p:ext uri="{BB962C8B-B14F-4D97-AF65-F5344CB8AC3E}">
        <p14:creationId xmlns:p14="http://schemas.microsoft.com/office/powerpoint/2010/main" val="1531723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much we can automate to make the process of keeping the soft power tracking database current as efficient as possible. </a:t>
            </a:r>
          </a:p>
        </p:txBody>
      </p:sp>
      <p:sp>
        <p:nvSpPr>
          <p:cNvPr id="4" name="Slide Number Placeholder 3"/>
          <p:cNvSpPr>
            <a:spLocks noGrp="1"/>
          </p:cNvSpPr>
          <p:nvPr>
            <p:ph type="sldNum" sz="quarter" idx="5"/>
          </p:nvPr>
        </p:nvSpPr>
        <p:spPr/>
        <p:txBody>
          <a:bodyPr/>
          <a:lstStyle/>
          <a:p>
            <a:fld id="{00601182-FD4F-432B-A03A-9C390794C990}" type="slidenum">
              <a:rPr lang="en-US" smtClean="0"/>
              <a:t>6</a:t>
            </a:fld>
            <a:endParaRPr lang="en-US"/>
          </a:p>
        </p:txBody>
      </p:sp>
    </p:spTree>
    <p:extLst>
      <p:ext uri="{BB962C8B-B14F-4D97-AF65-F5344CB8AC3E}">
        <p14:creationId xmlns:p14="http://schemas.microsoft.com/office/powerpoint/2010/main" val="2241050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Given the significant time and costs associated with annotating the necessary number of samples to train a custom extraction and classification model, we first explored approaches that utilized pretrained models. The rationale was that pretrained models, having been trained on large and diverse datasets, might already incorporate relevant concepts of soft power, thereby reducing the need for extensive custom annotation.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kern="100" dirty="0">
              <a:solidFill>
                <a:srgbClr val="000000"/>
              </a:solidFill>
              <a:effectLst/>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000000"/>
                </a:solidFill>
                <a:effectLst/>
                <a:latin typeface="Calibri" panose="020F0502020204030204" pitchFamily="34" charset="0"/>
                <a:ea typeface="Calibri" panose="020F0502020204030204" pitchFamily="34" charset="0"/>
              </a:rPr>
              <a:t>Zero-shot learning refers to the ability of a model to categorize or understand content it hasn't been explicitly trained on. This approach could potentially categorize articles into wide, overarching categories of soft power without needing detailed, topic-specific training.</a:t>
            </a:r>
            <a:endParaRPr lang="en-US" sz="1800"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kern="100" dirty="0">
              <a:solidFill>
                <a:srgbClr val="000000"/>
              </a:solidFill>
              <a:effectLst/>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000000"/>
                </a:solidFill>
                <a:effectLst/>
                <a:latin typeface="Calibri" panose="020F0502020204030204" pitchFamily="34" charset="0"/>
                <a:ea typeface="Calibri" panose="020F0502020204030204" pitchFamily="34" charset="0"/>
              </a:rPr>
              <a:t>The adaptive nature of GAI enhances both its efficiency and cost-effectiveness. By reducing the need for frequent retraining and updates, GAI minimizes operational costs and resource expenditure associated with model maintenance.</a:t>
            </a:r>
            <a:endParaRPr lang="en-US" dirty="0"/>
          </a:p>
        </p:txBody>
      </p:sp>
      <p:sp>
        <p:nvSpPr>
          <p:cNvPr id="4" name="Slide Number Placeholder 3"/>
          <p:cNvSpPr>
            <a:spLocks noGrp="1"/>
          </p:cNvSpPr>
          <p:nvPr>
            <p:ph type="sldNum" sz="quarter" idx="5"/>
          </p:nvPr>
        </p:nvSpPr>
        <p:spPr/>
        <p:txBody>
          <a:bodyPr/>
          <a:lstStyle/>
          <a:p>
            <a:fld id="{00601182-FD4F-432B-A03A-9C390794C990}" type="slidenum">
              <a:rPr lang="en-US" smtClean="0"/>
              <a:t>7</a:t>
            </a:fld>
            <a:endParaRPr lang="en-US"/>
          </a:p>
        </p:txBody>
      </p:sp>
    </p:spTree>
    <p:extLst>
      <p:ext uri="{BB962C8B-B14F-4D97-AF65-F5344CB8AC3E}">
        <p14:creationId xmlns:p14="http://schemas.microsoft.com/office/powerpoint/2010/main" val="1916710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collaboration with Kris’ team, I took the initial work they did and started to do iterative experiments with different prompt language for each of the soft power tasks. </a:t>
            </a:r>
          </a:p>
          <a:p>
            <a:endParaRPr lang="en-US" dirty="0"/>
          </a:p>
          <a:p>
            <a:r>
              <a:rPr lang="en-US" dirty="0"/>
              <a:t>Building off WEG work using GPT 3.5</a:t>
            </a:r>
          </a:p>
          <a:p>
            <a:endParaRPr lang="en-US" dirty="0"/>
          </a:p>
          <a:p>
            <a:r>
              <a:rPr lang="en-US" dirty="0"/>
              <a:t>Context. Verbose vs Concise</a:t>
            </a:r>
          </a:p>
          <a:p>
            <a:endParaRPr lang="en-US" dirty="0"/>
          </a:p>
          <a:p>
            <a:r>
              <a:rPr lang="en-US" dirty="0"/>
              <a:t>Temperature</a:t>
            </a:r>
          </a:p>
          <a:p>
            <a:endParaRPr lang="en-US" dirty="0"/>
          </a:p>
          <a:p>
            <a:r>
              <a:rPr lang="en-US" dirty="0"/>
              <a:t>Across main tasks on small individual documents in GAI Workbench</a:t>
            </a:r>
          </a:p>
          <a:p>
            <a:endParaRPr lang="en-US" dirty="0"/>
          </a:p>
        </p:txBody>
      </p:sp>
      <p:sp>
        <p:nvSpPr>
          <p:cNvPr id="4" name="Slide Number Placeholder 3"/>
          <p:cNvSpPr>
            <a:spLocks noGrp="1"/>
          </p:cNvSpPr>
          <p:nvPr>
            <p:ph type="sldNum" sz="quarter" idx="5"/>
          </p:nvPr>
        </p:nvSpPr>
        <p:spPr/>
        <p:txBody>
          <a:bodyPr/>
          <a:lstStyle/>
          <a:p>
            <a:fld id="{00601182-FD4F-432B-A03A-9C390794C990}" type="slidenum">
              <a:rPr lang="en-US" smtClean="0"/>
              <a:t>8</a:t>
            </a:fld>
            <a:endParaRPr lang="en-US"/>
          </a:p>
        </p:txBody>
      </p:sp>
    </p:spTree>
    <p:extLst>
      <p:ext uri="{BB962C8B-B14F-4D97-AF65-F5344CB8AC3E}">
        <p14:creationId xmlns:p14="http://schemas.microsoft.com/office/powerpoint/2010/main" val="17445747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lang="en-US" b="0" i="0" dirty="0">
                <a:solidFill>
                  <a:srgbClr val="000000"/>
                </a:solidFill>
                <a:effectLst/>
                <a:highlight>
                  <a:srgbClr val="0F1116"/>
                </a:highlight>
                <a:latin typeface="Amazon Ember"/>
              </a:rPr>
            </a:br>
            <a:r>
              <a:rPr lang="en-US" sz="1800"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For this sample, </a:t>
            </a:r>
            <a:r>
              <a:rPr lang="en-US" sz="1800" kern="100" dirty="0">
                <a:solidFill>
                  <a:srgbClr val="0D0D0D"/>
                </a:solidFill>
                <a:effectLst/>
                <a:highlight>
                  <a:srgbClr val="FFFFFF"/>
                </a:highlight>
                <a:latin typeface="Segoe UI" panose="020B0502040204020203" pitchFamily="34" charset="0"/>
                <a:ea typeface="Calibri" panose="020F0502020204030204" pitchFamily="34" charset="0"/>
                <a:cs typeface="Times New Roman" panose="02020603050405020304" pitchFamily="18" charset="0"/>
              </a:rPr>
              <a:t>GPT-4 with a .95 F1 score was very effective in correctly identifying the relevant categories, balancing both false positives and false negatives with a .99 precision score.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kern="100" dirty="0">
                <a:solidFill>
                  <a:srgbClr val="0D0D0D"/>
                </a:solidFill>
                <a:effectLst/>
                <a:highlight>
                  <a:srgbClr val="FFFFFF"/>
                </a:highlight>
                <a:latin typeface="Segoe UI" panose="020B0502040204020203" pitchFamily="34" charset="0"/>
                <a:ea typeface="Calibri" panose="020F0502020204030204" pitchFamily="34" charset="0"/>
                <a:cs typeface="Times New Roman" panose="02020603050405020304" pitchFamily="18" charset="0"/>
              </a:rPr>
              <a:t>LLaMA-3 also reach the high-performance level of GPT-4, and presents a viable open-source alternative.</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00601182-FD4F-432B-A03A-9C390794C990}" type="slidenum">
              <a:rPr lang="en-US" smtClean="0"/>
              <a:t>9</a:t>
            </a:fld>
            <a:endParaRPr lang="en-US"/>
          </a:p>
        </p:txBody>
      </p:sp>
    </p:spTree>
    <p:extLst>
      <p:ext uri="{BB962C8B-B14F-4D97-AF65-F5344CB8AC3E}">
        <p14:creationId xmlns:p14="http://schemas.microsoft.com/office/powerpoint/2010/main" val="33002298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6C89B-26D4-1F39-17E4-AA33CFF63F1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3DD0006-6756-ED65-7031-83043FB723E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40BA02F-382D-75D6-A2CA-4B981F07A919}"/>
              </a:ext>
            </a:extLst>
          </p:cNvPr>
          <p:cNvSpPr>
            <a:spLocks noGrp="1"/>
          </p:cNvSpPr>
          <p:nvPr>
            <p:ph type="dt" sz="half" idx="10"/>
          </p:nvPr>
        </p:nvSpPr>
        <p:spPr/>
        <p:txBody>
          <a:bodyPr/>
          <a:lstStyle/>
          <a:p>
            <a:fld id="{F07D9696-E5F9-427C-AC6C-B4B1ECAFAF0A}" type="datetimeFigureOut">
              <a:rPr lang="en-US" smtClean="0"/>
              <a:t>11/12/2025</a:t>
            </a:fld>
            <a:endParaRPr lang="en-US"/>
          </a:p>
        </p:txBody>
      </p:sp>
      <p:sp>
        <p:nvSpPr>
          <p:cNvPr id="5" name="Footer Placeholder 4">
            <a:extLst>
              <a:ext uri="{FF2B5EF4-FFF2-40B4-BE49-F238E27FC236}">
                <a16:creationId xmlns:a16="http://schemas.microsoft.com/office/drawing/2014/main" id="{448F7DB0-DE77-5632-2956-C46E2B38A0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D551FD-94BC-58E3-D149-3A4A49E7BC9F}"/>
              </a:ext>
            </a:extLst>
          </p:cNvPr>
          <p:cNvSpPr>
            <a:spLocks noGrp="1"/>
          </p:cNvSpPr>
          <p:nvPr>
            <p:ph type="sldNum" sz="quarter" idx="12"/>
          </p:nvPr>
        </p:nvSpPr>
        <p:spPr/>
        <p:txBody>
          <a:bodyPr/>
          <a:lstStyle/>
          <a:p>
            <a:fld id="{82760331-2381-4834-869E-82F3E4172B9C}" type="slidenum">
              <a:rPr lang="en-US" smtClean="0"/>
              <a:t>‹#›</a:t>
            </a:fld>
            <a:endParaRPr lang="en-US"/>
          </a:p>
        </p:txBody>
      </p:sp>
    </p:spTree>
    <p:extLst>
      <p:ext uri="{BB962C8B-B14F-4D97-AF65-F5344CB8AC3E}">
        <p14:creationId xmlns:p14="http://schemas.microsoft.com/office/powerpoint/2010/main" val="39770343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1EF9E-6D7D-3FB7-5357-E620CB28512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281A4C-4F2C-AEFC-0ECA-9BFC1E0D877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6A2E81-ACED-2942-CAF1-5B7C74AA37EA}"/>
              </a:ext>
            </a:extLst>
          </p:cNvPr>
          <p:cNvSpPr>
            <a:spLocks noGrp="1"/>
          </p:cNvSpPr>
          <p:nvPr>
            <p:ph type="dt" sz="half" idx="10"/>
          </p:nvPr>
        </p:nvSpPr>
        <p:spPr/>
        <p:txBody>
          <a:bodyPr/>
          <a:lstStyle/>
          <a:p>
            <a:fld id="{F07D9696-E5F9-427C-AC6C-B4B1ECAFAF0A}" type="datetimeFigureOut">
              <a:rPr lang="en-US" smtClean="0"/>
              <a:t>11/12/2025</a:t>
            </a:fld>
            <a:endParaRPr lang="en-US"/>
          </a:p>
        </p:txBody>
      </p:sp>
      <p:sp>
        <p:nvSpPr>
          <p:cNvPr id="5" name="Footer Placeholder 4">
            <a:extLst>
              <a:ext uri="{FF2B5EF4-FFF2-40B4-BE49-F238E27FC236}">
                <a16:creationId xmlns:a16="http://schemas.microsoft.com/office/drawing/2014/main" id="{A9052E83-509B-5CA0-2A23-9DC72C5731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D307EB-1DBD-E0CD-36BE-6CB5CE0FA01D}"/>
              </a:ext>
            </a:extLst>
          </p:cNvPr>
          <p:cNvSpPr>
            <a:spLocks noGrp="1"/>
          </p:cNvSpPr>
          <p:nvPr>
            <p:ph type="sldNum" sz="quarter" idx="12"/>
          </p:nvPr>
        </p:nvSpPr>
        <p:spPr/>
        <p:txBody>
          <a:bodyPr/>
          <a:lstStyle/>
          <a:p>
            <a:fld id="{82760331-2381-4834-869E-82F3E4172B9C}" type="slidenum">
              <a:rPr lang="en-US" smtClean="0"/>
              <a:t>‹#›</a:t>
            </a:fld>
            <a:endParaRPr lang="en-US"/>
          </a:p>
        </p:txBody>
      </p:sp>
    </p:spTree>
    <p:extLst>
      <p:ext uri="{BB962C8B-B14F-4D97-AF65-F5344CB8AC3E}">
        <p14:creationId xmlns:p14="http://schemas.microsoft.com/office/powerpoint/2010/main" val="40614390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9412C-3B0F-0AB4-A626-7BA1DC7B413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78460BB-1F98-EBB4-E131-4696827D72A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39E43E2-F180-2A39-8AE4-615FB2738877}"/>
              </a:ext>
            </a:extLst>
          </p:cNvPr>
          <p:cNvSpPr>
            <a:spLocks noGrp="1"/>
          </p:cNvSpPr>
          <p:nvPr>
            <p:ph type="dt" sz="half" idx="10"/>
          </p:nvPr>
        </p:nvSpPr>
        <p:spPr/>
        <p:txBody>
          <a:bodyPr/>
          <a:lstStyle/>
          <a:p>
            <a:fld id="{F07D9696-E5F9-427C-AC6C-B4B1ECAFAF0A}" type="datetimeFigureOut">
              <a:rPr lang="en-US" smtClean="0"/>
              <a:t>11/12/2025</a:t>
            </a:fld>
            <a:endParaRPr lang="en-US"/>
          </a:p>
        </p:txBody>
      </p:sp>
      <p:sp>
        <p:nvSpPr>
          <p:cNvPr id="5" name="Footer Placeholder 4">
            <a:extLst>
              <a:ext uri="{FF2B5EF4-FFF2-40B4-BE49-F238E27FC236}">
                <a16:creationId xmlns:a16="http://schemas.microsoft.com/office/drawing/2014/main" id="{861DD580-91B3-8816-EAD5-23238EE577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8BD1FF-D53E-EC3A-9D8D-AC89954C5F74}"/>
              </a:ext>
            </a:extLst>
          </p:cNvPr>
          <p:cNvSpPr>
            <a:spLocks noGrp="1"/>
          </p:cNvSpPr>
          <p:nvPr>
            <p:ph type="sldNum" sz="quarter" idx="12"/>
          </p:nvPr>
        </p:nvSpPr>
        <p:spPr/>
        <p:txBody>
          <a:bodyPr/>
          <a:lstStyle/>
          <a:p>
            <a:fld id="{82760331-2381-4834-869E-82F3E4172B9C}" type="slidenum">
              <a:rPr lang="en-US" smtClean="0"/>
              <a:t>‹#›</a:t>
            </a:fld>
            <a:endParaRPr lang="en-US"/>
          </a:p>
        </p:txBody>
      </p:sp>
    </p:spTree>
    <p:extLst>
      <p:ext uri="{BB962C8B-B14F-4D97-AF65-F5344CB8AC3E}">
        <p14:creationId xmlns:p14="http://schemas.microsoft.com/office/powerpoint/2010/main" val="16508031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70254-67BD-349C-0AA9-C044A02B9E6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5CF02F-BE25-15E7-C818-84EB11815E6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A8AA9A7-B699-42ED-4161-3065261A6F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59785CF-7A4F-9F9F-F0CB-F3FDC4BFBE9D}"/>
              </a:ext>
            </a:extLst>
          </p:cNvPr>
          <p:cNvSpPr>
            <a:spLocks noGrp="1"/>
          </p:cNvSpPr>
          <p:nvPr>
            <p:ph type="dt" sz="half" idx="10"/>
          </p:nvPr>
        </p:nvSpPr>
        <p:spPr/>
        <p:txBody>
          <a:bodyPr/>
          <a:lstStyle/>
          <a:p>
            <a:fld id="{F07D9696-E5F9-427C-AC6C-B4B1ECAFAF0A}" type="datetimeFigureOut">
              <a:rPr lang="en-US" smtClean="0"/>
              <a:t>11/12/2025</a:t>
            </a:fld>
            <a:endParaRPr lang="en-US"/>
          </a:p>
        </p:txBody>
      </p:sp>
      <p:sp>
        <p:nvSpPr>
          <p:cNvPr id="6" name="Footer Placeholder 5">
            <a:extLst>
              <a:ext uri="{FF2B5EF4-FFF2-40B4-BE49-F238E27FC236}">
                <a16:creationId xmlns:a16="http://schemas.microsoft.com/office/drawing/2014/main" id="{6E55214B-201E-4FE9-BE6A-CE25747EB0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58C980-61C4-19CC-4899-8166C7747706}"/>
              </a:ext>
            </a:extLst>
          </p:cNvPr>
          <p:cNvSpPr>
            <a:spLocks noGrp="1"/>
          </p:cNvSpPr>
          <p:nvPr>
            <p:ph type="sldNum" sz="quarter" idx="12"/>
          </p:nvPr>
        </p:nvSpPr>
        <p:spPr/>
        <p:txBody>
          <a:bodyPr/>
          <a:lstStyle/>
          <a:p>
            <a:fld id="{82760331-2381-4834-869E-82F3E4172B9C}" type="slidenum">
              <a:rPr lang="en-US" smtClean="0"/>
              <a:t>‹#›</a:t>
            </a:fld>
            <a:endParaRPr lang="en-US"/>
          </a:p>
        </p:txBody>
      </p:sp>
    </p:spTree>
    <p:extLst>
      <p:ext uri="{BB962C8B-B14F-4D97-AF65-F5344CB8AC3E}">
        <p14:creationId xmlns:p14="http://schemas.microsoft.com/office/powerpoint/2010/main" val="1793843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96613-F5B3-1DA8-F0E5-53A8BC6D20C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7099AF7-8D36-5B99-8182-E99151AE805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9F44A22-4610-AADC-D966-C008BC0CEF0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9EA82DF-EAD2-8CC2-E6CA-5D188CAF94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CD40E3-FA8F-9C4B-4F13-4B49E26DDC1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B6987C7-2BAD-D331-65EC-407B8913B23E}"/>
              </a:ext>
            </a:extLst>
          </p:cNvPr>
          <p:cNvSpPr>
            <a:spLocks noGrp="1"/>
          </p:cNvSpPr>
          <p:nvPr>
            <p:ph type="dt" sz="half" idx="10"/>
          </p:nvPr>
        </p:nvSpPr>
        <p:spPr/>
        <p:txBody>
          <a:bodyPr/>
          <a:lstStyle/>
          <a:p>
            <a:fld id="{F07D9696-E5F9-427C-AC6C-B4B1ECAFAF0A}" type="datetimeFigureOut">
              <a:rPr lang="en-US" smtClean="0"/>
              <a:t>11/12/2025</a:t>
            </a:fld>
            <a:endParaRPr lang="en-US"/>
          </a:p>
        </p:txBody>
      </p:sp>
      <p:sp>
        <p:nvSpPr>
          <p:cNvPr id="8" name="Footer Placeholder 7">
            <a:extLst>
              <a:ext uri="{FF2B5EF4-FFF2-40B4-BE49-F238E27FC236}">
                <a16:creationId xmlns:a16="http://schemas.microsoft.com/office/drawing/2014/main" id="{46C64624-CD3A-F694-C519-A0F041A0810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995DB21-BEB2-8976-8AD3-B5ACE10443BA}"/>
              </a:ext>
            </a:extLst>
          </p:cNvPr>
          <p:cNvSpPr>
            <a:spLocks noGrp="1"/>
          </p:cNvSpPr>
          <p:nvPr>
            <p:ph type="sldNum" sz="quarter" idx="12"/>
          </p:nvPr>
        </p:nvSpPr>
        <p:spPr/>
        <p:txBody>
          <a:bodyPr/>
          <a:lstStyle/>
          <a:p>
            <a:fld id="{82760331-2381-4834-869E-82F3E4172B9C}" type="slidenum">
              <a:rPr lang="en-US" smtClean="0"/>
              <a:t>‹#›</a:t>
            </a:fld>
            <a:endParaRPr lang="en-US"/>
          </a:p>
        </p:txBody>
      </p:sp>
    </p:spTree>
    <p:extLst>
      <p:ext uri="{BB962C8B-B14F-4D97-AF65-F5344CB8AC3E}">
        <p14:creationId xmlns:p14="http://schemas.microsoft.com/office/powerpoint/2010/main" val="15345589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508DB-EE96-EB4D-C3A8-327E734E4F3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A79C6F2-B9B7-5FD1-953C-6E3C054FB56C}"/>
              </a:ext>
            </a:extLst>
          </p:cNvPr>
          <p:cNvSpPr>
            <a:spLocks noGrp="1"/>
          </p:cNvSpPr>
          <p:nvPr>
            <p:ph type="dt" sz="half" idx="10"/>
          </p:nvPr>
        </p:nvSpPr>
        <p:spPr/>
        <p:txBody>
          <a:bodyPr/>
          <a:lstStyle/>
          <a:p>
            <a:fld id="{F07D9696-E5F9-427C-AC6C-B4B1ECAFAF0A}" type="datetimeFigureOut">
              <a:rPr lang="en-US" smtClean="0"/>
              <a:t>11/12/2025</a:t>
            </a:fld>
            <a:endParaRPr lang="en-US"/>
          </a:p>
        </p:txBody>
      </p:sp>
      <p:sp>
        <p:nvSpPr>
          <p:cNvPr id="4" name="Footer Placeholder 3">
            <a:extLst>
              <a:ext uri="{FF2B5EF4-FFF2-40B4-BE49-F238E27FC236}">
                <a16:creationId xmlns:a16="http://schemas.microsoft.com/office/drawing/2014/main" id="{2D55A455-8842-2503-677A-AF2A6E82E88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8AB0792-5AB0-D783-F93D-A3028D34A713}"/>
              </a:ext>
            </a:extLst>
          </p:cNvPr>
          <p:cNvSpPr>
            <a:spLocks noGrp="1"/>
          </p:cNvSpPr>
          <p:nvPr>
            <p:ph type="sldNum" sz="quarter" idx="12"/>
          </p:nvPr>
        </p:nvSpPr>
        <p:spPr/>
        <p:txBody>
          <a:bodyPr/>
          <a:lstStyle/>
          <a:p>
            <a:fld id="{82760331-2381-4834-869E-82F3E4172B9C}" type="slidenum">
              <a:rPr lang="en-US" smtClean="0"/>
              <a:t>‹#›</a:t>
            </a:fld>
            <a:endParaRPr lang="en-US"/>
          </a:p>
        </p:txBody>
      </p:sp>
    </p:spTree>
    <p:extLst>
      <p:ext uri="{BB962C8B-B14F-4D97-AF65-F5344CB8AC3E}">
        <p14:creationId xmlns:p14="http://schemas.microsoft.com/office/powerpoint/2010/main" val="9662521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99E62C6-EFC1-B8BA-53DC-5B532A95C264}"/>
              </a:ext>
            </a:extLst>
          </p:cNvPr>
          <p:cNvSpPr>
            <a:spLocks noGrp="1"/>
          </p:cNvSpPr>
          <p:nvPr>
            <p:ph type="dt" sz="half" idx="10"/>
          </p:nvPr>
        </p:nvSpPr>
        <p:spPr/>
        <p:txBody>
          <a:bodyPr/>
          <a:lstStyle/>
          <a:p>
            <a:fld id="{F07D9696-E5F9-427C-AC6C-B4B1ECAFAF0A}" type="datetimeFigureOut">
              <a:rPr lang="en-US" smtClean="0"/>
              <a:t>11/12/2025</a:t>
            </a:fld>
            <a:endParaRPr lang="en-US"/>
          </a:p>
        </p:txBody>
      </p:sp>
      <p:sp>
        <p:nvSpPr>
          <p:cNvPr id="3" name="Footer Placeholder 2">
            <a:extLst>
              <a:ext uri="{FF2B5EF4-FFF2-40B4-BE49-F238E27FC236}">
                <a16:creationId xmlns:a16="http://schemas.microsoft.com/office/drawing/2014/main" id="{12CE68ED-FED4-A184-CCF7-844363628CF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5D936D7-9D3D-0FCD-77FD-5EB7780E714A}"/>
              </a:ext>
            </a:extLst>
          </p:cNvPr>
          <p:cNvSpPr>
            <a:spLocks noGrp="1"/>
          </p:cNvSpPr>
          <p:nvPr>
            <p:ph type="sldNum" sz="quarter" idx="12"/>
          </p:nvPr>
        </p:nvSpPr>
        <p:spPr/>
        <p:txBody>
          <a:bodyPr/>
          <a:lstStyle/>
          <a:p>
            <a:fld id="{82760331-2381-4834-869E-82F3E4172B9C}" type="slidenum">
              <a:rPr lang="en-US" smtClean="0"/>
              <a:t>‹#›</a:t>
            </a:fld>
            <a:endParaRPr lang="en-US"/>
          </a:p>
        </p:txBody>
      </p:sp>
    </p:spTree>
    <p:extLst>
      <p:ext uri="{BB962C8B-B14F-4D97-AF65-F5344CB8AC3E}">
        <p14:creationId xmlns:p14="http://schemas.microsoft.com/office/powerpoint/2010/main" val="35638348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381C4-393F-5EFE-0CF1-CB36A13AD6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F16322F-6038-82CE-5B41-EC8D4F50AD3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A1C320C-A2B5-37A4-FA9B-1B5D14E38D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26AA66-B941-6AD2-2FE5-09BC5F741F77}"/>
              </a:ext>
            </a:extLst>
          </p:cNvPr>
          <p:cNvSpPr>
            <a:spLocks noGrp="1"/>
          </p:cNvSpPr>
          <p:nvPr>
            <p:ph type="dt" sz="half" idx="10"/>
          </p:nvPr>
        </p:nvSpPr>
        <p:spPr/>
        <p:txBody>
          <a:bodyPr/>
          <a:lstStyle/>
          <a:p>
            <a:fld id="{F07D9696-E5F9-427C-AC6C-B4B1ECAFAF0A}" type="datetimeFigureOut">
              <a:rPr lang="en-US" smtClean="0"/>
              <a:t>11/12/2025</a:t>
            </a:fld>
            <a:endParaRPr lang="en-US"/>
          </a:p>
        </p:txBody>
      </p:sp>
      <p:sp>
        <p:nvSpPr>
          <p:cNvPr id="6" name="Footer Placeholder 5">
            <a:extLst>
              <a:ext uri="{FF2B5EF4-FFF2-40B4-BE49-F238E27FC236}">
                <a16:creationId xmlns:a16="http://schemas.microsoft.com/office/drawing/2014/main" id="{D97056E2-537D-6CB9-1696-E0598D8FA6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ADF6F4-4E6D-AC4A-9126-1D3762992D39}"/>
              </a:ext>
            </a:extLst>
          </p:cNvPr>
          <p:cNvSpPr>
            <a:spLocks noGrp="1"/>
          </p:cNvSpPr>
          <p:nvPr>
            <p:ph type="sldNum" sz="quarter" idx="12"/>
          </p:nvPr>
        </p:nvSpPr>
        <p:spPr/>
        <p:txBody>
          <a:bodyPr/>
          <a:lstStyle/>
          <a:p>
            <a:fld id="{82760331-2381-4834-869E-82F3E4172B9C}" type="slidenum">
              <a:rPr lang="en-US" smtClean="0"/>
              <a:t>‹#›</a:t>
            </a:fld>
            <a:endParaRPr lang="en-US"/>
          </a:p>
        </p:txBody>
      </p:sp>
    </p:spTree>
    <p:extLst>
      <p:ext uri="{BB962C8B-B14F-4D97-AF65-F5344CB8AC3E}">
        <p14:creationId xmlns:p14="http://schemas.microsoft.com/office/powerpoint/2010/main" val="42285876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E27A4-9FA3-CDB4-6488-C9C85B27C9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9709A9C-D1A6-4AB4-BA06-376361AEE1C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ED2F7C7-351F-97BE-1762-AFDBE43992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75E034-CAEE-F8C0-C8CA-3C18F84A2581}"/>
              </a:ext>
            </a:extLst>
          </p:cNvPr>
          <p:cNvSpPr>
            <a:spLocks noGrp="1"/>
          </p:cNvSpPr>
          <p:nvPr>
            <p:ph type="dt" sz="half" idx="10"/>
          </p:nvPr>
        </p:nvSpPr>
        <p:spPr/>
        <p:txBody>
          <a:bodyPr/>
          <a:lstStyle/>
          <a:p>
            <a:fld id="{F07D9696-E5F9-427C-AC6C-B4B1ECAFAF0A}" type="datetimeFigureOut">
              <a:rPr lang="en-US" smtClean="0"/>
              <a:t>11/12/2025</a:t>
            </a:fld>
            <a:endParaRPr lang="en-US"/>
          </a:p>
        </p:txBody>
      </p:sp>
      <p:sp>
        <p:nvSpPr>
          <p:cNvPr id="6" name="Footer Placeholder 5">
            <a:extLst>
              <a:ext uri="{FF2B5EF4-FFF2-40B4-BE49-F238E27FC236}">
                <a16:creationId xmlns:a16="http://schemas.microsoft.com/office/drawing/2014/main" id="{29B664CE-2BE4-0048-BC4C-7E8CAF7B8C0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8C5F83-2D5B-BEDB-A084-6A6EBF98BC9F}"/>
              </a:ext>
            </a:extLst>
          </p:cNvPr>
          <p:cNvSpPr>
            <a:spLocks noGrp="1"/>
          </p:cNvSpPr>
          <p:nvPr>
            <p:ph type="sldNum" sz="quarter" idx="12"/>
          </p:nvPr>
        </p:nvSpPr>
        <p:spPr/>
        <p:txBody>
          <a:bodyPr/>
          <a:lstStyle/>
          <a:p>
            <a:fld id="{82760331-2381-4834-869E-82F3E4172B9C}" type="slidenum">
              <a:rPr lang="en-US" smtClean="0"/>
              <a:t>‹#›</a:t>
            </a:fld>
            <a:endParaRPr lang="en-US"/>
          </a:p>
        </p:txBody>
      </p:sp>
    </p:spTree>
    <p:extLst>
      <p:ext uri="{BB962C8B-B14F-4D97-AF65-F5344CB8AC3E}">
        <p14:creationId xmlns:p14="http://schemas.microsoft.com/office/powerpoint/2010/main" val="23341992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A086C-CC9B-5134-DFD8-B8DFE8F3E13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EEA89BE-6A09-A0F0-E698-150A7D86141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03270D-BB1A-0A4D-DEBD-47A687978A65}"/>
              </a:ext>
            </a:extLst>
          </p:cNvPr>
          <p:cNvSpPr>
            <a:spLocks noGrp="1"/>
          </p:cNvSpPr>
          <p:nvPr>
            <p:ph type="dt" sz="half" idx="10"/>
          </p:nvPr>
        </p:nvSpPr>
        <p:spPr/>
        <p:txBody>
          <a:bodyPr/>
          <a:lstStyle/>
          <a:p>
            <a:fld id="{F07D9696-E5F9-427C-AC6C-B4B1ECAFAF0A}" type="datetimeFigureOut">
              <a:rPr lang="en-US" smtClean="0"/>
              <a:t>11/12/2025</a:t>
            </a:fld>
            <a:endParaRPr lang="en-US"/>
          </a:p>
        </p:txBody>
      </p:sp>
      <p:sp>
        <p:nvSpPr>
          <p:cNvPr id="5" name="Footer Placeholder 4">
            <a:extLst>
              <a:ext uri="{FF2B5EF4-FFF2-40B4-BE49-F238E27FC236}">
                <a16:creationId xmlns:a16="http://schemas.microsoft.com/office/drawing/2014/main" id="{BF1A6BFB-6DE8-7CDF-3F14-F1A255E7BD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028E93-096E-8419-9C61-E40C12DAD9D7}"/>
              </a:ext>
            </a:extLst>
          </p:cNvPr>
          <p:cNvSpPr>
            <a:spLocks noGrp="1"/>
          </p:cNvSpPr>
          <p:nvPr>
            <p:ph type="sldNum" sz="quarter" idx="12"/>
          </p:nvPr>
        </p:nvSpPr>
        <p:spPr/>
        <p:txBody>
          <a:bodyPr/>
          <a:lstStyle/>
          <a:p>
            <a:fld id="{82760331-2381-4834-869E-82F3E4172B9C}" type="slidenum">
              <a:rPr lang="en-US" smtClean="0"/>
              <a:t>‹#›</a:t>
            </a:fld>
            <a:endParaRPr lang="en-US"/>
          </a:p>
        </p:txBody>
      </p:sp>
    </p:spTree>
    <p:extLst>
      <p:ext uri="{BB962C8B-B14F-4D97-AF65-F5344CB8AC3E}">
        <p14:creationId xmlns:p14="http://schemas.microsoft.com/office/powerpoint/2010/main" val="21173960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626DFE-E5C8-DBC0-C085-D0CFFDCE2E1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8881A4C-75BE-C08A-6ED6-F24021C4EE4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B86A1B-C600-D215-6B5E-A9D17083290A}"/>
              </a:ext>
            </a:extLst>
          </p:cNvPr>
          <p:cNvSpPr>
            <a:spLocks noGrp="1"/>
          </p:cNvSpPr>
          <p:nvPr>
            <p:ph type="dt" sz="half" idx="10"/>
          </p:nvPr>
        </p:nvSpPr>
        <p:spPr/>
        <p:txBody>
          <a:bodyPr/>
          <a:lstStyle/>
          <a:p>
            <a:fld id="{F07D9696-E5F9-427C-AC6C-B4B1ECAFAF0A}" type="datetimeFigureOut">
              <a:rPr lang="en-US" smtClean="0"/>
              <a:t>11/12/2025</a:t>
            </a:fld>
            <a:endParaRPr lang="en-US"/>
          </a:p>
        </p:txBody>
      </p:sp>
      <p:sp>
        <p:nvSpPr>
          <p:cNvPr id="5" name="Footer Placeholder 4">
            <a:extLst>
              <a:ext uri="{FF2B5EF4-FFF2-40B4-BE49-F238E27FC236}">
                <a16:creationId xmlns:a16="http://schemas.microsoft.com/office/drawing/2014/main" id="{4C0CC5F8-DBA5-31FA-F08C-DCC32F54B0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8E6E91-A6B7-88B7-7389-860DD4444213}"/>
              </a:ext>
            </a:extLst>
          </p:cNvPr>
          <p:cNvSpPr>
            <a:spLocks noGrp="1"/>
          </p:cNvSpPr>
          <p:nvPr>
            <p:ph type="sldNum" sz="quarter" idx="12"/>
          </p:nvPr>
        </p:nvSpPr>
        <p:spPr/>
        <p:txBody>
          <a:bodyPr/>
          <a:lstStyle/>
          <a:p>
            <a:fld id="{82760331-2381-4834-869E-82F3E4172B9C}" type="slidenum">
              <a:rPr lang="en-US" smtClean="0"/>
              <a:t>‹#›</a:t>
            </a:fld>
            <a:endParaRPr lang="en-US"/>
          </a:p>
        </p:txBody>
      </p:sp>
    </p:spTree>
    <p:extLst>
      <p:ext uri="{BB962C8B-B14F-4D97-AF65-F5344CB8AC3E}">
        <p14:creationId xmlns:p14="http://schemas.microsoft.com/office/powerpoint/2010/main" val="11590954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63AFA3-F802-5A52-D3AA-76E82FE6C5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6CED9B6-E72C-5A03-8396-03BDE0EEB2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3A56AB-2C0A-91C5-CE72-F12CC078E3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07D9696-E5F9-427C-AC6C-B4B1ECAFAF0A}" type="datetimeFigureOut">
              <a:rPr lang="en-US" smtClean="0"/>
              <a:t>11/12/2025</a:t>
            </a:fld>
            <a:endParaRPr lang="en-US"/>
          </a:p>
        </p:txBody>
      </p:sp>
      <p:sp>
        <p:nvSpPr>
          <p:cNvPr id="5" name="Footer Placeholder 4">
            <a:extLst>
              <a:ext uri="{FF2B5EF4-FFF2-40B4-BE49-F238E27FC236}">
                <a16:creationId xmlns:a16="http://schemas.microsoft.com/office/drawing/2014/main" id="{0059EA0A-5A9A-DE90-3BE7-5FDDB0FB9A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FE315CF-6B08-DFFA-7E3E-C727F0EC676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2760331-2381-4834-869E-82F3E4172B9C}" type="slidenum">
              <a:rPr lang="en-US" smtClean="0"/>
              <a:t>‹#›</a:t>
            </a:fld>
            <a:endParaRPr lang="en-US"/>
          </a:p>
        </p:txBody>
      </p:sp>
    </p:spTree>
    <p:extLst>
      <p:ext uri="{BB962C8B-B14F-4D97-AF65-F5344CB8AC3E}">
        <p14:creationId xmlns:p14="http://schemas.microsoft.com/office/powerpoint/2010/main" val="11877530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3C801-680A-2A1F-60A6-8B1227D3B092}"/>
              </a:ext>
            </a:extLst>
          </p:cNvPr>
          <p:cNvSpPr>
            <a:spLocks noGrp="1"/>
          </p:cNvSpPr>
          <p:nvPr>
            <p:ph type="ctrTitle"/>
          </p:nvPr>
        </p:nvSpPr>
        <p:spPr/>
        <p:txBody>
          <a:bodyPr/>
          <a:lstStyle/>
          <a:p>
            <a:r>
              <a:rPr lang="en-US" dirty="0"/>
              <a:t>Tech Talk </a:t>
            </a:r>
          </a:p>
        </p:txBody>
      </p:sp>
      <p:sp>
        <p:nvSpPr>
          <p:cNvPr id="3" name="Subtitle 2">
            <a:extLst>
              <a:ext uri="{FF2B5EF4-FFF2-40B4-BE49-F238E27FC236}">
                <a16:creationId xmlns:a16="http://schemas.microsoft.com/office/drawing/2014/main" id="{5CB6FD9B-87D8-00E1-990E-D3BA839EC19B}"/>
              </a:ext>
            </a:extLst>
          </p:cNvPr>
          <p:cNvSpPr>
            <a:spLocks noGrp="1"/>
          </p:cNvSpPr>
          <p:nvPr>
            <p:ph type="subTitle" idx="1"/>
          </p:nvPr>
        </p:nvSpPr>
        <p:spPr/>
        <p:txBody>
          <a:bodyPr/>
          <a:lstStyle/>
          <a:p>
            <a:r>
              <a:rPr lang="en-US" dirty="0"/>
              <a:t>Matt Morris</a:t>
            </a:r>
          </a:p>
          <a:p>
            <a:r>
              <a:rPr lang="en-US" dirty="0"/>
              <a:t>Data Scientist</a:t>
            </a:r>
          </a:p>
        </p:txBody>
      </p:sp>
    </p:spTree>
    <p:extLst>
      <p:ext uri="{BB962C8B-B14F-4D97-AF65-F5344CB8AC3E}">
        <p14:creationId xmlns:p14="http://schemas.microsoft.com/office/powerpoint/2010/main" val="21060855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9F23D-C16C-9E2C-9E4D-5C961849AC1C}"/>
              </a:ext>
            </a:extLst>
          </p:cNvPr>
          <p:cNvSpPr>
            <a:spLocks noGrp="1"/>
          </p:cNvSpPr>
          <p:nvPr>
            <p:ph type="title"/>
          </p:nvPr>
        </p:nvSpPr>
        <p:spPr/>
        <p:txBody>
          <a:bodyPr/>
          <a:lstStyle/>
          <a:p>
            <a:r>
              <a:rPr lang="en-US" dirty="0"/>
              <a:t>Agenda	</a:t>
            </a:r>
          </a:p>
        </p:txBody>
      </p:sp>
      <p:sp>
        <p:nvSpPr>
          <p:cNvPr id="3" name="Content Placeholder 2">
            <a:extLst>
              <a:ext uri="{FF2B5EF4-FFF2-40B4-BE49-F238E27FC236}">
                <a16:creationId xmlns:a16="http://schemas.microsoft.com/office/drawing/2014/main" id="{051CB02E-A8C5-6BCE-6888-AC1114F09536}"/>
              </a:ext>
            </a:extLst>
          </p:cNvPr>
          <p:cNvSpPr>
            <a:spLocks noGrp="1"/>
          </p:cNvSpPr>
          <p:nvPr>
            <p:ph idx="1"/>
          </p:nvPr>
        </p:nvSpPr>
        <p:spPr/>
        <p:txBody>
          <a:bodyPr/>
          <a:lstStyle/>
          <a:p>
            <a:r>
              <a:rPr lang="en-US" dirty="0"/>
              <a:t>What is Data Science/NLP</a:t>
            </a:r>
          </a:p>
          <a:p>
            <a:r>
              <a:rPr lang="en-US" dirty="0"/>
              <a:t>Soft Power Project Background</a:t>
            </a:r>
          </a:p>
          <a:p>
            <a:r>
              <a:rPr lang="en-US" dirty="0"/>
              <a:t>Technical Approach</a:t>
            </a:r>
          </a:p>
          <a:p>
            <a:r>
              <a:rPr lang="en-US" dirty="0"/>
              <a:t>Techniques &amp; Lessons Learned</a:t>
            </a:r>
          </a:p>
          <a:p>
            <a:endParaRPr lang="en-US" dirty="0"/>
          </a:p>
          <a:p>
            <a:endParaRPr lang="en-US" dirty="0"/>
          </a:p>
        </p:txBody>
      </p:sp>
    </p:spTree>
    <p:extLst>
      <p:ext uri="{BB962C8B-B14F-4D97-AF65-F5344CB8AC3E}">
        <p14:creationId xmlns:p14="http://schemas.microsoft.com/office/powerpoint/2010/main" val="40687046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97E83-A200-9B56-DC0D-351D4E8DD0B6}"/>
              </a:ext>
            </a:extLst>
          </p:cNvPr>
          <p:cNvSpPr>
            <a:spLocks noGrp="1"/>
          </p:cNvSpPr>
          <p:nvPr>
            <p:ph type="title"/>
          </p:nvPr>
        </p:nvSpPr>
        <p:spPr>
          <a:xfrm>
            <a:off x="223306" y="886968"/>
            <a:ext cx="11968694" cy="512064"/>
          </a:xfrm>
        </p:spPr>
        <p:txBody>
          <a:bodyPr>
            <a:normAutofit fontScale="90000"/>
          </a:bodyPr>
          <a:lstStyle/>
          <a:p>
            <a:pPr>
              <a:lnSpc>
                <a:spcPct val="100000"/>
              </a:lnSpc>
            </a:pPr>
            <a:r>
              <a:rPr lang="en-US" dirty="0"/>
              <a:t>What is Data Science?</a:t>
            </a:r>
            <a:br>
              <a:rPr lang="en-US" dirty="0"/>
            </a:br>
            <a:r>
              <a:rPr lang="en-US" sz="1600" dirty="0"/>
              <a:t>The practice of using data through collection, processing, statistical analysis, and machine learning to generate knowledge, predictions, and data informed decisions.</a:t>
            </a:r>
            <a:r>
              <a:rPr lang="en-US" dirty="0"/>
              <a:t>	</a:t>
            </a:r>
          </a:p>
        </p:txBody>
      </p:sp>
      <p:pic>
        <p:nvPicPr>
          <p:cNvPr id="5" name="Picture 4">
            <a:extLst>
              <a:ext uri="{FF2B5EF4-FFF2-40B4-BE49-F238E27FC236}">
                <a16:creationId xmlns:a16="http://schemas.microsoft.com/office/drawing/2014/main" id="{5431FAAC-B63E-B58A-580B-A91E6C68D0D9}"/>
              </a:ext>
            </a:extLst>
          </p:cNvPr>
          <p:cNvPicPr>
            <a:picLocks noChangeAspect="1"/>
          </p:cNvPicPr>
          <p:nvPr/>
        </p:nvPicPr>
        <p:blipFill>
          <a:blip r:embed="rId2"/>
          <a:stretch>
            <a:fillRect/>
          </a:stretch>
        </p:blipFill>
        <p:spPr>
          <a:xfrm>
            <a:off x="5029200" y="1563766"/>
            <a:ext cx="6772977" cy="3730467"/>
          </a:xfrm>
          <a:prstGeom prst="rect">
            <a:avLst/>
          </a:prstGeom>
        </p:spPr>
      </p:pic>
      <p:sp>
        <p:nvSpPr>
          <p:cNvPr id="7" name="TextBox 6">
            <a:extLst>
              <a:ext uri="{FF2B5EF4-FFF2-40B4-BE49-F238E27FC236}">
                <a16:creationId xmlns:a16="http://schemas.microsoft.com/office/drawing/2014/main" id="{67322974-59DF-C95F-A358-89DC0F2EE68F}"/>
              </a:ext>
            </a:extLst>
          </p:cNvPr>
          <p:cNvSpPr txBox="1"/>
          <p:nvPr/>
        </p:nvSpPr>
        <p:spPr>
          <a:xfrm>
            <a:off x="223306" y="1563766"/>
            <a:ext cx="4897334" cy="4154984"/>
          </a:xfrm>
          <a:prstGeom prst="rect">
            <a:avLst/>
          </a:prstGeom>
          <a:noFill/>
        </p:spPr>
        <p:txBody>
          <a:bodyPr wrap="square">
            <a:spAutoFit/>
          </a:bodyPr>
          <a:lstStyle/>
          <a:p>
            <a:pPr>
              <a:buNone/>
            </a:pPr>
            <a:r>
              <a:rPr lang="en-US" sz="1600" b="1" dirty="0"/>
              <a:t>Data Scientist</a:t>
            </a:r>
          </a:p>
          <a:p>
            <a:pPr>
              <a:buNone/>
            </a:pPr>
            <a:endParaRPr lang="en-US" sz="1600" b="1" dirty="0"/>
          </a:p>
          <a:p>
            <a:pPr>
              <a:buNone/>
            </a:pPr>
            <a:r>
              <a:rPr lang="en-US" sz="1600" b="1" dirty="0"/>
              <a:t>Focus:</a:t>
            </a:r>
            <a:r>
              <a:rPr lang="en-US" sz="1600" dirty="0"/>
              <a:t> </a:t>
            </a:r>
            <a:r>
              <a:rPr lang="en-US" sz="1600" i="1" dirty="0"/>
              <a:t>Models, algorithms, and inference</a:t>
            </a:r>
            <a:br>
              <a:rPr lang="en-US" sz="1600" dirty="0"/>
            </a:br>
            <a:endParaRPr lang="en-US" sz="1600" dirty="0"/>
          </a:p>
          <a:p>
            <a:pPr>
              <a:buNone/>
            </a:pPr>
            <a:r>
              <a:rPr lang="en-US" sz="1600" b="1" dirty="0"/>
              <a:t>What they do:</a:t>
            </a:r>
            <a:endParaRPr lang="en-US" sz="1600" dirty="0"/>
          </a:p>
          <a:p>
            <a:pPr lvl="1">
              <a:buFont typeface="Arial" panose="020B0604020202020204" pitchFamily="34" charset="0"/>
              <a:buChar char="•"/>
            </a:pPr>
            <a:r>
              <a:rPr lang="en-US" sz="1200" dirty="0"/>
              <a:t>Build predictive and prescriptive models (e.g., machine learning, NLP, forecasting).</a:t>
            </a:r>
          </a:p>
          <a:p>
            <a:pPr lvl="1">
              <a:buFont typeface="Arial" panose="020B0604020202020204" pitchFamily="34" charset="0"/>
              <a:buChar char="•"/>
            </a:pPr>
            <a:r>
              <a:rPr lang="en-US" sz="1200" dirty="0"/>
              <a:t>Design experiments (A/B tests), validate hypotheses statistically.</a:t>
            </a:r>
          </a:p>
          <a:p>
            <a:pPr lvl="1">
              <a:buFont typeface="Arial" panose="020B0604020202020204" pitchFamily="34" charset="0"/>
              <a:buChar char="•"/>
            </a:pPr>
            <a:r>
              <a:rPr lang="en-US" sz="1200" dirty="0"/>
              <a:t>Work heavily with Python/R, </a:t>
            </a:r>
            <a:r>
              <a:rPr lang="en-US" sz="1200" dirty="0" err="1"/>
              <a:t>Jupyter</a:t>
            </a:r>
            <a:r>
              <a:rPr lang="en-US" sz="1200" dirty="0"/>
              <a:t>, and ML frameworks (scikit-learn, </a:t>
            </a:r>
            <a:r>
              <a:rPr lang="en-US" sz="1200" dirty="0" err="1"/>
              <a:t>PyTorch</a:t>
            </a:r>
            <a:r>
              <a:rPr lang="en-US" sz="1200" dirty="0"/>
              <a:t>, etc.).</a:t>
            </a:r>
          </a:p>
          <a:p>
            <a:pPr lvl="1">
              <a:buFont typeface="Arial" panose="020B0604020202020204" pitchFamily="34" charset="0"/>
              <a:buChar char="•"/>
            </a:pPr>
            <a:r>
              <a:rPr lang="en-US" sz="1200" dirty="0"/>
              <a:t>Transform business problems into mathematical ones and extract insights from complex, unstructured data.</a:t>
            </a:r>
          </a:p>
          <a:p>
            <a:pPr lvl="1">
              <a:buFont typeface="Arial" panose="020B0604020202020204" pitchFamily="34" charset="0"/>
              <a:buChar char="•"/>
            </a:pPr>
            <a:r>
              <a:rPr lang="en-US" sz="1200" dirty="0"/>
              <a:t>Often deploy models via APIs or dashboards, sometimes partnering with data engineers for production.</a:t>
            </a:r>
          </a:p>
          <a:p>
            <a:pPr>
              <a:buNone/>
            </a:pPr>
            <a:br>
              <a:rPr lang="en-US" sz="1600" dirty="0"/>
            </a:br>
            <a:r>
              <a:rPr lang="en-US" sz="1600" b="1" dirty="0"/>
              <a:t>Core tools:</a:t>
            </a:r>
            <a:r>
              <a:rPr lang="en-US" sz="1600" dirty="0"/>
              <a:t> Python/R, SQL, </a:t>
            </a:r>
            <a:r>
              <a:rPr lang="en-US" sz="1600" dirty="0" err="1"/>
              <a:t>Jupyter</a:t>
            </a:r>
            <a:r>
              <a:rPr lang="en-US" sz="1600" dirty="0"/>
              <a:t>, TensorFlow/</a:t>
            </a:r>
            <a:r>
              <a:rPr lang="en-US" sz="1600" dirty="0" err="1"/>
              <a:t>PyTorch</a:t>
            </a:r>
            <a:r>
              <a:rPr lang="en-US" sz="1600" dirty="0"/>
              <a:t>, pandas, NumPy, scikit-learn, </a:t>
            </a:r>
            <a:r>
              <a:rPr lang="en-US" sz="1600" dirty="0" err="1"/>
              <a:t>MLflow</a:t>
            </a:r>
            <a:r>
              <a:rPr lang="en-US" sz="1600" dirty="0"/>
              <a:t>, Databricks.</a:t>
            </a:r>
          </a:p>
        </p:txBody>
      </p:sp>
    </p:spTree>
    <p:extLst>
      <p:ext uri="{BB962C8B-B14F-4D97-AF65-F5344CB8AC3E}">
        <p14:creationId xmlns:p14="http://schemas.microsoft.com/office/powerpoint/2010/main" val="17619104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791ED-1F6C-A57B-181F-9598B1263A00}"/>
              </a:ext>
            </a:extLst>
          </p:cNvPr>
          <p:cNvSpPr>
            <a:spLocks noGrp="1"/>
          </p:cNvSpPr>
          <p:nvPr>
            <p:ph type="title"/>
          </p:nvPr>
        </p:nvSpPr>
        <p:spPr/>
        <p:txBody>
          <a:bodyPr/>
          <a:lstStyle/>
          <a:p>
            <a:r>
              <a:rPr lang="en-US" dirty="0"/>
              <a:t>Natural Language Processing (NLP)	</a:t>
            </a:r>
          </a:p>
        </p:txBody>
      </p:sp>
      <p:sp>
        <p:nvSpPr>
          <p:cNvPr id="3" name="Content Placeholder 2">
            <a:extLst>
              <a:ext uri="{FF2B5EF4-FFF2-40B4-BE49-F238E27FC236}">
                <a16:creationId xmlns:a16="http://schemas.microsoft.com/office/drawing/2014/main" id="{F0834C00-D8BF-8B47-60B6-9D3702DCD39A}"/>
              </a:ext>
            </a:extLst>
          </p:cNvPr>
          <p:cNvSpPr>
            <a:spLocks noGrp="1"/>
          </p:cNvSpPr>
          <p:nvPr>
            <p:ph idx="1"/>
          </p:nvPr>
        </p:nvSpPr>
        <p:spPr/>
        <p:txBody>
          <a:bodyPr>
            <a:normAutofit lnSpcReduction="10000"/>
          </a:bodyPr>
          <a:lstStyle/>
          <a:p>
            <a:r>
              <a:rPr lang="en-US" dirty="0"/>
              <a:t>The branch of data science and artificial intelligence focused on enabling computers to </a:t>
            </a:r>
            <a:r>
              <a:rPr lang="en-US" b="1" dirty="0"/>
              <a:t>understand, interpret, and generate human language, </a:t>
            </a:r>
            <a:r>
              <a:rPr lang="en-US" dirty="0"/>
              <a:t>both written and spoken.</a:t>
            </a:r>
          </a:p>
          <a:p>
            <a:pPr marL="0" indent="0">
              <a:buNone/>
            </a:pPr>
            <a:endParaRPr lang="en-US" dirty="0"/>
          </a:p>
          <a:p>
            <a:r>
              <a:rPr lang="en-US" dirty="0"/>
              <a:t>The field has shifted from </a:t>
            </a:r>
            <a:r>
              <a:rPr lang="en-US" b="1" dirty="0"/>
              <a:t>rule-based NLP</a:t>
            </a:r>
            <a:r>
              <a:rPr lang="en-US" dirty="0"/>
              <a:t> → </a:t>
            </a:r>
            <a:r>
              <a:rPr lang="en-US" b="1" dirty="0"/>
              <a:t>statistical NLP</a:t>
            </a:r>
            <a:r>
              <a:rPr lang="en-US" dirty="0"/>
              <a:t> → </a:t>
            </a:r>
            <a:r>
              <a:rPr lang="en-US" b="1" dirty="0"/>
              <a:t>neural NLP</a:t>
            </a:r>
            <a:r>
              <a:rPr lang="en-US" dirty="0"/>
              <a:t> → </a:t>
            </a:r>
            <a:r>
              <a:rPr lang="en-US" b="1" dirty="0"/>
              <a:t>large language models (LLMs)</a:t>
            </a:r>
            <a:r>
              <a:rPr lang="en-US" dirty="0"/>
              <a:t>.</a:t>
            </a:r>
          </a:p>
          <a:p>
            <a:endParaRPr lang="en-US" dirty="0"/>
          </a:p>
          <a:p>
            <a:r>
              <a:rPr lang="en-US" dirty="0"/>
              <a:t>Today, transformer-based models (BERT, GPT, T5, Llama, etc.) dominate, using massive corpora to learn contextual understanding rather than hand-crafted features.</a:t>
            </a:r>
          </a:p>
        </p:txBody>
      </p:sp>
    </p:spTree>
    <p:extLst>
      <p:ext uri="{BB962C8B-B14F-4D97-AF65-F5344CB8AC3E}">
        <p14:creationId xmlns:p14="http://schemas.microsoft.com/office/powerpoint/2010/main" val="36401021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0A239-98A4-38C6-1D40-FBFE5559D8E6}"/>
              </a:ext>
            </a:extLst>
          </p:cNvPr>
          <p:cNvSpPr>
            <a:spLocks noGrp="1"/>
          </p:cNvSpPr>
          <p:nvPr>
            <p:ph type="title"/>
          </p:nvPr>
        </p:nvSpPr>
        <p:spPr>
          <a:xfrm>
            <a:off x="705993" y="168973"/>
            <a:ext cx="10515600" cy="1325563"/>
          </a:xfrm>
        </p:spPr>
        <p:txBody>
          <a:bodyPr/>
          <a:lstStyle/>
          <a:p>
            <a:r>
              <a:rPr lang="en-US" dirty="0"/>
              <a:t>Key NLP Terms</a:t>
            </a:r>
          </a:p>
        </p:txBody>
      </p:sp>
      <p:sp>
        <p:nvSpPr>
          <p:cNvPr id="15" name="TextBox 14">
            <a:extLst>
              <a:ext uri="{FF2B5EF4-FFF2-40B4-BE49-F238E27FC236}">
                <a16:creationId xmlns:a16="http://schemas.microsoft.com/office/drawing/2014/main" id="{450D0906-C681-B852-B5A0-847257C9E282}"/>
              </a:ext>
            </a:extLst>
          </p:cNvPr>
          <p:cNvSpPr txBox="1"/>
          <p:nvPr/>
        </p:nvSpPr>
        <p:spPr>
          <a:xfrm>
            <a:off x="970407" y="1494536"/>
            <a:ext cx="10515600" cy="646331"/>
          </a:xfrm>
          <a:prstGeom prst="rect">
            <a:avLst/>
          </a:prstGeom>
          <a:noFill/>
        </p:spPr>
        <p:txBody>
          <a:bodyPr wrap="square">
            <a:spAutoFit/>
          </a:bodyPr>
          <a:lstStyle/>
          <a:p>
            <a:pPr marL="285750" indent="-285750">
              <a:buFont typeface="Arial" panose="020B0604020202020204" pitchFamily="34" charset="0"/>
              <a:buChar char="•"/>
            </a:pPr>
            <a:r>
              <a:rPr lang="en-US" dirty="0"/>
              <a:t>			</a:t>
            </a:r>
          </a:p>
          <a:p>
            <a:pPr marL="285750" indent="-285750">
              <a:buFont typeface="Arial" panose="020B0604020202020204" pitchFamily="34" charset="0"/>
              <a:buChar char="•"/>
            </a:pPr>
            <a:r>
              <a:rPr lang="en-US" dirty="0"/>
              <a:t>		</a:t>
            </a:r>
          </a:p>
        </p:txBody>
      </p:sp>
      <p:graphicFrame>
        <p:nvGraphicFramePr>
          <p:cNvPr id="16" name="Table 15">
            <a:extLst>
              <a:ext uri="{FF2B5EF4-FFF2-40B4-BE49-F238E27FC236}">
                <a16:creationId xmlns:a16="http://schemas.microsoft.com/office/drawing/2014/main" id="{1FCA0C3F-68AC-D2A2-616A-343178CEAE71}"/>
              </a:ext>
            </a:extLst>
          </p:cNvPr>
          <p:cNvGraphicFramePr>
            <a:graphicFrameLocks noGrp="1"/>
          </p:cNvGraphicFramePr>
          <p:nvPr>
            <p:extLst>
              <p:ext uri="{D42A27DB-BD31-4B8C-83A1-F6EECF244321}">
                <p14:modId xmlns:p14="http://schemas.microsoft.com/office/powerpoint/2010/main" val="2284920671"/>
              </p:ext>
            </p:extLst>
          </p:nvPr>
        </p:nvGraphicFramePr>
        <p:xfrm>
          <a:off x="749808" y="1273910"/>
          <a:ext cx="10871835" cy="5400040"/>
        </p:xfrm>
        <a:graphic>
          <a:graphicData uri="http://schemas.openxmlformats.org/drawingml/2006/table">
            <a:tbl>
              <a:tblPr firstRow="1" bandRow="1">
                <a:tableStyleId>{5C22544A-7EE6-4342-B048-85BDC9FD1C3A}</a:tableStyleId>
              </a:tblPr>
              <a:tblGrid>
                <a:gridCol w="5414010">
                  <a:extLst>
                    <a:ext uri="{9D8B030D-6E8A-4147-A177-3AD203B41FA5}">
                      <a16:colId xmlns:a16="http://schemas.microsoft.com/office/drawing/2014/main" val="440639741"/>
                    </a:ext>
                  </a:extLst>
                </a:gridCol>
                <a:gridCol w="5457825">
                  <a:extLst>
                    <a:ext uri="{9D8B030D-6E8A-4147-A177-3AD203B41FA5}">
                      <a16:colId xmlns:a16="http://schemas.microsoft.com/office/drawing/2014/main" val="51791318"/>
                    </a:ext>
                  </a:extLst>
                </a:gridCol>
              </a:tblGrid>
              <a:tr h="37084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4195667072"/>
                  </a:ext>
                </a:extLst>
              </a:tr>
              <a:tr h="370840">
                <a:tc>
                  <a:txBody>
                    <a:bodyPr/>
                    <a:lstStyle/>
                    <a:p>
                      <a:r>
                        <a:rPr lang="en-US" dirty="0"/>
                        <a:t>Named Entity Recognition (NER)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Identifying and classifying proper nouns in text (e.g., recognizing “France” as a country).</a:t>
                      </a:r>
                    </a:p>
                    <a:p>
                      <a:endParaRPr lang="en-US" dirty="0"/>
                    </a:p>
                  </a:txBody>
                  <a:tcPr/>
                </a:tc>
                <a:extLst>
                  <a:ext uri="{0D108BD9-81ED-4DB2-BD59-A6C34878D82A}">
                    <a16:rowId xmlns:a16="http://schemas.microsoft.com/office/drawing/2014/main" val="2961769661"/>
                  </a:ext>
                </a:extLst>
              </a:tr>
              <a:tr h="370840">
                <a:tc>
                  <a:txBody>
                    <a:bodyPr/>
                    <a:lstStyle/>
                    <a:p>
                      <a:r>
                        <a:rPr lang="en-US" dirty="0"/>
                        <a:t>Text Classification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Categorizing text into predefined groups (e.g., news topics, spam detection).</a:t>
                      </a:r>
                    </a:p>
                  </a:txBody>
                  <a:tcPr/>
                </a:tc>
                <a:extLst>
                  <a:ext uri="{0D108BD9-81ED-4DB2-BD59-A6C34878D82A}">
                    <a16:rowId xmlns:a16="http://schemas.microsoft.com/office/drawing/2014/main" val="3200902996"/>
                  </a:ext>
                </a:extLst>
              </a:tr>
              <a:tr h="370840">
                <a:tc>
                  <a:txBody>
                    <a:bodyPr/>
                    <a:lstStyle/>
                    <a:p>
                      <a:r>
                        <a:rPr lang="en-US" dirty="0"/>
                        <a:t>Summarization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Generating a shorter version of text while keeping the main ideas intact.</a:t>
                      </a:r>
                    </a:p>
                  </a:txBody>
                  <a:tcPr/>
                </a:tc>
                <a:extLst>
                  <a:ext uri="{0D108BD9-81ED-4DB2-BD59-A6C34878D82A}">
                    <a16:rowId xmlns:a16="http://schemas.microsoft.com/office/drawing/2014/main" val="3989344061"/>
                  </a:ext>
                </a:extLst>
              </a:tr>
              <a:tr h="370840">
                <a:tc>
                  <a:txBody>
                    <a:bodyPr/>
                    <a:lstStyle/>
                    <a:p>
                      <a:r>
                        <a:rPr lang="en-US" dirty="0"/>
                        <a:t>Translation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Automatically converting text from one language to another.</a:t>
                      </a:r>
                    </a:p>
                  </a:txBody>
                  <a:tcPr/>
                </a:tc>
                <a:extLst>
                  <a:ext uri="{0D108BD9-81ED-4DB2-BD59-A6C34878D82A}">
                    <a16:rowId xmlns:a16="http://schemas.microsoft.com/office/drawing/2014/main" val="2775699671"/>
                  </a:ext>
                </a:extLst>
              </a:tr>
              <a:tr h="370840">
                <a:tc>
                  <a:txBody>
                    <a:bodyPr/>
                    <a:lstStyle/>
                    <a:p>
                      <a:pPr>
                        <a:buNone/>
                      </a:pPr>
                      <a:r>
                        <a:rPr lang="en-US" b="0" dirty="0"/>
                        <a:t>Vectorization</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process of converting text into numbers that models can understand.</a:t>
                      </a:r>
                    </a:p>
                  </a:txBody>
                  <a:tcPr/>
                </a:tc>
                <a:extLst>
                  <a:ext uri="{0D108BD9-81ED-4DB2-BD59-A6C34878D82A}">
                    <a16:rowId xmlns:a16="http://schemas.microsoft.com/office/drawing/2014/main" val="1540555234"/>
                  </a:ext>
                </a:extLst>
              </a:tr>
              <a:tr h="370840">
                <a:tc>
                  <a:txBody>
                    <a:bodyPr/>
                    <a:lstStyle/>
                    <a:p>
                      <a:pPr>
                        <a:buNone/>
                      </a:pPr>
                      <a:r>
                        <a:rPr lang="en-US" dirty="0"/>
                        <a:t>Embedding</a:t>
                      </a:r>
                      <a:endParaRPr lang="en-US" b="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numerical representation of words or sentences that captures their meaning for computers to process.</a:t>
                      </a:r>
                    </a:p>
                  </a:txBody>
                  <a:tcPr/>
                </a:tc>
                <a:extLst>
                  <a:ext uri="{0D108BD9-81ED-4DB2-BD59-A6C34878D82A}">
                    <a16:rowId xmlns:a16="http://schemas.microsoft.com/office/drawing/2014/main" val="342039819"/>
                  </a:ext>
                </a:extLst>
              </a:tr>
              <a:tr h="370840">
                <a:tc>
                  <a:txBody>
                    <a:bodyPr/>
                    <a:lstStyle/>
                    <a:p>
                      <a:pPr>
                        <a:buNone/>
                      </a:pPr>
                      <a:r>
                        <a:rPr lang="en-US" dirty="0"/>
                        <a:t>Token</a:t>
                      </a:r>
                      <a:endParaRPr lang="en-US" b="0"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small piece of text—often a word, part of a word, or punctuation mark—that a model processes.</a:t>
                      </a:r>
                    </a:p>
                  </a:txBody>
                  <a:tcPr/>
                </a:tc>
                <a:extLst>
                  <a:ext uri="{0D108BD9-81ED-4DB2-BD59-A6C34878D82A}">
                    <a16:rowId xmlns:a16="http://schemas.microsoft.com/office/drawing/2014/main" val="1969828492"/>
                  </a:ext>
                </a:extLst>
              </a:tr>
            </a:tbl>
          </a:graphicData>
        </a:graphic>
      </p:graphicFrame>
    </p:spTree>
    <p:extLst>
      <p:ext uri="{BB962C8B-B14F-4D97-AF65-F5344CB8AC3E}">
        <p14:creationId xmlns:p14="http://schemas.microsoft.com/office/powerpoint/2010/main" val="4133125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41A4E-B75D-E0F8-C3BE-D3CA7E365888}"/>
              </a:ext>
            </a:extLst>
          </p:cNvPr>
          <p:cNvSpPr>
            <a:spLocks noGrp="1"/>
          </p:cNvSpPr>
          <p:nvPr>
            <p:ph type="title"/>
          </p:nvPr>
        </p:nvSpPr>
        <p:spPr/>
        <p:txBody>
          <a:bodyPr/>
          <a:lstStyle/>
          <a:p>
            <a:r>
              <a:rPr lang="en-US" i="0" dirty="0">
                <a:solidFill>
                  <a:srgbClr val="24292F"/>
                </a:solidFill>
                <a:effectLst/>
                <a:latin typeface="-apple-system"/>
              </a:rPr>
              <a:t>Soft Power</a:t>
            </a:r>
            <a:r>
              <a:rPr lang="en-US" b="1" i="0" dirty="0">
                <a:solidFill>
                  <a:srgbClr val="24292F"/>
                </a:solidFill>
                <a:effectLst/>
                <a:latin typeface="-apple-system"/>
              </a:rPr>
              <a:t> </a:t>
            </a:r>
            <a:r>
              <a:rPr lang="en-US" i="0" dirty="0">
                <a:solidFill>
                  <a:srgbClr val="24292F"/>
                </a:solidFill>
                <a:effectLst/>
                <a:latin typeface="-apple-system"/>
              </a:rPr>
              <a:t>Project Background</a:t>
            </a:r>
            <a:endParaRPr lang="en-US" dirty="0"/>
          </a:p>
        </p:txBody>
      </p:sp>
      <p:sp>
        <p:nvSpPr>
          <p:cNvPr id="3" name="Content Placeholder 2">
            <a:extLst>
              <a:ext uri="{FF2B5EF4-FFF2-40B4-BE49-F238E27FC236}">
                <a16:creationId xmlns:a16="http://schemas.microsoft.com/office/drawing/2014/main" id="{D126D3C7-C342-69F2-B08D-A154E2442F8C}"/>
              </a:ext>
            </a:extLst>
          </p:cNvPr>
          <p:cNvSpPr>
            <a:spLocks noGrp="1"/>
          </p:cNvSpPr>
          <p:nvPr>
            <p:ph idx="1"/>
          </p:nvPr>
        </p:nvSpPr>
        <p:spPr/>
        <p:txBody>
          <a:bodyPr>
            <a:normAutofit/>
          </a:bodyPr>
          <a:lstStyle/>
          <a:p>
            <a:pPr marL="342900" marR="0" lvl="0" indent="-342900">
              <a:lnSpc>
                <a:spcPct val="107000"/>
              </a:lnSpc>
              <a:spcBef>
                <a:spcPts val="0"/>
              </a:spcBef>
              <a:spcAft>
                <a:spcPts val="800"/>
              </a:spcAft>
              <a:buFont typeface="+mj-lt"/>
              <a:buAutoNum type="arabicPeriod"/>
            </a:pPr>
            <a:r>
              <a:rPr lang="en-US" sz="2400" kern="100" dirty="0">
                <a:solidFill>
                  <a:srgbClr val="000000"/>
                </a:solidFill>
                <a:latin typeface="Calibri" panose="020F0502020204030204" pitchFamily="34" charset="0"/>
                <a:ea typeface="Calibri" panose="020F0502020204030204" pitchFamily="34" charset="0"/>
                <a:cs typeface="Calibri" panose="020F0502020204030204" pitchFamily="34" charset="0"/>
              </a:rPr>
              <a:t>Main Goal:  </a:t>
            </a:r>
            <a:r>
              <a:rPr lang="en-US" sz="2400"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Automate the categorization of soft-power articles according to a custom schema to replicate a customer built dashboard tracking soft power influence across their AOR.</a:t>
            </a:r>
          </a:p>
          <a:p>
            <a:pPr lvl="1">
              <a:lnSpc>
                <a:spcPct val="100000"/>
              </a:lnSpc>
              <a:spcBef>
                <a:spcPts val="0"/>
              </a:spcBef>
            </a:pPr>
            <a:r>
              <a:rPr lang="en-US" sz="1800" kern="100" dirty="0">
                <a:solidFill>
                  <a:srgbClr val="000000"/>
                </a:solidFill>
                <a:latin typeface="Calibri" panose="020F0502020204030204" pitchFamily="34" charset="0"/>
                <a:ea typeface="Calibri" panose="020F0502020204030204" pitchFamily="34" charset="0"/>
                <a:cs typeface="Calibri" panose="020F0502020204030204" pitchFamily="34" charset="0"/>
              </a:rPr>
              <a:t>Economy</a:t>
            </a:r>
          </a:p>
          <a:p>
            <a:pPr lvl="1">
              <a:lnSpc>
                <a:spcPct val="100000"/>
              </a:lnSpc>
              <a:spcBef>
                <a:spcPts val="0"/>
              </a:spcBef>
            </a:pPr>
            <a:r>
              <a:rPr lang="en-US" sz="1800"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Social</a:t>
            </a:r>
          </a:p>
          <a:p>
            <a:pPr lvl="1">
              <a:lnSpc>
                <a:spcPct val="100000"/>
              </a:lnSpc>
              <a:spcBef>
                <a:spcPts val="0"/>
              </a:spcBef>
            </a:pPr>
            <a:r>
              <a:rPr lang="en-US" sz="1800"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Diplomacy</a:t>
            </a:r>
          </a:p>
          <a:p>
            <a:pPr lvl="1">
              <a:lnSpc>
                <a:spcPct val="100000"/>
              </a:lnSpc>
              <a:spcBef>
                <a:spcPts val="0"/>
              </a:spcBef>
            </a:pPr>
            <a:r>
              <a:rPr lang="en-US" sz="1800" kern="100" dirty="0">
                <a:solidFill>
                  <a:srgbClr val="000000"/>
                </a:solidFill>
                <a:latin typeface="Calibri" panose="020F0502020204030204" pitchFamily="34" charset="0"/>
                <a:ea typeface="Calibri" panose="020F0502020204030204" pitchFamily="34" charset="0"/>
                <a:cs typeface="Calibri" panose="020F0502020204030204" pitchFamily="34" charset="0"/>
              </a:rPr>
              <a:t>Military</a:t>
            </a:r>
          </a:p>
          <a:p>
            <a:pPr marL="457200" lvl="1" indent="0">
              <a:lnSpc>
                <a:spcPct val="100000"/>
              </a:lnSpc>
              <a:spcBef>
                <a:spcPts val="0"/>
              </a:spcBef>
              <a:buNone/>
            </a:pPr>
            <a:endParaRPr lang="en-US" sz="1800" kern="1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nSpc>
                <a:spcPct val="100000"/>
              </a:lnSpc>
              <a:spcBef>
                <a:spcPts val="0"/>
              </a:spcBef>
              <a:buNone/>
            </a:pPr>
            <a:r>
              <a:rPr lang="en-US" sz="2400"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If possible:</a:t>
            </a:r>
            <a:endParaRPr lang="en-US" sz="2400" kern="1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lvl="1">
              <a:lnSpc>
                <a:spcPct val="100000"/>
              </a:lnSpc>
              <a:spcBef>
                <a:spcPts val="0"/>
              </a:spcBef>
            </a:pPr>
            <a:r>
              <a:rPr lang="en-US" sz="1800"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Apply sub-category labels </a:t>
            </a:r>
            <a:endParaRPr lang="en-US" sz="1800" kern="100" dirty="0">
              <a:latin typeface="Calibri" panose="020F0502020204030204" pitchFamily="34" charset="0"/>
              <a:ea typeface="Calibri" panose="020F0502020204030204" pitchFamily="34" charset="0"/>
              <a:cs typeface="Times New Roman" panose="02020603050405020304" pitchFamily="18" charset="0"/>
            </a:endParaRPr>
          </a:p>
          <a:p>
            <a:pPr lvl="1">
              <a:lnSpc>
                <a:spcPct val="100000"/>
              </a:lnSpc>
              <a:spcBef>
                <a:spcPts val="0"/>
              </a:spcBef>
            </a:pPr>
            <a:r>
              <a:rPr lang="en-US" sz="1800"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Extract Acting and Recipient countries</a:t>
            </a:r>
            <a:endParaRPr lang="en-US" sz="1800" kern="100" dirty="0">
              <a:latin typeface="Calibri" panose="020F0502020204030204" pitchFamily="34" charset="0"/>
              <a:ea typeface="Calibri" panose="020F0502020204030204" pitchFamily="34" charset="0"/>
              <a:cs typeface="Times New Roman" panose="02020603050405020304" pitchFamily="18" charset="0"/>
            </a:endParaRPr>
          </a:p>
          <a:p>
            <a:pPr lvl="1">
              <a:lnSpc>
                <a:spcPct val="100000"/>
              </a:lnSpc>
              <a:spcBef>
                <a:spcPts val="0"/>
              </a:spcBef>
            </a:pPr>
            <a:r>
              <a:rPr lang="en-US" sz="1800"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Extract Project Names and descriptions</a:t>
            </a:r>
            <a:endParaRPr lang="en-US" sz="1800" kern="100" dirty="0">
              <a:latin typeface="Calibri" panose="020F0502020204030204" pitchFamily="34" charset="0"/>
              <a:ea typeface="Calibri" panose="020F0502020204030204" pitchFamily="34" charset="0"/>
              <a:cs typeface="Times New Roman" panose="02020603050405020304" pitchFamily="18" charset="0"/>
            </a:endParaRPr>
          </a:p>
          <a:p>
            <a:pPr lvl="1">
              <a:lnSpc>
                <a:spcPct val="100000"/>
              </a:lnSpc>
              <a:spcBef>
                <a:spcPts val="0"/>
              </a:spcBef>
            </a:pPr>
            <a:r>
              <a:rPr lang="en-US" sz="1800" kern="1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Extract funding references</a:t>
            </a:r>
            <a:endParaRPr lang="en-US"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559167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09D49-407F-6A4E-1D35-DF434AA1FCC3}"/>
              </a:ext>
            </a:extLst>
          </p:cNvPr>
          <p:cNvSpPr>
            <a:spLocks noGrp="1"/>
          </p:cNvSpPr>
          <p:nvPr>
            <p:ph type="title"/>
          </p:nvPr>
        </p:nvSpPr>
        <p:spPr/>
        <p:txBody>
          <a:bodyPr/>
          <a:lstStyle/>
          <a:p>
            <a:r>
              <a:rPr lang="en-US" dirty="0"/>
              <a:t>Approach</a:t>
            </a:r>
          </a:p>
        </p:txBody>
      </p:sp>
      <p:sp>
        <p:nvSpPr>
          <p:cNvPr id="3" name="Content Placeholder 2">
            <a:extLst>
              <a:ext uri="{FF2B5EF4-FFF2-40B4-BE49-F238E27FC236}">
                <a16:creationId xmlns:a16="http://schemas.microsoft.com/office/drawing/2014/main" id="{40F90758-41E9-722A-6BB2-1C73D9321340}"/>
              </a:ext>
            </a:extLst>
          </p:cNvPr>
          <p:cNvSpPr>
            <a:spLocks noGrp="1"/>
          </p:cNvSpPr>
          <p:nvPr>
            <p:ph idx="1"/>
          </p:nvPr>
        </p:nvSpPr>
        <p:spPr/>
        <p:txBody>
          <a:bodyPr>
            <a:normAutofit/>
          </a:bodyPr>
          <a:lstStyle/>
          <a:p>
            <a:pPr marL="0" indent="0">
              <a:buNone/>
            </a:pPr>
            <a:r>
              <a:rPr lang="en-US" b="0" i="0" dirty="0">
                <a:solidFill>
                  <a:srgbClr val="24292F"/>
                </a:solidFill>
                <a:effectLst/>
                <a:latin typeface="-apple-system"/>
              </a:rPr>
              <a:t>1. Assess the feasibility of using pretrained models: </a:t>
            </a:r>
          </a:p>
          <a:p>
            <a:pPr lvl="1"/>
            <a:r>
              <a:rPr lang="en-US" b="0" i="0" dirty="0">
                <a:solidFill>
                  <a:srgbClr val="24292F"/>
                </a:solidFill>
                <a:effectLst/>
                <a:latin typeface="-apple-system"/>
              </a:rPr>
              <a:t>zero-shot classification and standard entity extraction models</a:t>
            </a:r>
          </a:p>
          <a:p>
            <a:pPr lvl="1"/>
            <a:r>
              <a:rPr lang="en-US" b="0" i="0" dirty="0">
                <a:solidFill>
                  <a:srgbClr val="24292F"/>
                </a:solidFill>
                <a:effectLst/>
                <a:latin typeface="-apple-system"/>
              </a:rPr>
              <a:t>GAI models such as GPT-3.5, GPT-4, Llama2, and Llama3 models.</a:t>
            </a:r>
          </a:p>
          <a:p>
            <a:r>
              <a:rPr lang="en-US" b="0" i="0" dirty="0">
                <a:solidFill>
                  <a:srgbClr val="24292F"/>
                </a:solidFill>
                <a:effectLst/>
                <a:latin typeface="-apple-system"/>
              </a:rPr>
              <a:t>If these approaches proved insufficient, we would then utilize external labelers to enable the development of a custom classification model.</a:t>
            </a:r>
          </a:p>
        </p:txBody>
      </p:sp>
    </p:spTree>
    <p:extLst>
      <p:ext uri="{BB962C8B-B14F-4D97-AF65-F5344CB8AC3E}">
        <p14:creationId xmlns:p14="http://schemas.microsoft.com/office/powerpoint/2010/main" val="9651444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743E9-D8C8-C612-4FB2-8EB5B2AF5066}"/>
              </a:ext>
            </a:extLst>
          </p:cNvPr>
          <p:cNvSpPr>
            <a:spLocks noGrp="1"/>
          </p:cNvSpPr>
          <p:nvPr>
            <p:ph type="title"/>
          </p:nvPr>
        </p:nvSpPr>
        <p:spPr/>
        <p:txBody>
          <a:bodyPr/>
          <a:lstStyle/>
          <a:p>
            <a:r>
              <a:rPr lang="en-US" dirty="0"/>
              <a:t>Prompt Experimentation</a:t>
            </a:r>
          </a:p>
        </p:txBody>
      </p:sp>
      <p:sp>
        <p:nvSpPr>
          <p:cNvPr id="3" name="Content Placeholder 2">
            <a:extLst>
              <a:ext uri="{FF2B5EF4-FFF2-40B4-BE49-F238E27FC236}">
                <a16:creationId xmlns:a16="http://schemas.microsoft.com/office/drawing/2014/main" id="{6D7D4440-D52F-DB7F-F2C0-B8B3ECCEC6DD}"/>
              </a:ext>
            </a:extLst>
          </p:cNvPr>
          <p:cNvSpPr>
            <a:spLocks noGrp="1"/>
          </p:cNvSpPr>
          <p:nvPr>
            <p:ph idx="1"/>
          </p:nvPr>
        </p:nvSpPr>
        <p:spPr>
          <a:xfrm>
            <a:off x="313899" y="1825625"/>
            <a:ext cx="5063319" cy="4351338"/>
          </a:xfrm>
        </p:spPr>
        <p:txBody>
          <a:bodyPr>
            <a:normAutofit/>
          </a:bodyPr>
          <a:lstStyle/>
          <a:p>
            <a:r>
              <a:rPr lang="en-US" dirty="0"/>
              <a:t>Conducted iterative prompt experiments using the GAI Workbench testing the effects of adjustments to language, output requirements, and hyperparameters on performance at a smaller scale.</a:t>
            </a:r>
          </a:p>
          <a:p>
            <a:r>
              <a:rPr lang="en-US" dirty="0"/>
              <a:t>Tested alternative GAI models (Llama2, Lama3)  </a:t>
            </a:r>
          </a:p>
        </p:txBody>
      </p:sp>
      <p:pic>
        <p:nvPicPr>
          <p:cNvPr id="4" name="Picture 3" descr="Chart, line chart&#10;&#10;Description automatically generated">
            <a:extLst>
              <a:ext uri="{FF2B5EF4-FFF2-40B4-BE49-F238E27FC236}">
                <a16:creationId xmlns:a16="http://schemas.microsoft.com/office/drawing/2014/main" id="{C6EE123A-0101-4B8E-DD98-7D4541F03B8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233313" y="365125"/>
            <a:ext cx="4440071" cy="2668962"/>
          </a:xfrm>
          <a:prstGeom prst="rect">
            <a:avLst/>
          </a:prstGeom>
          <a:noFill/>
        </p:spPr>
      </p:pic>
      <p:pic>
        <p:nvPicPr>
          <p:cNvPr id="5" name="Picture 4" descr="A picture containing graphical user interface&#10;&#10;Description automatically generated">
            <a:extLst>
              <a:ext uri="{FF2B5EF4-FFF2-40B4-BE49-F238E27FC236}">
                <a16:creationId xmlns:a16="http://schemas.microsoft.com/office/drawing/2014/main" id="{A05E6F24-C6D9-0767-F665-78D4FEA23FB8}"/>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233313" y="3022242"/>
            <a:ext cx="3835758" cy="3835758"/>
          </a:xfrm>
          <a:prstGeom prst="rect">
            <a:avLst/>
          </a:prstGeom>
          <a:noFill/>
          <a:ln>
            <a:noFill/>
          </a:ln>
        </p:spPr>
      </p:pic>
    </p:spTree>
    <p:extLst>
      <p:ext uri="{BB962C8B-B14F-4D97-AF65-F5344CB8AC3E}">
        <p14:creationId xmlns:p14="http://schemas.microsoft.com/office/powerpoint/2010/main" val="22237182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E7A4B-A8A9-F189-B382-F3B27F0459BF}"/>
              </a:ext>
            </a:extLst>
          </p:cNvPr>
          <p:cNvSpPr>
            <a:spLocks noGrp="1"/>
          </p:cNvSpPr>
          <p:nvPr>
            <p:ph type="title"/>
          </p:nvPr>
        </p:nvSpPr>
        <p:spPr/>
        <p:txBody>
          <a:bodyPr/>
          <a:lstStyle/>
          <a:p>
            <a:r>
              <a:rPr lang="en-US" dirty="0"/>
              <a:t>Categorization and Extraction (GCDF)</a:t>
            </a:r>
          </a:p>
        </p:txBody>
      </p:sp>
      <p:sp>
        <p:nvSpPr>
          <p:cNvPr id="3" name="Content Placeholder 2">
            <a:extLst>
              <a:ext uri="{FF2B5EF4-FFF2-40B4-BE49-F238E27FC236}">
                <a16:creationId xmlns:a16="http://schemas.microsoft.com/office/drawing/2014/main" id="{FDCFDFB9-0088-8AE5-8F51-6E282009D45B}"/>
              </a:ext>
            </a:extLst>
          </p:cNvPr>
          <p:cNvSpPr>
            <a:spLocks noGrp="1"/>
          </p:cNvSpPr>
          <p:nvPr>
            <p:ph idx="1"/>
          </p:nvPr>
        </p:nvSpPr>
        <p:spPr>
          <a:xfrm>
            <a:off x="838200" y="1457136"/>
            <a:ext cx="10515600" cy="4351338"/>
          </a:xfrm>
        </p:spPr>
        <p:txBody>
          <a:bodyPr/>
          <a:lstStyle/>
          <a:p>
            <a:r>
              <a:rPr lang="en-US" sz="1800" dirty="0">
                <a:solidFill>
                  <a:srgbClr val="000000"/>
                </a:solidFill>
                <a:effectLst/>
                <a:latin typeface="Calibri" panose="020F0502020204030204" pitchFamily="34" charset="0"/>
                <a:ea typeface="Calibri" panose="020F0502020204030204" pitchFamily="34" charset="0"/>
              </a:rPr>
              <a:t>Using GCDF’s schema we tested the ability of the GAI model to interpreting a labelling schema in its prompt and apply it to a dataset without any prior training</a:t>
            </a:r>
          </a:p>
          <a:p>
            <a:r>
              <a:rPr lang="en-US" sz="1800" dirty="0">
                <a:solidFill>
                  <a:srgbClr val="000000"/>
                </a:solidFill>
                <a:effectLst/>
                <a:latin typeface="Calibri" panose="020F0502020204030204" pitchFamily="34" charset="0"/>
                <a:ea typeface="Calibri" panose="020F0502020204030204" pitchFamily="34" charset="0"/>
              </a:rPr>
              <a:t>Using the top 3 models, a prompt was designed to categorize a GCDP sample of 300 documents, broken into an even distribution of 20 documents per category, according to the W&amp;M schema seen in the ‘Sector Name’ field. </a:t>
            </a:r>
            <a:endParaRPr lang="en-US" dirty="0"/>
          </a:p>
        </p:txBody>
      </p:sp>
      <p:pic>
        <p:nvPicPr>
          <p:cNvPr id="6" name="Picture 5" descr="A graph of different colored bars&#10;&#10;Description automatically generated">
            <a:extLst>
              <a:ext uri="{FF2B5EF4-FFF2-40B4-BE49-F238E27FC236}">
                <a16:creationId xmlns:a16="http://schemas.microsoft.com/office/drawing/2014/main" id="{1A290798-3D71-CABD-A378-E030A82166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7131" y="2941049"/>
            <a:ext cx="4767618" cy="3347073"/>
          </a:xfrm>
          <a:prstGeom prst="rect">
            <a:avLst/>
          </a:prstGeom>
        </p:spPr>
      </p:pic>
      <p:pic>
        <p:nvPicPr>
          <p:cNvPr id="8" name="Picture 7" descr="A graph of different colored bars&#10;&#10;Description automatically generated">
            <a:extLst>
              <a:ext uri="{FF2B5EF4-FFF2-40B4-BE49-F238E27FC236}">
                <a16:creationId xmlns:a16="http://schemas.microsoft.com/office/drawing/2014/main" id="{F3AC3350-ACD8-4DEB-D47A-D0B65A2CCE9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74749" y="2941049"/>
            <a:ext cx="4767619" cy="3347073"/>
          </a:xfrm>
          <a:prstGeom prst="rect">
            <a:avLst/>
          </a:prstGeom>
        </p:spPr>
      </p:pic>
      <p:sp>
        <p:nvSpPr>
          <p:cNvPr id="15" name="TextBox 14">
            <a:extLst>
              <a:ext uri="{FF2B5EF4-FFF2-40B4-BE49-F238E27FC236}">
                <a16:creationId xmlns:a16="http://schemas.microsoft.com/office/drawing/2014/main" id="{35A7A979-D667-8E65-2566-CB1CE0028527}"/>
              </a:ext>
            </a:extLst>
          </p:cNvPr>
          <p:cNvSpPr txBox="1"/>
          <p:nvPr/>
        </p:nvSpPr>
        <p:spPr>
          <a:xfrm>
            <a:off x="9601690" y="3345006"/>
            <a:ext cx="6098344" cy="2539157"/>
          </a:xfrm>
          <a:prstGeom prst="rect">
            <a:avLst/>
          </a:prstGeom>
          <a:noFill/>
        </p:spPr>
        <p:txBody>
          <a:bodyPr wrap="square">
            <a:spAutoFit/>
          </a:bodyPr>
          <a:lstStyle/>
          <a:p>
            <a:pPr algn="l"/>
            <a:r>
              <a:rPr lang="en-US" sz="1200" dirty="0">
                <a:effectLst/>
              </a:rPr>
              <a:t>GCDF Labels:</a:t>
            </a:r>
          </a:p>
          <a:p>
            <a:pPr algn="l"/>
            <a:r>
              <a:rPr lang="en-US" sz="1050" dirty="0">
                <a:effectLst/>
              </a:rPr>
              <a:t>'EMERGENCY RESPONSE’, </a:t>
            </a:r>
          </a:p>
          <a:p>
            <a:pPr algn="l"/>
            <a:r>
              <a:rPr lang="en-US" sz="1050" dirty="0">
                <a:effectLst/>
              </a:rPr>
              <a:t>'HEALTH', 'GOVERNMENT AND CIVIL SOCIETY’, </a:t>
            </a:r>
          </a:p>
          <a:p>
            <a:pPr algn="l"/>
            <a:r>
              <a:rPr lang="en-US" sz="1050" dirty="0">
                <a:effectLst/>
              </a:rPr>
              <a:t>'TRANSPORT AND STORAGE’, </a:t>
            </a:r>
          </a:p>
          <a:p>
            <a:pPr algn="l"/>
            <a:r>
              <a:rPr lang="en-US" sz="1050" dirty="0">
                <a:effectLst/>
              </a:rPr>
              <a:t>'ACTION RELATING TO DEBT’, </a:t>
            </a:r>
          </a:p>
          <a:p>
            <a:pPr algn="l"/>
            <a:r>
              <a:rPr lang="en-US" sz="1050" dirty="0">
                <a:effectLst/>
              </a:rPr>
              <a:t>'AGRICULTURE, FORESTRY, FISHING’, </a:t>
            </a:r>
          </a:p>
          <a:p>
            <a:pPr algn="l"/>
            <a:r>
              <a:rPr lang="en-US" sz="1050" dirty="0">
                <a:effectLst/>
              </a:rPr>
              <a:t>'BANKING AND FINANCIAL SERVICES’, </a:t>
            </a:r>
          </a:p>
          <a:p>
            <a:pPr algn="l"/>
            <a:r>
              <a:rPr lang="en-US" sz="1050" dirty="0">
                <a:effectLst/>
              </a:rPr>
              <a:t>'INDUSTRY, MINING, CONSTRUCTION’, </a:t>
            </a:r>
          </a:p>
          <a:p>
            <a:pPr algn="l"/>
            <a:r>
              <a:rPr lang="en-US" sz="1050" dirty="0">
                <a:effectLst/>
              </a:rPr>
              <a:t>'EDUCATION’, </a:t>
            </a:r>
          </a:p>
          <a:p>
            <a:pPr algn="l"/>
            <a:r>
              <a:rPr lang="en-US" sz="1050" dirty="0">
                <a:effectLst/>
              </a:rPr>
              <a:t>'GENERAL BUDGET SUPPORT’, </a:t>
            </a:r>
          </a:p>
          <a:p>
            <a:pPr algn="l"/>
            <a:r>
              <a:rPr lang="en-US" sz="1050" dirty="0">
                <a:effectLst/>
              </a:rPr>
              <a:t>'COMMUNICATIONS’, </a:t>
            </a:r>
          </a:p>
          <a:p>
            <a:pPr algn="l"/>
            <a:r>
              <a:rPr lang="en-US" sz="1050" dirty="0">
                <a:effectLst/>
              </a:rPr>
              <a:t>'WATER SUPPLY AND SANITATION’, </a:t>
            </a:r>
          </a:p>
          <a:p>
            <a:pPr algn="l"/>
            <a:r>
              <a:rPr lang="en-US" sz="1050" dirty="0">
                <a:effectLst/>
              </a:rPr>
              <a:t>'TRADE POLICIES AND REGULATIONS’, </a:t>
            </a:r>
          </a:p>
          <a:p>
            <a:pPr algn="l"/>
            <a:r>
              <a:rPr lang="en-US" sz="1050" dirty="0">
                <a:effectLst/>
              </a:rPr>
              <a:t>'DEVELOPMENTAL FOOD AID</a:t>
            </a:r>
          </a:p>
          <a:p>
            <a:pPr algn="l"/>
            <a:r>
              <a:rPr lang="en-US" sz="1050" dirty="0">
                <a:effectLst/>
              </a:rPr>
              <a:t>'ENERGY'</a:t>
            </a:r>
          </a:p>
        </p:txBody>
      </p:sp>
    </p:spTree>
    <p:extLst>
      <p:ext uri="{BB962C8B-B14F-4D97-AF65-F5344CB8AC3E}">
        <p14:creationId xmlns:p14="http://schemas.microsoft.com/office/powerpoint/2010/main" val="24056354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 name="Graphic 58" descr="Neutral face with solid fill with solid fill">
            <a:extLst>
              <a:ext uri="{FF2B5EF4-FFF2-40B4-BE49-F238E27FC236}">
                <a16:creationId xmlns:a16="http://schemas.microsoft.com/office/drawing/2014/main" id="{E703A56B-0847-856D-AD2C-1ACF0205747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18112" y="4491468"/>
            <a:ext cx="338328" cy="338328"/>
          </a:xfrm>
          <a:prstGeom prst="rect">
            <a:avLst/>
          </a:prstGeom>
        </p:spPr>
      </p:pic>
      <p:grpSp>
        <p:nvGrpSpPr>
          <p:cNvPr id="44" name="Group 43">
            <a:extLst>
              <a:ext uri="{FF2B5EF4-FFF2-40B4-BE49-F238E27FC236}">
                <a16:creationId xmlns:a16="http://schemas.microsoft.com/office/drawing/2014/main" id="{8D7FF562-9F98-7F72-F6BB-C06D784ECE59}"/>
              </a:ext>
            </a:extLst>
          </p:cNvPr>
          <p:cNvGrpSpPr/>
          <p:nvPr/>
        </p:nvGrpSpPr>
        <p:grpSpPr>
          <a:xfrm>
            <a:off x="1647475" y="310765"/>
            <a:ext cx="8897051" cy="1082715"/>
            <a:chOff x="1601521" y="310765"/>
            <a:chExt cx="8897051" cy="1082715"/>
          </a:xfrm>
        </p:grpSpPr>
        <p:sp>
          <p:nvSpPr>
            <p:cNvPr id="2" name="TextBox 1">
              <a:extLst>
                <a:ext uri="{FF2B5EF4-FFF2-40B4-BE49-F238E27FC236}">
                  <a16:creationId xmlns:a16="http://schemas.microsoft.com/office/drawing/2014/main" id="{71D30951-F826-6F0E-54E4-A17C75D3E594}"/>
                </a:ext>
              </a:extLst>
            </p:cNvPr>
            <p:cNvSpPr txBox="1"/>
            <p:nvPr/>
          </p:nvSpPr>
          <p:spPr>
            <a:xfrm>
              <a:off x="2177223" y="310765"/>
              <a:ext cx="7745647" cy="769441"/>
            </a:xfrm>
            <a:prstGeom prst="rect">
              <a:avLst/>
            </a:prstGeom>
            <a:noFill/>
          </p:spPr>
          <p:txBody>
            <a:bodyPr wrap="none" rtlCol="0">
              <a:spAutoFit/>
            </a:bodyPr>
            <a:lstStyle/>
            <a:p>
              <a:pPr algn="ctr"/>
              <a:r>
                <a:rPr lang="en-US" sz="4400" b="1">
                  <a:latin typeface="Franklin Gothic Book" panose="020B0503020102020204" pitchFamily="34" charset="0"/>
                </a:rPr>
                <a:t>Why Generative AI (GAI) Matters</a:t>
              </a:r>
            </a:p>
          </p:txBody>
        </p:sp>
        <p:sp>
          <p:nvSpPr>
            <p:cNvPr id="3" name="TextBox 2">
              <a:extLst>
                <a:ext uri="{FF2B5EF4-FFF2-40B4-BE49-F238E27FC236}">
                  <a16:creationId xmlns:a16="http://schemas.microsoft.com/office/drawing/2014/main" id="{A9DD3422-98AA-CEF2-157B-CA6611ED083B}"/>
                </a:ext>
              </a:extLst>
            </p:cNvPr>
            <p:cNvSpPr txBox="1"/>
            <p:nvPr/>
          </p:nvSpPr>
          <p:spPr>
            <a:xfrm>
              <a:off x="1601521" y="1054926"/>
              <a:ext cx="8897051" cy="338554"/>
            </a:xfrm>
            <a:prstGeom prst="rect">
              <a:avLst/>
            </a:prstGeom>
            <a:noFill/>
          </p:spPr>
          <p:txBody>
            <a:bodyPr wrap="square" rtlCol="0">
              <a:spAutoFit/>
            </a:bodyPr>
            <a:lstStyle/>
            <a:p>
              <a:pPr algn="ctr"/>
              <a:r>
                <a:rPr lang="en-US" sz="1600" i="1">
                  <a:latin typeface="Franklin Gothic Book" panose="020B0503020102020204" pitchFamily="34" charset="0"/>
                </a:rPr>
                <a:t>Domain-specific AI models have been around a long time. How is GAI different?</a:t>
              </a:r>
            </a:p>
          </p:txBody>
        </p:sp>
      </p:grpSp>
      <p:sp>
        <p:nvSpPr>
          <p:cNvPr id="6" name="TextBox 5">
            <a:extLst>
              <a:ext uri="{FF2B5EF4-FFF2-40B4-BE49-F238E27FC236}">
                <a16:creationId xmlns:a16="http://schemas.microsoft.com/office/drawing/2014/main" id="{E5BD456B-5EB3-6112-7D12-677B7E9BBCDE}"/>
              </a:ext>
            </a:extLst>
          </p:cNvPr>
          <p:cNvSpPr txBox="1"/>
          <p:nvPr/>
        </p:nvSpPr>
        <p:spPr>
          <a:xfrm>
            <a:off x="3218112" y="1713528"/>
            <a:ext cx="3607559" cy="646331"/>
          </a:xfrm>
          <a:prstGeom prst="rect">
            <a:avLst/>
          </a:prstGeom>
          <a:noFill/>
        </p:spPr>
        <p:txBody>
          <a:bodyPr wrap="square" rtlCol="0">
            <a:spAutoFit/>
          </a:bodyPr>
          <a:lstStyle/>
          <a:p>
            <a:r>
              <a:rPr lang="en-US" sz="2000" b="1">
                <a:latin typeface="Franklin Gothic Book" panose="020B0503020102020204" pitchFamily="34" charset="0"/>
              </a:rPr>
              <a:t>SUPERVISED/TRAINED </a:t>
            </a:r>
          </a:p>
          <a:p>
            <a:r>
              <a:rPr lang="en-US" sz="1600" b="1">
                <a:latin typeface="Franklin Gothic Book" panose="020B0503020102020204" pitchFamily="34" charset="0"/>
              </a:rPr>
              <a:t>MACHINE LEARNING MODELS</a:t>
            </a:r>
            <a:endParaRPr lang="en-US" sz="1600">
              <a:latin typeface="Franklin Gothic Book" panose="020B0503020102020204" pitchFamily="34" charset="0"/>
            </a:endParaRPr>
          </a:p>
        </p:txBody>
      </p:sp>
      <p:sp>
        <p:nvSpPr>
          <p:cNvPr id="7" name="TextBox 6">
            <a:extLst>
              <a:ext uri="{FF2B5EF4-FFF2-40B4-BE49-F238E27FC236}">
                <a16:creationId xmlns:a16="http://schemas.microsoft.com/office/drawing/2014/main" id="{45CEA403-2875-560F-2D05-4347A0A5213E}"/>
              </a:ext>
            </a:extLst>
          </p:cNvPr>
          <p:cNvSpPr txBox="1"/>
          <p:nvPr/>
        </p:nvSpPr>
        <p:spPr>
          <a:xfrm>
            <a:off x="6979501" y="1703636"/>
            <a:ext cx="3831568" cy="646331"/>
          </a:xfrm>
          <a:prstGeom prst="rect">
            <a:avLst/>
          </a:prstGeom>
          <a:noFill/>
        </p:spPr>
        <p:txBody>
          <a:bodyPr wrap="square" rtlCol="0">
            <a:spAutoFit/>
          </a:bodyPr>
          <a:lstStyle/>
          <a:p>
            <a:r>
              <a:rPr lang="en-US" sz="2000" b="1">
                <a:latin typeface="Franklin Gothic Book" panose="020B0503020102020204" pitchFamily="34" charset="0"/>
              </a:rPr>
              <a:t>PROMPT AGAINST GENERAL </a:t>
            </a:r>
          </a:p>
          <a:p>
            <a:r>
              <a:rPr lang="en-US" sz="1600" b="1">
                <a:latin typeface="Franklin Gothic Book" panose="020B0503020102020204" pitchFamily="34" charset="0"/>
              </a:rPr>
              <a:t>LARGE LANGUAGE MODELS (GAI) </a:t>
            </a:r>
            <a:endParaRPr lang="en-US" sz="1200">
              <a:latin typeface="Franklin Gothic Book" panose="020B0503020102020204" pitchFamily="34" charset="0"/>
            </a:endParaRPr>
          </a:p>
        </p:txBody>
      </p:sp>
      <p:sp>
        <p:nvSpPr>
          <p:cNvPr id="8" name="TextBox 7">
            <a:extLst>
              <a:ext uri="{FF2B5EF4-FFF2-40B4-BE49-F238E27FC236}">
                <a16:creationId xmlns:a16="http://schemas.microsoft.com/office/drawing/2014/main" id="{B89299CF-8D9C-F398-C49F-ABD028478F97}"/>
              </a:ext>
            </a:extLst>
          </p:cNvPr>
          <p:cNvSpPr txBox="1"/>
          <p:nvPr/>
        </p:nvSpPr>
        <p:spPr>
          <a:xfrm>
            <a:off x="1192316" y="2583377"/>
            <a:ext cx="1529433" cy="400110"/>
          </a:xfrm>
          <a:prstGeom prst="rect">
            <a:avLst/>
          </a:prstGeom>
          <a:noFill/>
        </p:spPr>
        <p:txBody>
          <a:bodyPr wrap="square" rtlCol="0">
            <a:spAutoFit/>
          </a:bodyPr>
          <a:lstStyle/>
          <a:p>
            <a:r>
              <a:rPr lang="en-US" sz="2000" b="1">
                <a:latin typeface="Franklin Gothic Book" panose="020B0503020102020204" pitchFamily="34" charset="0"/>
              </a:rPr>
              <a:t>Build Time</a:t>
            </a:r>
          </a:p>
        </p:txBody>
      </p:sp>
      <p:sp>
        <p:nvSpPr>
          <p:cNvPr id="13" name="TextBox 12">
            <a:extLst>
              <a:ext uri="{FF2B5EF4-FFF2-40B4-BE49-F238E27FC236}">
                <a16:creationId xmlns:a16="http://schemas.microsoft.com/office/drawing/2014/main" id="{1059D511-FF50-2777-955E-A322DD02675B}"/>
              </a:ext>
            </a:extLst>
          </p:cNvPr>
          <p:cNvSpPr txBox="1"/>
          <p:nvPr/>
        </p:nvSpPr>
        <p:spPr>
          <a:xfrm>
            <a:off x="3646777" y="2614155"/>
            <a:ext cx="1714250" cy="338554"/>
          </a:xfrm>
          <a:prstGeom prst="rect">
            <a:avLst/>
          </a:prstGeom>
          <a:noFill/>
        </p:spPr>
        <p:txBody>
          <a:bodyPr wrap="square" rtlCol="0">
            <a:spAutoFit/>
          </a:bodyPr>
          <a:lstStyle/>
          <a:p>
            <a:r>
              <a:rPr lang="en-US" sz="1600">
                <a:latin typeface="Franklin Gothic Book" panose="020B0503020102020204" pitchFamily="34" charset="0"/>
              </a:rPr>
              <a:t>6 MONTHS </a:t>
            </a:r>
          </a:p>
        </p:txBody>
      </p:sp>
      <p:sp>
        <p:nvSpPr>
          <p:cNvPr id="14" name="TextBox 13">
            <a:extLst>
              <a:ext uri="{FF2B5EF4-FFF2-40B4-BE49-F238E27FC236}">
                <a16:creationId xmlns:a16="http://schemas.microsoft.com/office/drawing/2014/main" id="{5F72947F-219D-52E4-36BD-CF41D9EA2EA7}"/>
              </a:ext>
            </a:extLst>
          </p:cNvPr>
          <p:cNvSpPr txBox="1"/>
          <p:nvPr/>
        </p:nvSpPr>
        <p:spPr>
          <a:xfrm>
            <a:off x="7406658" y="2614155"/>
            <a:ext cx="1714250" cy="338554"/>
          </a:xfrm>
          <a:prstGeom prst="rect">
            <a:avLst/>
          </a:prstGeom>
          <a:noFill/>
        </p:spPr>
        <p:txBody>
          <a:bodyPr wrap="square" rtlCol="0">
            <a:spAutoFit/>
          </a:bodyPr>
          <a:lstStyle/>
          <a:p>
            <a:r>
              <a:rPr lang="en-US" sz="1600">
                <a:latin typeface="Franklin Gothic Book" panose="020B0503020102020204" pitchFamily="34" charset="0"/>
              </a:rPr>
              <a:t>1 HOUR</a:t>
            </a:r>
          </a:p>
        </p:txBody>
      </p:sp>
      <p:pic>
        <p:nvPicPr>
          <p:cNvPr id="27" name="Graphic 26" descr="Smiling face with solid fill with solid fill">
            <a:extLst>
              <a:ext uri="{FF2B5EF4-FFF2-40B4-BE49-F238E27FC236}">
                <a16:creationId xmlns:a16="http://schemas.microsoft.com/office/drawing/2014/main" id="{5165F42E-0E22-D76C-5D4B-60636A2DAC8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79501" y="2614155"/>
            <a:ext cx="338554" cy="338554"/>
          </a:xfrm>
          <a:prstGeom prst="rect">
            <a:avLst/>
          </a:prstGeom>
        </p:spPr>
      </p:pic>
      <p:pic>
        <p:nvPicPr>
          <p:cNvPr id="30" name="Graphic 29" descr="Sad face with solid fill with solid fill">
            <a:extLst>
              <a:ext uri="{FF2B5EF4-FFF2-40B4-BE49-F238E27FC236}">
                <a16:creationId xmlns:a16="http://schemas.microsoft.com/office/drawing/2014/main" id="{C415266E-1693-E949-6CD5-A5440476869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218112" y="2614268"/>
            <a:ext cx="338328" cy="338328"/>
          </a:xfrm>
          <a:prstGeom prst="rect">
            <a:avLst/>
          </a:prstGeom>
        </p:spPr>
      </p:pic>
      <p:sp>
        <p:nvSpPr>
          <p:cNvPr id="15" name="TextBox 14">
            <a:extLst>
              <a:ext uri="{FF2B5EF4-FFF2-40B4-BE49-F238E27FC236}">
                <a16:creationId xmlns:a16="http://schemas.microsoft.com/office/drawing/2014/main" id="{EA35833A-AA8F-958D-F7EE-F28A2AFCD9EF}"/>
              </a:ext>
            </a:extLst>
          </p:cNvPr>
          <p:cNvSpPr txBox="1"/>
          <p:nvPr/>
        </p:nvSpPr>
        <p:spPr>
          <a:xfrm>
            <a:off x="3646777" y="3083455"/>
            <a:ext cx="1714250" cy="338554"/>
          </a:xfrm>
          <a:prstGeom prst="rect">
            <a:avLst/>
          </a:prstGeom>
          <a:noFill/>
        </p:spPr>
        <p:txBody>
          <a:bodyPr wrap="square" rtlCol="0">
            <a:spAutoFit/>
          </a:bodyPr>
          <a:lstStyle/>
          <a:p>
            <a:r>
              <a:rPr lang="en-US" sz="1600">
                <a:latin typeface="Franklin Gothic Book" panose="020B0503020102020204" pitchFamily="34" charset="0"/>
              </a:rPr>
              <a:t>$10000s </a:t>
            </a:r>
          </a:p>
        </p:txBody>
      </p:sp>
      <p:sp>
        <p:nvSpPr>
          <p:cNvPr id="16" name="TextBox 15">
            <a:extLst>
              <a:ext uri="{FF2B5EF4-FFF2-40B4-BE49-F238E27FC236}">
                <a16:creationId xmlns:a16="http://schemas.microsoft.com/office/drawing/2014/main" id="{4A2B0968-F840-BDE9-1CB1-0C97158989B9}"/>
              </a:ext>
            </a:extLst>
          </p:cNvPr>
          <p:cNvSpPr txBox="1"/>
          <p:nvPr/>
        </p:nvSpPr>
        <p:spPr>
          <a:xfrm>
            <a:off x="7406658" y="3083455"/>
            <a:ext cx="1714250" cy="338554"/>
          </a:xfrm>
          <a:prstGeom prst="rect">
            <a:avLst/>
          </a:prstGeom>
          <a:noFill/>
        </p:spPr>
        <p:txBody>
          <a:bodyPr wrap="square" rtlCol="0">
            <a:spAutoFit/>
          </a:bodyPr>
          <a:lstStyle/>
          <a:p>
            <a:r>
              <a:rPr lang="en-US" sz="1600">
                <a:latin typeface="Franklin Gothic Book" panose="020B0503020102020204" pitchFamily="34" charset="0"/>
              </a:rPr>
              <a:t>$1s</a:t>
            </a:r>
          </a:p>
        </p:txBody>
      </p:sp>
      <p:sp>
        <p:nvSpPr>
          <p:cNvPr id="19" name="TextBox 18">
            <a:extLst>
              <a:ext uri="{FF2B5EF4-FFF2-40B4-BE49-F238E27FC236}">
                <a16:creationId xmlns:a16="http://schemas.microsoft.com/office/drawing/2014/main" id="{15949491-A651-F777-DD3B-2EBDB57DAB6A}"/>
              </a:ext>
            </a:extLst>
          </p:cNvPr>
          <p:cNvSpPr txBox="1"/>
          <p:nvPr/>
        </p:nvSpPr>
        <p:spPr>
          <a:xfrm>
            <a:off x="1192316" y="3052677"/>
            <a:ext cx="1351691" cy="400110"/>
          </a:xfrm>
          <a:prstGeom prst="rect">
            <a:avLst/>
          </a:prstGeom>
          <a:noFill/>
        </p:spPr>
        <p:txBody>
          <a:bodyPr wrap="square" rtlCol="0">
            <a:spAutoFit/>
          </a:bodyPr>
          <a:lstStyle/>
          <a:p>
            <a:r>
              <a:rPr lang="en-US" sz="2000" b="1">
                <a:latin typeface="Franklin Gothic Book" panose="020B0503020102020204" pitchFamily="34" charset="0"/>
              </a:rPr>
              <a:t>Build Cost</a:t>
            </a:r>
          </a:p>
        </p:txBody>
      </p:sp>
      <p:pic>
        <p:nvPicPr>
          <p:cNvPr id="31" name="Graphic 30" descr="Smiling face with solid fill with solid fill">
            <a:extLst>
              <a:ext uri="{FF2B5EF4-FFF2-40B4-BE49-F238E27FC236}">
                <a16:creationId xmlns:a16="http://schemas.microsoft.com/office/drawing/2014/main" id="{1B21172E-2C6A-A705-D60C-0597C221BAE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79501" y="3083455"/>
            <a:ext cx="338554" cy="338554"/>
          </a:xfrm>
          <a:prstGeom prst="rect">
            <a:avLst/>
          </a:prstGeom>
        </p:spPr>
      </p:pic>
      <p:pic>
        <p:nvPicPr>
          <p:cNvPr id="33" name="Graphic 32" descr="Sad face with solid fill with solid fill">
            <a:extLst>
              <a:ext uri="{FF2B5EF4-FFF2-40B4-BE49-F238E27FC236}">
                <a16:creationId xmlns:a16="http://schemas.microsoft.com/office/drawing/2014/main" id="{046600C0-D81E-FACE-5E47-9347F0D84CB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218112" y="3083568"/>
            <a:ext cx="338328" cy="338328"/>
          </a:xfrm>
          <a:prstGeom prst="rect">
            <a:avLst/>
          </a:prstGeom>
        </p:spPr>
      </p:pic>
      <p:sp>
        <p:nvSpPr>
          <p:cNvPr id="9" name="TextBox 8">
            <a:extLst>
              <a:ext uri="{FF2B5EF4-FFF2-40B4-BE49-F238E27FC236}">
                <a16:creationId xmlns:a16="http://schemas.microsoft.com/office/drawing/2014/main" id="{2A88B984-76E2-B1AB-1557-F417355B12CA}"/>
              </a:ext>
            </a:extLst>
          </p:cNvPr>
          <p:cNvSpPr txBox="1"/>
          <p:nvPr/>
        </p:nvSpPr>
        <p:spPr>
          <a:xfrm>
            <a:off x="1192316" y="3521977"/>
            <a:ext cx="1438200" cy="400110"/>
          </a:xfrm>
          <a:prstGeom prst="rect">
            <a:avLst/>
          </a:prstGeom>
          <a:noFill/>
        </p:spPr>
        <p:txBody>
          <a:bodyPr wrap="square" rtlCol="0">
            <a:spAutoFit/>
          </a:bodyPr>
          <a:lstStyle/>
          <a:p>
            <a:r>
              <a:rPr lang="en-US" sz="2000" b="1">
                <a:latin typeface="Franklin Gothic Book" panose="020B0503020102020204" pitchFamily="34" charset="0"/>
              </a:rPr>
              <a:t>Run Cost</a:t>
            </a:r>
          </a:p>
        </p:txBody>
      </p:sp>
      <p:sp>
        <p:nvSpPr>
          <p:cNvPr id="17" name="TextBox 16">
            <a:extLst>
              <a:ext uri="{FF2B5EF4-FFF2-40B4-BE49-F238E27FC236}">
                <a16:creationId xmlns:a16="http://schemas.microsoft.com/office/drawing/2014/main" id="{AECE0C8C-5D89-2E8D-BF77-BB8B3B558172}"/>
              </a:ext>
            </a:extLst>
          </p:cNvPr>
          <p:cNvSpPr txBox="1"/>
          <p:nvPr/>
        </p:nvSpPr>
        <p:spPr>
          <a:xfrm>
            <a:off x="3646777" y="3552755"/>
            <a:ext cx="1234323" cy="338554"/>
          </a:xfrm>
          <a:prstGeom prst="rect">
            <a:avLst/>
          </a:prstGeom>
          <a:noFill/>
        </p:spPr>
        <p:txBody>
          <a:bodyPr wrap="square" rtlCol="0">
            <a:spAutoFit/>
          </a:bodyPr>
          <a:lstStyle/>
          <a:p>
            <a:r>
              <a:rPr lang="en-US" sz="1600">
                <a:latin typeface="Franklin Gothic Book" panose="020B0503020102020204" pitchFamily="34" charset="0"/>
              </a:rPr>
              <a:t>$0</a:t>
            </a:r>
          </a:p>
        </p:txBody>
      </p:sp>
      <p:sp>
        <p:nvSpPr>
          <p:cNvPr id="18" name="TextBox 17">
            <a:extLst>
              <a:ext uri="{FF2B5EF4-FFF2-40B4-BE49-F238E27FC236}">
                <a16:creationId xmlns:a16="http://schemas.microsoft.com/office/drawing/2014/main" id="{38374228-D6EC-A12F-02D1-31EE1983CED4}"/>
              </a:ext>
            </a:extLst>
          </p:cNvPr>
          <p:cNvSpPr txBox="1"/>
          <p:nvPr/>
        </p:nvSpPr>
        <p:spPr>
          <a:xfrm>
            <a:off x="7406658" y="3552755"/>
            <a:ext cx="2767700" cy="338554"/>
          </a:xfrm>
          <a:prstGeom prst="rect">
            <a:avLst/>
          </a:prstGeom>
          <a:noFill/>
        </p:spPr>
        <p:txBody>
          <a:bodyPr wrap="square" rtlCol="0">
            <a:spAutoFit/>
          </a:bodyPr>
          <a:lstStyle/>
          <a:p>
            <a:r>
              <a:rPr lang="en-US" sz="1600">
                <a:latin typeface="Franklin Gothic Book" panose="020B0503020102020204" pitchFamily="34" charset="0"/>
              </a:rPr>
              <a:t>$100s (decreasing quickly)</a:t>
            </a:r>
          </a:p>
        </p:txBody>
      </p:sp>
      <p:pic>
        <p:nvPicPr>
          <p:cNvPr id="32" name="Graphic 31" descr="Smiling face with solid fill with solid fill">
            <a:extLst>
              <a:ext uri="{FF2B5EF4-FFF2-40B4-BE49-F238E27FC236}">
                <a16:creationId xmlns:a16="http://schemas.microsoft.com/office/drawing/2014/main" id="{0F97CBC2-6F66-1488-BA55-DF6294DA357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217999" y="3552755"/>
            <a:ext cx="338554" cy="338554"/>
          </a:xfrm>
          <a:prstGeom prst="rect">
            <a:avLst/>
          </a:prstGeom>
        </p:spPr>
      </p:pic>
      <p:pic>
        <p:nvPicPr>
          <p:cNvPr id="37" name="Graphic 36" descr="Sad face with solid fill with solid fill">
            <a:extLst>
              <a:ext uri="{FF2B5EF4-FFF2-40B4-BE49-F238E27FC236}">
                <a16:creationId xmlns:a16="http://schemas.microsoft.com/office/drawing/2014/main" id="{28A78B45-05DA-0DDB-6088-2337CA3D10E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79727" y="3552868"/>
            <a:ext cx="338328" cy="338328"/>
          </a:xfrm>
          <a:prstGeom prst="rect">
            <a:avLst/>
          </a:prstGeom>
        </p:spPr>
      </p:pic>
      <p:sp>
        <p:nvSpPr>
          <p:cNvPr id="10" name="TextBox 9">
            <a:extLst>
              <a:ext uri="{FF2B5EF4-FFF2-40B4-BE49-F238E27FC236}">
                <a16:creationId xmlns:a16="http://schemas.microsoft.com/office/drawing/2014/main" id="{2EEDD5A7-62DE-D4D2-E411-F3BF80F788F4}"/>
              </a:ext>
            </a:extLst>
          </p:cNvPr>
          <p:cNvSpPr txBox="1"/>
          <p:nvPr/>
        </p:nvSpPr>
        <p:spPr>
          <a:xfrm>
            <a:off x="1192316" y="3991277"/>
            <a:ext cx="1529433" cy="400110"/>
          </a:xfrm>
          <a:prstGeom prst="rect">
            <a:avLst/>
          </a:prstGeom>
          <a:noFill/>
        </p:spPr>
        <p:txBody>
          <a:bodyPr wrap="square" rtlCol="0">
            <a:spAutoFit/>
          </a:bodyPr>
          <a:lstStyle/>
          <a:p>
            <a:r>
              <a:rPr lang="en-US" sz="2000" b="1">
                <a:latin typeface="Franklin Gothic Book" panose="020B0503020102020204" pitchFamily="34" charset="0"/>
              </a:rPr>
              <a:t>Mod Agility</a:t>
            </a:r>
          </a:p>
        </p:txBody>
      </p:sp>
      <p:sp>
        <p:nvSpPr>
          <p:cNvPr id="20" name="TextBox 19">
            <a:extLst>
              <a:ext uri="{FF2B5EF4-FFF2-40B4-BE49-F238E27FC236}">
                <a16:creationId xmlns:a16="http://schemas.microsoft.com/office/drawing/2014/main" id="{923F776F-E9E0-AC36-1A44-1B1C86DC22D5}"/>
              </a:ext>
            </a:extLst>
          </p:cNvPr>
          <p:cNvSpPr txBox="1"/>
          <p:nvPr/>
        </p:nvSpPr>
        <p:spPr>
          <a:xfrm>
            <a:off x="3646777" y="4022055"/>
            <a:ext cx="2479238" cy="338554"/>
          </a:xfrm>
          <a:prstGeom prst="rect">
            <a:avLst/>
          </a:prstGeom>
          <a:noFill/>
        </p:spPr>
        <p:txBody>
          <a:bodyPr wrap="square" rtlCol="0">
            <a:spAutoFit/>
          </a:bodyPr>
          <a:lstStyle/>
          <a:p>
            <a:r>
              <a:rPr lang="en-US" sz="1600">
                <a:latin typeface="Franklin Gothic Book" panose="020B0503020102020204" pitchFamily="34" charset="0"/>
              </a:rPr>
              <a:t>Delayed, rigid</a:t>
            </a:r>
          </a:p>
        </p:txBody>
      </p:sp>
      <p:sp>
        <p:nvSpPr>
          <p:cNvPr id="21" name="TextBox 20">
            <a:extLst>
              <a:ext uri="{FF2B5EF4-FFF2-40B4-BE49-F238E27FC236}">
                <a16:creationId xmlns:a16="http://schemas.microsoft.com/office/drawing/2014/main" id="{A5296611-6B5E-38D3-A2F3-6CA74F153696}"/>
              </a:ext>
            </a:extLst>
          </p:cNvPr>
          <p:cNvSpPr txBox="1"/>
          <p:nvPr/>
        </p:nvSpPr>
        <p:spPr>
          <a:xfrm>
            <a:off x="7406658" y="4022055"/>
            <a:ext cx="2479238" cy="338554"/>
          </a:xfrm>
          <a:prstGeom prst="rect">
            <a:avLst/>
          </a:prstGeom>
          <a:noFill/>
        </p:spPr>
        <p:txBody>
          <a:bodyPr wrap="square" rtlCol="0">
            <a:spAutoFit/>
          </a:bodyPr>
          <a:lstStyle/>
          <a:p>
            <a:r>
              <a:rPr lang="en-US" sz="1600">
                <a:latin typeface="Franklin Gothic Book" panose="020B0503020102020204" pitchFamily="34" charset="0"/>
              </a:rPr>
              <a:t>Immediate, flexible</a:t>
            </a:r>
          </a:p>
        </p:txBody>
      </p:sp>
      <p:pic>
        <p:nvPicPr>
          <p:cNvPr id="34" name="Graphic 33" descr="Sad face with solid fill with solid fill">
            <a:extLst>
              <a:ext uri="{FF2B5EF4-FFF2-40B4-BE49-F238E27FC236}">
                <a16:creationId xmlns:a16="http://schemas.microsoft.com/office/drawing/2014/main" id="{25430D92-3383-5BF9-FCE0-48E2EE26A32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218112" y="4022168"/>
            <a:ext cx="338328" cy="338328"/>
          </a:xfrm>
          <a:prstGeom prst="rect">
            <a:avLst/>
          </a:prstGeom>
        </p:spPr>
      </p:pic>
      <p:pic>
        <p:nvPicPr>
          <p:cNvPr id="38" name="Graphic 37" descr="Smiling face with solid fill with solid fill">
            <a:extLst>
              <a:ext uri="{FF2B5EF4-FFF2-40B4-BE49-F238E27FC236}">
                <a16:creationId xmlns:a16="http://schemas.microsoft.com/office/drawing/2014/main" id="{EA10A81E-741D-FD8B-3AFE-E962E52077B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79501" y="4022055"/>
            <a:ext cx="338554" cy="338554"/>
          </a:xfrm>
          <a:prstGeom prst="rect">
            <a:avLst/>
          </a:prstGeom>
        </p:spPr>
      </p:pic>
      <p:sp>
        <p:nvSpPr>
          <p:cNvPr id="11" name="TextBox 10">
            <a:extLst>
              <a:ext uri="{FF2B5EF4-FFF2-40B4-BE49-F238E27FC236}">
                <a16:creationId xmlns:a16="http://schemas.microsoft.com/office/drawing/2014/main" id="{59DEB532-10EE-4F4E-C3F9-73A7D3445412}"/>
              </a:ext>
            </a:extLst>
          </p:cNvPr>
          <p:cNvSpPr txBox="1"/>
          <p:nvPr/>
        </p:nvSpPr>
        <p:spPr>
          <a:xfrm>
            <a:off x="1192316" y="4460577"/>
            <a:ext cx="1598792" cy="400110"/>
          </a:xfrm>
          <a:prstGeom prst="rect">
            <a:avLst/>
          </a:prstGeom>
          <a:noFill/>
        </p:spPr>
        <p:txBody>
          <a:bodyPr wrap="square" rtlCol="0">
            <a:spAutoFit/>
          </a:bodyPr>
          <a:lstStyle/>
          <a:p>
            <a:r>
              <a:rPr lang="en-US" sz="2000" b="1">
                <a:latin typeface="Franklin Gothic Book" panose="020B0503020102020204" pitchFamily="34" charset="0"/>
              </a:rPr>
              <a:t>Performance</a:t>
            </a:r>
          </a:p>
        </p:txBody>
      </p:sp>
      <p:sp>
        <p:nvSpPr>
          <p:cNvPr id="22" name="TextBox 21">
            <a:extLst>
              <a:ext uri="{FF2B5EF4-FFF2-40B4-BE49-F238E27FC236}">
                <a16:creationId xmlns:a16="http://schemas.microsoft.com/office/drawing/2014/main" id="{CD0510D6-A48F-FF48-1B1E-A5BF8A9CA074}"/>
              </a:ext>
            </a:extLst>
          </p:cNvPr>
          <p:cNvSpPr txBox="1"/>
          <p:nvPr/>
        </p:nvSpPr>
        <p:spPr>
          <a:xfrm>
            <a:off x="3646776" y="4491355"/>
            <a:ext cx="2744787" cy="338554"/>
          </a:xfrm>
          <a:prstGeom prst="rect">
            <a:avLst/>
          </a:prstGeom>
          <a:noFill/>
        </p:spPr>
        <p:txBody>
          <a:bodyPr wrap="square" rtlCol="0">
            <a:spAutoFit/>
          </a:bodyPr>
          <a:lstStyle/>
          <a:p>
            <a:r>
              <a:rPr lang="en-US" sz="1600">
                <a:latin typeface="Franklin Gothic Book" panose="020B0503020102020204" pitchFamily="34" charset="0"/>
              </a:rPr>
              <a:t>Pretty good for specific task</a:t>
            </a:r>
          </a:p>
        </p:txBody>
      </p:sp>
      <p:sp>
        <p:nvSpPr>
          <p:cNvPr id="23" name="TextBox 22">
            <a:extLst>
              <a:ext uri="{FF2B5EF4-FFF2-40B4-BE49-F238E27FC236}">
                <a16:creationId xmlns:a16="http://schemas.microsoft.com/office/drawing/2014/main" id="{77AB4FAD-85A0-F3F1-E1CE-210EB31E5A86}"/>
              </a:ext>
            </a:extLst>
          </p:cNvPr>
          <p:cNvSpPr txBox="1"/>
          <p:nvPr/>
        </p:nvSpPr>
        <p:spPr>
          <a:xfrm>
            <a:off x="7406658" y="4491355"/>
            <a:ext cx="2479238" cy="338554"/>
          </a:xfrm>
          <a:prstGeom prst="rect">
            <a:avLst/>
          </a:prstGeom>
          <a:noFill/>
        </p:spPr>
        <p:txBody>
          <a:bodyPr wrap="square" rtlCol="0">
            <a:spAutoFit/>
          </a:bodyPr>
          <a:lstStyle/>
          <a:p>
            <a:r>
              <a:rPr lang="en-US" sz="1600">
                <a:latin typeface="Franklin Gothic Book" panose="020B0503020102020204" pitchFamily="34" charset="0"/>
              </a:rPr>
              <a:t>Really good for many tasks</a:t>
            </a:r>
          </a:p>
        </p:txBody>
      </p:sp>
      <p:pic>
        <p:nvPicPr>
          <p:cNvPr id="39" name="Graphic 38" descr="Smiling face with solid fill with solid fill">
            <a:extLst>
              <a:ext uri="{FF2B5EF4-FFF2-40B4-BE49-F238E27FC236}">
                <a16:creationId xmlns:a16="http://schemas.microsoft.com/office/drawing/2014/main" id="{CA9D2095-9C99-E1E1-E534-F701D543E40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79501" y="4491355"/>
            <a:ext cx="338554" cy="338554"/>
          </a:xfrm>
          <a:prstGeom prst="rect">
            <a:avLst/>
          </a:prstGeom>
        </p:spPr>
      </p:pic>
      <p:sp>
        <p:nvSpPr>
          <p:cNvPr id="12" name="TextBox 11">
            <a:extLst>
              <a:ext uri="{FF2B5EF4-FFF2-40B4-BE49-F238E27FC236}">
                <a16:creationId xmlns:a16="http://schemas.microsoft.com/office/drawing/2014/main" id="{F133EC3F-A72C-D79E-6E24-77CC816D70E4}"/>
              </a:ext>
            </a:extLst>
          </p:cNvPr>
          <p:cNvSpPr txBox="1"/>
          <p:nvPr/>
        </p:nvSpPr>
        <p:spPr>
          <a:xfrm>
            <a:off x="1192316" y="4929877"/>
            <a:ext cx="1598792" cy="400110"/>
          </a:xfrm>
          <a:prstGeom prst="rect">
            <a:avLst/>
          </a:prstGeom>
          <a:noFill/>
        </p:spPr>
        <p:txBody>
          <a:bodyPr wrap="square" rtlCol="0">
            <a:spAutoFit/>
          </a:bodyPr>
          <a:lstStyle/>
          <a:p>
            <a:r>
              <a:rPr lang="en-US" sz="2000" b="1">
                <a:latin typeface="Franklin Gothic Book" panose="020B0503020102020204" pitchFamily="34" charset="0"/>
              </a:rPr>
              <a:t>Use Difficulty</a:t>
            </a:r>
          </a:p>
        </p:txBody>
      </p:sp>
      <p:sp>
        <p:nvSpPr>
          <p:cNvPr id="24" name="TextBox 23">
            <a:extLst>
              <a:ext uri="{FF2B5EF4-FFF2-40B4-BE49-F238E27FC236}">
                <a16:creationId xmlns:a16="http://schemas.microsoft.com/office/drawing/2014/main" id="{E5C07452-728B-F604-40B2-75125FE77E41}"/>
              </a:ext>
            </a:extLst>
          </p:cNvPr>
          <p:cNvSpPr txBox="1"/>
          <p:nvPr/>
        </p:nvSpPr>
        <p:spPr>
          <a:xfrm>
            <a:off x="3646777" y="4960655"/>
            <a:ext cx="2479238" cy="338554"/>
          </a:xfrm>
          <a:prstGeom prst="rect">
            <a:avLst/>
          </a:prstGeom>
          <a:noFill/>
        </p:spPr>
        <p:txBody>
          <a:bodyPr wrap="square" rtlCol="0">
            <a:spAutoFit/>
          </a:bodyPr>
          <a:lstStyle/>
          <a:p>
            <a:r>
              <a:rPr lang="en-US" sz="1600">
                <a:latin typeface="Franklin Gothic Book" panose="020B0503020102020204" pitchFamily="34" charset="0"/>
              </a:rPr>
              <a:t>Data engineer/scientist</a:t>
            </a:r>
          </a:p>
        </p:txBody>
      </p:sp>
      <p:sp>
        <p:nvSpPr>
          <p:cNvPr id="25" name="TextBox 24">
            <a:extLst>
              <a:ext uri="{FF2B5EF4-FFF2-40B4-BE49-F238E27FC236}">
                <a16:creationId xmlns:a16="http://schemas.microsoft.com/office/drawing/2014/main" id="{C77B667E-22EC-A29E-58D2-6E00F2091F9F}"/>
              </a:ext>
            </a:extLst>
          </p:cNvPr>
          <p:cNvSpPr txBox="1"/>
          <p:nvPr/>
        </p:nvSpPr>
        <p:spPr>
          <a:xfrm>
            <a:off x="7406658" y="4960655"/>
            <a:ext cx="3165803" cy="338554"/>
          </a:xfrm>
          <a:prstGeom prst="rect">
            <a:avLst/>
          </a:prstGeom>
          <a:noFill/>
        </p:spPr>
        <p:txBody>
          <a:bodyPr wrap="square" rtlCol="0">
            <a:spAutoFit/>
          </a:bodyPr>
          <a:lstStyle/>
          <a:p>
            <a:r>
              <a:rPr lang="en-US" sz="1600">
                <a:latin typeface="Franklin Gothic Book" panose="020B0503020102020204" pitchFamily="34" charset="0"/>
              </a:rPr>
              <a:t>Anyone who can type (and think)</a:t>
            </a:r>
          </a:p>
        </p:txBody>
      </p:sp>
      <p:pic>
        <p:nvPicPr>
          <p:cNvPr id="36" name="Graphic 35" descr="Sad face with solid fill with solid fill">
            <a:extLst>
              <a:ext uri="{FF2B5EF4-FFF2-40B4-BE49-F238E27FC236}">
                <a16:creationId xmlns:a16="http://schemas.microsoft.com/office/drawing/2014/main" id="{46F28E03-E203-14D3-014B-1231C800D82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218112" y="4960768"/>
            <a:ext cx="338328" cy="338328"/>
          </a:xfrm>
          <a:prstGeom prst="rect">
            <a:avLst/>
          </a:prstGeom>
        </p:spPr>
      </p:pic>
      <p:pic>
        <p:nvPicPr>
          <p:cNvPr id="40" name="Graphic 39" descr="Smiling face with solid fill with solid fill">
            <a:extLst>
              <a:ext uri="{FF2B5EF4-FFF2-40B4-BE49-F238E27FC236}">
                <a16:creationId xmlns:a16="http://schemas.microsoft.com/office/drawing/2014/main" id="{93DEBA0A-9070-9796-4684-BEBC7914F55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79501" y="4960655"/>
            <a:ext cx="338554" cy="338554"/>
          </a:xfrm>
          <a:prstGeom prst="rect">
            <a:avLst/>
          </a:prstGeom>
        </p:spPr>
      </p:pic>
      <p:sp>
        <p:nvSpPr>
          <p:cNvPr id="41" name="TextBox 40">
            <a:extLst>
              <a:ext uri="{FF2B5EF4-FFF2-40B4-BE49-F238E27FC236}">
                <a16:creationId xmlns:a16="http://schemas.microsoft.com/office/drawing/2014/main" id="{F42DF207-C5B2-06FA-A1F8-87C13A144735}"/>
              </a:ext>
            </a:extLst>
          </p:cNvPr>
          <p:cNvSpPr txBox="1"/>
          <p:nvPr/>
        </p:nvSpPr>
        <p:spPr>
          <a:xfrm>
            <a:off x="1192316" y="5399174"/>
            <a:ext cx="1598792" cy="400110"/>
          </a:xfrm>
          <a:prstGeom prst="rect">
            <a:avLst/>
          </a:prstGeom>
          <a:noFill/>
        </p:spPr>
        <p:txBody>
          <a:bodyPr wrap="square" rtlCol="0">
            <a:spAutoFit/>
          </a:bodyPr>
          <a:lstStyle/>
          <a:p>
            <a:r>
              <a:rPr lang="en-US" sz="2000" b="1">
                <a:latin typeface="Franklin Gothic Book" panose="020B0503020102020204" pitchFamily="34" charset="0"/>
              </a:rPr>
              <a:t>User Rating</a:t>
            </a:r>
          </a:p>
        </p:txBody>
      </p:sp>
      <p:sp>
        <p:nvSpPr>
          <p:cNvPr id="42" name="TextBox 41">
            <a:extLst>
              <a:ext uri="{FF2B5EF4-FFF2-40B4-BE49-F238E27FC236}">
                <a16:creationId xmlns:a16="http://schemas.microsoft.com/office/drawing/2014/main" id="{FF9B6600-CE2F-154F-CB65-429993D7528A}"/>
              </a:ext>
            </a:extLst>
          </p:cNvPr>
          <p:cNvSpPr txBox="1"/>
          <p:nvPr/>
        </p:nvSpPr>
        <p:spPr>
          <a:xfrm>
            <a:off x="3646776" y="5399174"/>
            <a:ext cx="3178895" cy="830997"/>
          </a:xfrm>
          <a:prstGeom prst="rect">
            <a:avLst/>
          </a:prstGeom>
          <a:noFill/>
        </p:spPr>
        <p:txBody>
          <a:bodyPr wrap="square" rtlCol="0">
            <a:spAutoFit/>
          </a:bodyPr>
          <a:lstStyle/>
          <a:p>
            <a:r>
              <a:rPr lang="en-US" sz="1600" i="1">
                <a:latin typeface="Franklin Gothic Book" panose="020B0503020102020204" pitchFamily="34" charset="0"/>
              </a:rPr>
              <a:t>“Not thrilled with the output or having to pay more &amp; wait months for you to make it a little better.”</a:t>
            </a:r>
          </a:p>
        </p:txBody>
      </p:sp>
      <p:sp>
        <p:nvSpPr>
          <p:cNvPr id="43" name="TextBox 42">
            <a:extLst>
              <a:ext uri="{FF2B5EF4-FFF2-40B4-BE49-F238E27FC236}">
                <a16:creationId xmlns:a16="http://schemas.microsoft.com/office/drawing/2014/main" id="{61B4A525-FDAE-9854-2344-03344AF1A9E8}"/>
              </a:ext>
            </a:extLst>
          </p:cNvPr>
          <p:cNvSpPr txBox="1"/>
          <p:nvPr/>
        </p:nvSpPr>
        <p:spPr>
          <a:xfrm>
            <a:off x="7406657" y="5399174"/>
            <a:ext cx="3279815" cy="830997"/>
          </a:xfrm>
          <a:prstGeom prst="rect">
            <a:avLst/>
          </a:prstGeom>
          <a:noFill/>
        </p:spPr>
        <p:txBody>
          <a:bodyPr wrap="square" rtlCol="0">
            <a:spAutoFit/>
          </a:bodyPr>
          <a:lstStyle/>
          <a:p>
            <a:r>
              <a:rPr lang="en-US" sz="1600" i="1">
                <a:latin typeface="Franklin Gothic Book" panose="020B0503020102020204" pitchFamily="34" charset="0"/>
              </a:rPr>
              <a:t>“Pretty good output and love that I can improve it or add something new myself in less than 1 hour.”</a:t>
            </a:r>
          </a:p>
        </p:txBody>
      </p:sp>
      <p:pic>
        <p:nvPicPr>
          <p:cNvPr id="51" name="Graphic 50" descr="Sad face with solid fill with solid fill">
            <a:extLst>
              <a:ext uri="{FF2B5EF4-FFF2-40B4-BE49-F238E27FC236}">
                <a16:creationId xmlns:a16="http://schemas.microsoft.com/office/drawing/2014/main" id="{8C70093F-3809-C4DF-A477-3F7CC993CA7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218440" y="5399174"/>
            <a:ext cx="338328" cy="338328"/>
          </a:xfrm>
          <a:prstGeom prst="rect">
            <a:avLst/>
          </a:prstGeom>
        </p:spPr>
      </p:pic>
      <p:pic>
        <p:nvPicPr>
          <p:cNvPr id="52" name="Graphic 51" descr="Smiling face with solid fill with solid fill">
            <a:extLst>
              <a:ext uri="{FF2B5EF4-FFF2-40B4-BE49-F238E27FC236}">
                <a16:creationId xmlns:a16="http://schemas.microsoft.com/office/drawing/2014/main" id="{8C3170D0-86EF-728D-81B7-E88D1D5D935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70593" y="5399174"/>
            <a:ext cx="338554" cy="338554"/>
          </a:xfrm>
          <a:prstGeom prst="rect">
            <a:avLst/>
          </a:prstGeom>
        </p:spPr>
      </p:pic>
    </p:spTree>
    <p:extLst>
      <p:ext uri="{BB962C8B-B14F-4D97-AF65-F5344CB8AC3E}">
        <p14:creationId xmlns:p14="http://schemas.microsoft.com/office/powerpoint/2010/main" val="40960691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41A1918-1EEF-B7AE-103B-2DFAE1C7F2BA}"/>
              </a:ext>
            </a:extLst>
          </p:cNvPr>
          <p:cNvSpPr/>
          <p:nvPr/>
        </p:nvSpPr>
        <p:spPr>
          <a:xfrm>
            <a:off x="3337182" y="2406909"/>
            <a:ext cx="1311962" cy="114017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C07C7A40-1416-847D-A583-F4D267ADC133}"/>
              </a:ext>
            </a:extLst>
          </p:cNvPr>
          <p:cNvSpPr/>
          <p:nvPr/>
        </p:nvSpPr>
        <p:spPr>
          <a:xfrm>
            <a:off x="2171470" y="2406909"/>
            <a:ext cx="1250866" cy="312394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C6C6487D-771C-6A19-BAA3-3C099079182D}"/>
              </a:ext>
            </a:extLst>
          </p:cNvPr>
          <p:cNvSpPr txBox="1"/>
          <p:nvPr/>
        </p:nvSpPr>
        <p:spPr>
          <a:xfrm>
            <a:off x="1320975" y="458545"/>
            <a:ext cx="9550051" cy="769441"/>
          </a:xfrm>
          <a:prstGeom prst="rect">
            <a:avLst/>
          </a:prstGeom>
          <a:noFill/>
        </p:spPr>
        <p:txBody>
          <a:bodyPr wrap="none" rtlCol="0">
            <a:spAutoFit/>
          </a:bodyPr>
          <a:lstStyle/>
          <a:p>
            <a:pPr algn="ctr"/>
            <a:r>
              <a:rPr lang="en-US" sz="4400" b="1">
                <a:latin typeface="Franklin Gothic Book" panose="020B0503020102020204" pitchFamily="34" charset="0"/>
              </a:rPr>
              <a:t>Generative AI (GAI) Capability Spectrum</a:t>
            </a:r>
          </a:p>
        </p:txBody>
      </p:sp>
      <p:sp>
        <p:nvSpPr>
          <p:cNvPr id="67" name="TextBox 66">
            <a:extLst>
              <a:ext uri="{FF2B5EF4-FFF2-40B4-BE49-F238E27FC236}">
                <a16:creationId xmlns:a16="http://schemas.microsoft.com/office/drawing/2014/main" id="{76A24F2D-346B-47F9-BEF6-BCE0ED023CBC}"/>
              </a:ext>
            </a:extLst>
          </p:cNvPr>
          <p:cNvSpPr txBox="1"/>
          <p:nvPr/>
        </p:nvSpPr>
        <p:spPr>
          <a:xfrm>
            <a:off x="1601521" y="1202706"/>
            <a:ext cx="8897051" cy="338554"/>
          </a:xfrm>
          <a:prstGeom prst="rect">
            <a:avLst/>
          </a:prstGeom>
          <a:noFill/>
        </p:spPr>
        <p:txBody>
          <a:bodyPr wrap="square" rtlCol="0">
            <a:spAutoFit/>
          </a:bodyPr>
          <a:lstStyle/>
          <a:p>
            <a:pPr algn="ctr"/>
            <a:r>
              <a:rPr lang="en-US" sz="1600" i="1">
                <a:latin typeface="Franklin Gothic Book" panose="020B0503020102020204" pitchFamily="34" charset="0"/>
              </a:rPr>
              <a:t>The risk of inaccurate output and adverse effects of model bias increases as you move to the right.*</a:t>
            </a:r>
          </a:p>
        </p:txBody>
      </p:sp>
      <p:sp>
        <p:nvSpPr>
          <p:cNvPr id="16" name="TextBox 15">
            <a:extLst>
              <a:ext uri="{FF2B5EF4-FFF2-40B4-BE49-F238E27FC236}">
                <a16:creationId xmlns:a16="http://schemas.microsoft.com/office/drawing/2014/main" id="{BE108EE1-798E-47AA-7846-AEC6BBC25CE7}"/>
              </a:ext>
            </a:extLst>
          </p:cNvPr>
          <p:cNvSpPr txBox="1"/>
          <p:nvPr/>
        </p:nvSpPr>
        <p:spPr>
          <a:xfrm>
            <a:off x="4567024" y="2645654"/>
            <a:ext cx="1188146" cy="646331"/>
          </a:xfrm>
          <a:prstGeom prst="rect">
            <a:avLst/>
          </a:prstGeom>
          <a:noFill/>
        </p:spPr>
        <p:txBody>
          <a:bodyPr wrap="none" rtlCol="0">
            <a:spAutoFit/>
          </a:bodyPr>
          <a:lstStyle/>
          <a:p>
            <a:pPr algn="ctr"/>
            <a:r>
              <a:rPr lang="en-US">
                <a:latin typeface="Franklin Gothic Book" panose="020B0503020102020204" pitchFamily="34" charset="0"/>
              </a:rPr>
              <a:t>Sentiment</a:t>
            </a:r>
          </a:p>
          <a:p>
            <a:pPr algn="ctr"/>
            <a:r>
              <a:rPr lang="en-US">
                <a:latin typeface="Franklin Gothic Book" panose="020B0503020102020204" pitchFamily="34" charset="0"/>
              </a:rPr>
              <a:t>Tagging</a:t>
            </a:r>
          </a:p>
        </p:txBody>
      </p:sp>
      <p:sp>
        <p:nvSpPr>
          <p:cNvPr id="17" name="TextBox 16">
            <a:extLst>
              <a:ext uri="{FF2B5EF4-FFF2-40B4-BE49-F238E27FC236}">
                <a16:creationId xmlns:a16="http://schemas.microsoft.com/office/drawing/2014/main" id="{8E3A2AE0-4B3D-4AAA-7A77-63EFE6E7C3E3}"/>
              </a:ext>
            </a:extLst>
          </p:cNvPr>
          <p:cNvSpPr txBox="1"/>
          <p:nvPr/>
        </p:nvSpPr>
        <p:spPr>
          <a:xfrm>
            <a:off x="4534576" y="4625513"/>
            <a:ext cx="1576907" cy="646331"/>
          </a:xfrm>
          <a:prstGeom prst="rect">
            <a:avLst/>
          </a:prstGeom>
          <a:noFill/>
        </p:spPr>
        <p:txBody>
          <a:bodyPr wrap="none" rtlCol="0">
            <a:spAutoFit/>
          </a:bodyPr>
          <a:lstStyle/>
          <a:p>
            <a:pPr algn="ctr"/>
            <a:r>
              <a:rPr lang="en-US">
                <a:latin typeface="Franklin Gothic Book" panose="020B0503020102020204" pitchFamily="34" charset="0"/>
              </a:rPr>
              <a:t>Thematic</a:t>
            </a:r>
          </a:p>
          <a:p>
            <a:pPr algn="ctr"/>
            <a:r>
              <a:rPr lang="en-US">
                <a:latin typeface="Franklin Gothic Book" panose="020B0503020102020204" pitchFamily="34" charset="0"/>
              </a:rPr>
              <a:t>Categorization</a:t>
            </a:r>
          </a:p>
        </p:txBody>
      </p:sp>
      <p:sp>
        <p:nvSpPr>
          <p:cNvPr id="18" name="TextBox 17">
            <a:extLst>
              <a:ext uri="{FF2B5EF4-FFF2-40B4-BE49-F238E27FC236}">
                <a16:creationId xmlns:a16="http://schemas.microsoft.com/office/drawing/2014/main" id="{5A8474C1-3DB8-5DFA-47C2-0C0E7E7BB4FA}"/>
              </a:ext>
            </a:extLst>
          </p:cNvPr>
          <p:cNvSpPr txBox="1"/>
          <p:nvPr/>
        </p:nvSpPr>
        <p:spPr>
          <a:xfrm>
            <a:off x="6151263" y="4625513"/>
            <a:ext cx="1167500" cy="646331"/>
          </a:xfrm>
          <a:prstGeom prst="rect">
            <a:avLst/>
          </a:prstGeom>
          <a:noFill/>
        </p:spPr>
        <p:txBody>
          <a:bodyPr wrap="none" rtlCol="0">
            <a:spAutoFit/>
          </a:bodyPr>
          <a:lstStyle/>
          <a:p>
            <a:pPr algn="ctr"/>
            <a:r>
              <a:rPr lang="en-US">
                <a:latin typeface="Franklin Gothic Book" panose="020B0503020102020204" pitchFamily="34" charset="0"/>
              </a:rPr>
              <a:t>Rhetorical</a:t>
            </a:r>
          </a:p>
          <a:p>
            <a:pPr algn="ctr"/>
            <a:r>
              <a:rPr lang="en-US">
                <a:latin typeface="Franklin Gothic Book" panose="020B0503020102020204" pitchFamily="34" charset="0"/>
              </a:rPr>
              <a:t>Scoring</a:t>
            </a:r>
          </a:p>
        </p:txBody>
      </p:sp>
      <p:sp>
        <p:nvSpPr>
          <p:cNvPr id="19" name="TextBox 18">
            <a:extLst>
              <a:ext uri="{FF2B5EF4-FFF2-40B4-BE49-F238E27FC236}">
                <a16:creationId xmlns:a16="http://schemas.microsoft.com/office/drawing/2014/main" id="{A1DB442F-96E3-3320-0C92-66A82B315378}"/>
              </a:ext>
            </a:extLst>
          </p:cNvPr>
          <p:cNvSpPr txBox="1"/>
          <p:nvPr/>
        </p:nvSpPr>
        <p:spPr>
          <a:xfrm>
            <a:off x="3341917" y="4625513"/>
            <a:ext cx="1152880" cy="646331"/>
          </a:xfrm>
          <a:prstGeom prst="rect">
            <a:avLst/>
          </a:prstGeom>
          <a:noFill/>
        </p:spPr>
        <p:txBody>
          <a:bodyPr wrap="none" rtlCol="0">
            <a:spAutoFit/>
          </a:bodyPr>
          <a:lstStyle/>
          <a:p>
            <a:pPr algn="ctr"/>
            <a:r>
              <a:rPr lang="en-US">
                <a:latin typeface="Franklin Gothic Book" panose="020B0503020102020204" pitchFamily="34" charset="0"/>
              </a:rPr>
              <a:t>Quote</a:t>
            </a:r>
          </a:p>
          <a:p>
            <a:pPr algn="ctr"/>
            <a:r>
              <a:rPr lang="en-US">
                <a:latin typeface="Franklin Gothic Book" panose="020B0503020102020204" pitchFamily="34" charset="0"/>
              </a:rPr>
              <a:t>Extraction</a:t>
            </a:r>
          </a:p>
        </p:txBody>
      </p:sp>
      <p:sp>
        <p:nvSpPr>
          <p:cNvPr id="20" name="TextBox 19">
            <a:extLst>
              <a:ext uri="{FF2B5EF4-FFF2-40B4-BE49-F238E27FC236}">
                <a16:creationId xmlns:a16="http://schemas.microsoft.com/office/drawing/2014/main" id="{F11F5978-0799-2A0A-49C5-A0C2F3F34EB2}"/>
              </a:ext>
            </a:extLst>
          </p:cNvPr>
          <p:cNvSpPr txBox="1"/>
          <p:nvPr/>
        </p:nvSpPr>
        <p:spPr>
          <a:xfrm>
            <a:off x="2285514" y="4625513"/>
            <a:ext cx="1016624" cy="646331"/>
          </a:xfrm>
          <a:prstGeom prst="rect">
            <a:avLst/>
          </a:prstGeom>
          <a:solidFill>
            <a:srgbClr val="00B050"/>
          </a:solidFill>
        </p:spPr>
        <p:txBody>
          <a:bodyPr wrap="none" rtlCol="0">
            <a:spAutoFit/>
          </a:bodyPr>
          <a:lstStyle/>
          <a:p>
            <a:pPr algn="ctr"/>
            <a:r>
              <a:rPr lang="en-US" b="1">
                <a:solidFill>
                  <a:schemeClr val="bg1"/>
                </a:solidFill>
                <a:latin typeface="Franklin Gothic Book" panose="020B0503020102020204" pitchFamily="34" charset="0"/>
              </a:rPr>
              <a:t>Salience</a:t>
            </a:r>
          </a:p>
          <a:p>
            <a:pPr algn="ctr"/>
            <a:r>
              <a:rPr lang="en-US" b="1">
                <a:solidFill>
                  <a:schemeClr val="bg1"/>
                </a:solidFill>
                <a:latin typeface="Franklin Gothic Book" panose="020B0503020102020204" pitchFamily="34" charset="0"/>
              </a:rPr>
              <a:t>Tagging</a:t>
            </a:r>
          </a:p>
        </p:txBody>
      </p:sp>
      <p:sp>
        <p:nvSpPr>
          <p:cNvPr id="12" name="TextBox 11">
            <a:extLst>
              <a:ext uri="{FF2B5EF4-FFF2-40B4-BE49-F238E27FC236}">
                <a16:creationId xmlns:a16="http://schemas.microsoft.com/office/drawing/2014/main" id="{63A27EF5-2E48-153C-999F-69F9897DD353}"/>
              </a:ext>
            </a:extLst>
          </p:cNvPr>
          <p:cNvSpPr txBox="1"/>
          <p:nvPr/>
        </p:nvSpPr>
        <p:spPr>
          <a:xfrm>
            <a:off x="3352916" y="2645654"/>
            <a:ext cx="1116459" cy="646331"/>
          </a:xfrm>
          <a:prstGeom prst="rect">
            <a:avLst/>
          </a:prstGeom>
          <a:solidFill>
            <a:srgbClr val="00B050"/>
          </a:solidFill>
        </p:spPr>
        <p:txBody>
          <a:bodyPr wrap="none" rtlCol="0">
            <a:spAutoFit/>
          </a:bodyPr>
          <a:lstStyle/>
          <a:p>
            <a:pPr algn="ctr"/>
            <a:r>
              <a:rPr lang="en-US" b="1">
                <a:solidFill>
                  <a:schemeClr val="bg1"/>
                </a:solidFill>
                <a:latin typeface="Franklin Gothic Book" panose="020B0503020102020204" pitchFamily="34" charset="0"/>
              </a:rPr>
              <a:t>Text</a:t>
            </a:r>
          </a:p>
          <a:p>
            <a:pPr algn="ctr"/>
            <a:r>
              <a:rPr lang="en-US" b="1">
                <a:solidFill>
                  <a:schemeClr val="bg1"/>
                </a:solidFill>
                <a:latin typeface="Franklin Gothic Book" panose="020B0503020102020204" pitchFamily="34" charset="0"/>
              </a:rPr>
              <a:t>Summary</a:t>
            </a:r>
          </a:p>
        </p:txBody>
      </p:sp>
      <p:sp>
        <p:nvSpPr>
          <p:cNvPr id="13" name="TextBox 12">
            <a:extLst>
              <a:ext uri="{FF2B5EF4-FFF2-40B4-BE49-F238E27FC236}">
                <a16:creationId xmlns:a16="http://schemas.microsoft.com/office/drawing/2014/main" id="{ADD21883-FC43-1968-3027-251D433DE986}"/>
              </a:ext>
            </a:extLst>
          </p:cNvPr>
          <p:cNvSpPr txBox="1"/>
          <p:nvPr/>
        </p:nvSpPr>
        <p:spPr>
          <a:xfrm>
            <a:off x="5713120" y="2645654"/>
            <a:ext cx="1396088" cy="646331"/>
          </a:xfrm>
          <a:prstGeom prst="rect">
            <a:avLst/>
          </a:prstGeom>
          <a:noFill/>
        </p:spPr>
        <p:txBody>
          <a:bodyPr wrap="none" rtlCol="0">
            <a:spAutoFit/>
          </a:bodyPr>
          <a:lstStyle/>
          <a:p>
            <a:pPr algn="ctr"/>
            <a:r>
              <a:rPr lang="en-US">
                <a:latin typeface="Franklin Gothic Book" panose="020B0503020102020204" pitchFamily="34" charset="0"/>
              </a:rPr>
              <a:t>Findings</a:t>
            </a:r>
          </a:p>
          <a:p>
            <a:pPr algn="ctr"/>
            <a:r>
              <a:rPr lang="en-US">
                <a:latin typeface="Franklin Gothic Book" panose="020B0503020102020204" pitchFamily="34" charset="0"/>
              </a:rPr>
              <a:t>Composition</a:t>
            </a:r>
          </a:p>
        </p:txBody>
      </p:sp>
      <p:sp>
        <p:nvSpPr>
          <p:cNvPr id="14" name="TextBox 13">
            <a:extLst>
              <a:ext uri="{FF2B5EF4-FFF2-40B4-BE49-F238E27FC236}">
                <a16:creationId xmlns:a16="http://schemas.microsoft.com/office/drawing/2014/main" id="{F2E1A5F1-1869-275D-EC4E-335BB1E1936B}"/>
              </a:ext>
            </a:extLst>
          </p:cNvPr>
          <p:cNvSpPr txBox="1"/>
          <p:nvPr/>
        </p:nvSpPr>
        <p:spPr>
          <a:xfrm>
            <a:off x="8272481" y="2645654"/>
            <a:ext cx="1311962" cy="646331"/>
          </a:xfrm>
          <a:prstGeom prst="rect">
            <a:avLst/>
          </a:prstGeom>
          <a:noFill/>
        </p:spPr>
        <p:txBody>
          <a:bodyPr wrap="none" rtlCol="0">
            <a:spAutoFit/>
          </a:bodyPr>
          <a:lstStyle/>
          <a:p>
            <a:pPr algn="ctr"/>
            <a:r>
              <a:rPr lang="en-US">
                <a:solidFill>
                  <a:schemeClr val="bg1">
                    <a:lumMod val="65000"/>
                  </a:schemeClr>
                </a:solidFill>
                <a:latin typeface="Franklin Gothic Book" panose="020B0503020102020204" pitchFamily="34" charset="0"/>
              </a:rPr>
              <a:t>Prediction/</a:t>
            </a:r>
          </a:p>
          <a:p>
            <a:pPr algn="ctr"/>
            <a:r>
              <a:rPr lang="en-US">
                <a:solidFill>
                  <a:schemeClr val="bg1">
                    <a:lumMod val="65000"/>
                  </a:schemeClr>
                </a:solidFill>
                <a:latin typeface="Franklin Gothic Book" panose="020B0503020102020204" pitchFamily="34" charset="0"/>
              </a:rPr>
              <a:t>Forecasting</a:t>
            </a:r>
          </a:p>
        </p:txBody>
      </p:sp>
      <p:sp>
        <p:nvSpPr>
          <p:cNvPr id="15" name="TextBox 14">
            <a:extLst>
              <a:ext uri="{FF2B5EF4-FFF2-40B4-BE49-F238E27FC236}">
                <a16:creationId xmlns:a16="http://schemas.microsoft.com/office/drawing/2014/main" id="{30EBB36B-0DB5-1447-A077-77DE41D3A6E2}"/>
              </a:ext>
            </a:extLst>
          </p:cNvPr>
          <p:cNvSpPr txBox="1"/>
          <p:nvPr/>
        </p:nvSpPr>
        <p:spPr>
          <a:xfrm>
            <a:off x="7269654" y="2645654"/>
            <a:ext cx="971741" cy="646331"/>
          </a:xfrm>
          <a:prstGeom prst="rect">
            <a:avLst/>
          </a:prstGeom>
          <a:noFill/>
        </p:spPr>
        <p:txBody>
          <a:bodyPr wrap="none" rtlCol="0">
            <a:spAutoFit/>
          </a:bodyPr>
          <a:lstStyle/>
          <a:p>
            <a:pPr algn="ctr"/>
            <a:r>
              <a:rPr lang="en-US">
                <a:solidFill>
                  <a:schemeClr val="bg1">
                    <a:lumMod val="65000"/>
                  </a:schemeClr>
                </a:solidFill>
                <a:latin typeface="Franklin Gothic Book" panose="020B0503020102020204" pitchFamily="34" charset="0"/>
              </a:rPr>
              <a:t>Intent</a:t>
            </a:r>
          </a:p>
          <a:p>
            <a:pPr algn="ctr"/>
            <a:r>
              <a:rPr lang="en-US">
                <a:solidFill>
                  <a:schemeClr val="bg1">
                    <a:lumMod val="65000"/>
                  </a:schemeClr>
                </a:solidFill>
                <a:latin typeface="Franklin Gothic Book" panose="020B0503020102020204" pitchFamily="34" charset="0"/>
              </a:rPr>
              <a:t>Analysis</a:t>
            </a:r>
          </a:p>
        </p:txBody>
      </p:sp>
      <p:sp>
        <p:nvSpPr>
          <p:cNvPr id="21" name="TextBox 20">
            <a:extLst>
              <a:ext uri="{FF2B5EF4-FFF2-40B4-BE49-F238E27FC236}">
                <a16:creationId xmlns:a16="http://schemas.microsoft.com/office/drawing/2014/main" id="{37558EF6-A217-E1BE-3432-8E961FB2995D}"/>
              </a:ext>
            </a:extLst>
          </p:cNvPr>
          <p:cNvSpPr txBox="1"/>
          <p:nvPr/>
        </p:nvSpPr>
        <p:spPr>
          <a:xfrm>
            <a:off x="2332386" y="2645654"/>
            <a:ext cx="922881" cy="646331"/>
          </a:xfrm>
          <a:prstGeom prst="rect">
            <a:avLst/>
          </a:prstGeom>
          <a:solidFill>
            <a:srgbClr val="00B050"/>
          </a:solidFill>
        </p:spPr>
        <p:txBody>
          <a:bodyPr wrap="none" rtlCol="0">
            <a:spAutoFit/>
          </a:bodyPr>
          <a:lstStyle/>
          <a:p>
            <a:pPr algn="ctr"/>
            <a:r>
              <a:rPr lang="en-US" b="1">
                <a:solidFill>
                  <a:schemeClr val="bg1"/>
                </a:solidFill>
                <a:latin typeface="Franklin Gothic Book" panose="020B0503020102020204" pitchFamily="34" charset="0"/>
              </a:rPr>
              <a:t>Event</a:t>
            </a:r>
          </a:p>
          <a:p>
            <a:pPr algn="ctr"/>
            <a:r>
              <a:rPr lang="en-US" b="1">
                <a:solidFill>
                  <a:schemeClr val="bg1"/>
                </a:solidFill>
                <a:latin typeface="Franklin Gothic Book" panose="020B0503020102020204" pitchFamily="34" charset="0"/>
              </a:rPr>
              <a:t>Tagging</a:t>
            </a:r>
          </a:p>
        </p:txBody>
      </p:sp>
      <p:cxnSp>
        <p:nvCxnSpPr>
          <p:cNvPr id="3" name="Straight Arrow Connector 2">
            <a:extLst>
              <a:ext uri="{FF2B5EF4-FFF2-40B4-BE49-F238E27FC236}">
                <a16:creationId xmlns:a16="http://schemas.microsoft.com/office/drawing/2014/main" id="{49A9B204-5B48-0671-AF53-A5E63335626B}"/>
              </a:ext>
            </a:extLst>
          </p:cNvPr>
          <p:cNvCxnSpPr>
            <a:cxnSpLocks/>
          </p:cNvCxnSpPr>
          <p:nvPr/>
        </p:nvCxnSpPr>
        <p:spPr>
          <a:xfrm>
            <a:off x="1838372" y="3961117"/>
            <a:ext cx="8138160" cy="0"/>
          </a:xfrm>
          <a:prstGeom prst="straightConnector1">
            <a:avLst/>
          </a:prstGeom>
          <a:ln w="76200">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E9D26365-C198-EDF0-FA7A-1FF978B8521A}"/>
              </a:ext>
            </a:extLst>
          </p:cNvPr>
          <p:cNvSpPr txBox="1"/>
          <p:nvPr/>
        </p:nvSpPr>
        <p:spPr>
          <a:xfrm>
            <a:off x="9984028" y="3421040"/>
            <a:ext cx="1444754" cy="954107"/>
          </a:xfrm>
          <a:prstGeom prst="rect">
            <a:avLst/>
          </a:prstGeom>
          <a:noFill/>
        </p:spPr>
        <p:txBody>
          <a:bodyPr wrap="none" rtlCol="0">
            <a:spAutoFit/>
          </a:bodyPr>
          <a:lstStyle/>
          <a:p>
            <a:r>
              <a:rPr lang="en-US" sz="2400" b="1">
                <a:latin typeface="Franklin Gothic Book" panose="020B0503020102020204" pitchFamily="34" charset="0"/>
              </a:rPr>
              <a:t>ANALYTIC</a:t>
            </a:r>
            <a:endParaRPr lang="en-US" sz="1600" b="1">
              <a:latin typeface="Franklin Gothic Book" panose="020B0503020102020204" pitchFamily="34" charset="0"/>
            </a:endParaRPr>
          </a:p>
          <a:p>
            <a:r>
              <a:rPr lang="en-US" sz="1600">
                <a:latin typeface="Franklin Gothic Book" panose="020B0503020102020204" pitchFamily="34" charset="0"/>
              </a:rPr>
              <a:t>More Creative,</a:t>
            </a:r>
          </a:p>
          <a:p>
            <a:r>
              <a:rPr lang="en-US" sz="1600">
                <a:latin typeface="Franklin Gothic Book" panose="020B0503020102020204" pitchFamily="34" charset="0"/>
              </a:rPr>
              <a:t>Higher Risk</a:t>
            </a:r>
          </a:p>
        </p:txBody>
      </p:sp>
      <p:sp>
        <p:nvSpPr>
          <p:cNvPr id="5" name="TextBox 4">
            <a:extLst>
              <a:ext uri="{FF2B5EF4-FFF2-40B4-BE49-F238E27FC236}">
                <a16:creationId xmlns:a16="http://schemas.microsoft.com/office/drawing/2014/main" id="{F2218403-9D8B-AE88-2E84-76919F8EB8DC}"/>
              </a:ext>
            </a:extLst>
          </p:cNvPr>
          <p:cNvSpPr txBox="1"/>
          <p:nvPr/>
        </p:nvSpPr>
        <p:spPr>
          <a:xfrm>
            <a:off x="363673" y="3421040"/>
            <a:ext cx="1477214" cy="954107"/>
          </a:xfrm>
          <a:prstGeom prst="rect">
            <a:avLst/>
          </a:prstGeom>
          <a:noFill/>
        </p:spPr>
        <p:txBody>
          <a:bodyPr wrap="square" rtlCol="0">
            <a:spAutoFit/>
          </a:bodyPr>
          <a:lstStyle/>
          <a:p>
            <a:pPr algn="r"/>
            <a:r>
              <a:rPr lang="en-US" sz="2400" b="1">
                <a:latin typeface="Franklin Gothic Book" panose="020B0503020102020204" pitchFamily="34" charset="0"/>
              </a:rPr>
              <a:t>FACTUAL</a:t>
            </a:r>
            <a:br>
              <a:rPr lang="en-US" sz="2400">
                <a:latin typeface="Franklin Gothic Book" panose="020B0503020102020204" pitchFamily="34" charset="0"/>
              </a:rPr>
            </a:br>
            <a:r>
              <a:rPr lang="en-US" sz="1600">
                <a:latin typeface="Franklin Gothic Book" panose="020B0503020102020204" pitchFamily="34" charset="0"/>
              </a:rPr>
              <a:t>Less Creative,</a:t>
            </a:r>
            <a:br>
              <a:rPr lang="en-US" sz="1600">
                <a:latin typeface="Franklin Gothic Book" panose="020B0503020102020204" pitchFamily="34" charset="0"/>
              </a:rPr>
            </a:br>
            <a:r>
              <a:rPr lang="en-US" sz="1600">
                <a:latin typeface="Franklin Gothic Book" panose="020B0503020102020204" pitchFamily="34" charset="0"/>
              </a:rPr>
              <a:t>Lower Risk</a:t>
            </a:r>
            <a:endParaRPr lang="en-US" sz="2400">
              <a:latin typeface="Franklin Gothic Book" panose="020B0503020102020204" pitchFamily="34" charset="0"/>
            </a:endParaRPr>
          </a:p>
        </p:txBody>
      </p:sp>
      <p:sp>
        <p:nvSpPr>
          <p:cNvPr id="22" name="Oval 21">
            <a:extLst>
              <a:ext uri="{FF2B5EF4-FFF2-40B4-BE49-F238E27FC236}">
                <a16:creationId xmlns:a16="http://schemas.microsoft.com/office/drawing/2014/main" id="{1A5A3732-4610-E7A9-F39F-DC05474F196A}"/>
              </a:ext>
            </a:extLst>
          </p:cNvPr>
          <p:cNvSpPr/>
          <p:nvPr/>
        </p:nvSpPr>
        <p:spPr>
          <a:xfrm>
            <a:off x="2702205" y="3869677"/>
            <a:ext cx="182880" cy="182880"/>
          </a:xfrm>
          <a:prstGeom prst="ellipse">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84ADF8FC-4215-7C8D-7351-841E0A66CE95}"/>
              </a:ext>
            </a:extLst>
          </p:cNvPr>
          <p:cNvSpPr/>
          <p:nvPr/>
        </p:nvSpPr>
        <p:spPr>
          <a:xfrm>
            <a:off x="3160132" y="3869677"/>
            <a:ext cx="182880" cy="182880"/>
          </a:xfrm>
          <a:prstGeom prst="ellipse">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7D2DD8C3-EDEA-88FC-F703-78C5F2404BF2}"/>
              </a:ext>
            </a:extLst>
          </p:cNvPr>
          <p:cNvSpPr/>
          <p:nvPr/>
        </p:nvSpPr>
        <p:spPr>
          <a:xfrm>
            <a:off x="3557972" y="3869677"/>
            <a:ext cx="182880" cy="182880"/>
          </a:xfrm>
          <a:prstGeom prst="ellipse">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6BC43E18-DAEB-A90B-C1EF-B9AAD0B818C5}"/>
              </a:ext>
            </a:extLst>
          </p:cNvPr>
          <p:cNvSpPr/>
          <p:nvPr/>
        </p:nvSpPr>
        <p:spPr>
          <a:xfrm>
            <a:off x="4082642" y="3869677"/>
            <a:ext cx="182880" cy="182880"/>
          </a:xfrm>
          <a:prstGeom prst="ellipse">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973072EB-BF26-7495-903E-EEFAA3F5F521}"/>
              </a:ext>
            </a:extLst>
          </p:cNvPr>
          <p:cNvSpPr/>
          <p:nvPr/>
        </p:nvSpPr>
        <p:spPr>
          <a:xfrm>
            <a:off x="4627331" y="3869677"/>
            <a:ext cx="182880" cy="182880"/>
          </a:xfrm>
          <a:prstGeom prst="ellipse">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AA44B0A4-5031-98B4-0794-EC8EC3EF35A6}"/>
              </a:ext>
            </a:extLst>
          </p:cNvPr>
          <p:cNvSpPr/>
          <p:nvPr/>
        </p:nvSpPr>
        <p:spPr>
          <a:xfrm>
            <a:off x="5071024" y="3869677"/>
            <a:ext cx="182880" cy="182880"/>
          </a:xfrm>
          <a:prstGeom prst="ellipse">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EF0EF859-F011-CB2E-53A5-AE46FBA01769}"/>
              </a:ext>
            </a:extLst>
          </p:cNvPr>
          <p:cNvSpPr/>
          <p:nvPr/>
        </p:nvSpPr>
        <p:spPr>
          <a:xfrm>
            <a:off x="5579645" y="3869677"/>
            <a:ext cx="182880" cy="182880"/>
          </a:xfrm>
          <a:prstGeom prst="ellipse">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12E09320-95EB-1154-C390-0200E86AE3A0}"/>
              </a:ext>
            </a:extLst>
          </p:cNvPr>
          <p:cNvSpPr/>
          <p:nvPr/>
        </p:nvSpPr>
        <p:spPr>
          <a:xfrm>
            <a:off x="6136060" y="3869677"/>
            <a:ext cx="182880" cy="182880"/>
          </a:xfrm>
          <a:prstGeom prst="ellipse">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6C01E8B7-296A-43AC-99F9-929A178911A0}"/>
              </a:ext>
            </a:extLst>
          </p:cNvPr>
          <p:cNvSpPr/>
          <p:nvPr/>
        </p:nvSpPr>
        <p:spPr>
          <a:xfrm>
            <a:off x="8088392" y="3869677"/>
            <a:ext cx="182880" cy="182880"/>
          </a:xfrm>
          <a:prstGeom prst="ellipse">
            <a:avLst/>
          </a:prstGeom>
          <a:solidFill>
            <a:schemeClr val="bg1"/>
          </a:solidFill>
          <a:ln w="571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5754B1F1-B039-C28B-404A-63F07BD4AD91}"/>
              </a:ext>
            </a:extLst>
          </p:cNvPr>
          <p:cNvSpPr/>
          <p:nvPr/>
        </p:nvSpPr>
        <p:spPr>
          <a:xfrm>
            <a:off x="8837789" y="3869677"/>
            <a:ext cx="182880" cy="182880"/>
          </a:xfrm>
          <a:prstGeom prst="ellipse">
            <a:avLst/>
          </a:prstGeom>
          <a:solidFill>
            <a:schemeClr val="bg1"/>
          </a:solidFill>
          <a:ln w="571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Connector: Elbow 35">
            <a:extLst>
              <a:ext uri="{FF2B5EF4-FFF2-40B4-BE49-F238E27FC236}">
                <a16:creationId xmlns:a16="http://schemas.microsoft.com/office/drawing/2014/main" id="{61AD4A0B-218B-D730-297D-A1B2627DA548}"/>
              </a:ext>
            </a:extLst>
          </p:cNvPr>
          <p:cNvCxnSpPr>
            <a:cxnSpLocks/>
            <a:stCxn id="23" idx="0"/>
            <a:endCxn id="21" idx="2"/>
          </p:cNvCxnSpPr>
          <p:nvPr/>
        </p:nvCxnSpPr>
        <p:spPr>
          <a:xfrm rot="16200000" flipV="1">
            <a:off x="2733854" y="3351958"/>
            <a:ext cx="577692" cy="457745"/>
          </a:xfrm>
          <a:prstGeom prst="bentConnector3">
            <a:avLst/>
          </a:prstGeom>
        </p:spPr>
        <p:style>
          <a:lnRef idx="2">
            <a:schemeClr val="dk1"/>
          </a:lnRef>
          <a:fillRef idx="0">
            <a:schemeClr val="dk1"/>
          </a:fillRef>
          <a:effectRef idx="1">
            <a:schemeClr val="dk1"/>
          </a:effectRef>
          <a:fontRef idx="minor">
            <a:schemeClr val="tx1"/>
          </a:fontRef>
        </p:style>
      </p:cxnSp>
      <p:cxnSp>
        <p:nvCxnSpPr>
          <p:cNvPr id="38" name="Connector: Elbow 37">
            <a:extLst>
              <a:ext uri="{FF2B5EF4-FFF2-40B4-BE49-F238E27FC236}">
                <a16:creationId xmlns:a16="http://schemas.microsoft.com/office/drawing/2014/main" id="{B8DC44A9-3A94-C326-4E43-B3F63CC9B611}"/>
              </a:ext>
            </a:extLst>
          </p:cNvPr>
          <p:cNvCxnSpPr>
            <a:cxnSpLocks/>
            <a:stCxn id="20" idx="0"/>
            <a:endCxn id="22" idx="4"/>
          </p:cNvCxnSpPr>
          <p:nvPr/>
        </p:nvCxnSpPr>
        <p:spPr>
          <a:xfrm rot="16200000" flipV="1">
            <a:off x="2507258" y="4338944"/>
            <a:ext cx="572956" cy="181"/>
          </a:xfrm>
          <a:prstGeom prst="bentConnector3">
            <a:avLst/>
          </a:prstGeom>
        </p:spPr>
        <p:style>
          <a:lnRef idx="2">
            <a:schemeClr val="dk1"/>
          </a:lnRef>
          <a:fillRef idx="0">
            <a:schemeClr val="dk1"/>
          </a:fillRef>
          <a:effectRef idx="1">
            <a:schemeClr val="dk1"/>
          </a:effectRef>
          <a:fontRef idx="minor">
            <a:schemeClr val="tx1"/>
          </a:fontRef>
        </p:style>
      </p:cxnSp>
      <p:cxnSp>
        <p:nvCxnSpPr>
          <p:cNvPr id="40" name="Connector: Elbow 39">
            <a:extLst>
              <a:ext uri="{FF2B5EF4-FFF2-40B4-BE49-F238E27FC236}">
                <a16:creationId xmlns:a16="http://schemas.microsoft.com/office/drawing/2014/main" id="{EA8275EA-AEB5-9384-AC5A-908C6CBA0153}"/>
              </a:ext>
            </a:extLst>
          </p:cNvPr>
          <p:cNvCxnSpPr>
            <a:stCxn id="12" idx="2"/>
            <a:endCxn id="24" idx="0"/>
          </p:cNvCxnSpPr>
          <p:nvPr/>
        </p:nvCxnSpPr>
        <p:spPr>
          <a:xfrm rot="5400000">
            <a:off x="3491433" y="3449964"/>
            <a:ext cx="577692" cy="261734"/>
          </a:xfrm>
          <a:prstGeom prst="bentConnector3">
            <a:avLst/>
          </a:prstGeom>
        </p:spPr>
        <p:style>
          <a:lnRef idx="2">
            <a:schemeClr val="dk1"/>
          </a:lnRef>
          <a:fillRef idx="0">
            <a:schemeClr val="dk1"/>
          </a:fillRef>
          <a:effectRef idx="1">
            <a:schemeClr val="dk1"/>
          </a:effectRef>
          <a:fontRef idx="minor">
            <a:schemeClr val="tx1"/>
          </a:fontRef>
        </p:style>
      </p:cxnSp>
      <p:cxnSp>
        <p:nvCxnSpPr>
          <p:cNvPr id="42" name="Connector: Elbow 41">
            <a:extLst>
              <a:ext uri="{FF2B5EF4-FFF2-40B4-BE49-F238E27FC236}">
                <a16:creationId xmlns:a16="http://schemas.microsoft.com/office/drawing/2014/main" id="{30790CD5-6801-3442-CF71-E52644D312B8}"/>
              </a:ext>
            </a:extLst>
          </p:cNvPr>
          <p:cNvCxnSpPr>
            <a:stCxn id="19" idx="0"/>
            <a:endCxn id="25" idx="4"/>
          </p:cNvCxnSpPr>
          <p:nvPr/>
        </p:nvCxnSpPr>
        <p:spPr>
          <a:xfrm rot="5400000" flipH="1" flipV="1">
            <a:off x="3759741" y="4211173"/>
            <a:ext cx="572956" cy="255725"/>
          </a:xfrm>
          <a:prstGeom prst="bentConnector3">
            <a:avLst/>
          </a:prstGeom>
        </p:spPr>
        <p:style>
          <a:lnRef idx="2">
            <a:schemeClr val="dk1"/>
          </a:lnRef>
          <a:fillRef idx="0">
            <a:schemeClr val="dk1"/>
          </a:fillRef>
          <a:effectRef idx="1">
            <a:schemeClr val="dk1"/>
          </a:effectRef>
          <a:fontRef idx="minor">
            <a:schemeClr val="tx1"/>
          </a:fontRef>
        </p:style>
      </p:cxnSp>
      <p:cxnSp>
        <p:nvCxnSpPr>
          <p:cNvPr id="44" name="Connector: Elbow 43">
            <a:extLst>
              <a:ext uri="{FF2B5EF4-FFF2-40B4-BE49-F238E27FC236}">
                <a16:creationId xmlns:a16="http://schemas.microsoft.com/office/drawing/2014/main" id="{EC2539B9-637B-802E-F5E6-E366AC8999C4}"/>
              </a:ext>
            </a:extLst>
          </p:cNvPr>
          <p:cNvCxnSpPr>
            <a:cxnSpLocks/>
            <a:stCxn id="13" idx="2"/>
            <a:endCxn id="28" idx="0"/>
          </p:cNvCxnSpPr>
          <p:nvPr/>
        </p:nvCxnSpPr>
        <p:spPr>
          <a:xfrm rot="5400000">
            <a:off x="5752279" y="3210792"/>
            <a:ext cx="577692" cy="740079"/>
          </a:xfrm>
          <a:prstGeom prst="bentConnector3">
            <a:avLst/>
          </a:prstGeom>
        </p:spPr>
        <p:style>
          <a:lnRef idx="2">
            <a:schemeClr val="dk1"/>
          </a:lnRef>
          <a:fillRef idx="0">
            <a:schemeClr val="dk1"/>
          </a:fillRef>
          <a:effectRef idx="1">
            <a:schemeClr val="dk1"/>
          </a:effectRef>
          <a:fontRef idx="minor">
            <a:schemeClr val="tx1"/>
          </a:fontRef>
        </p:style>
      </p:cxnSp>
      <p:cxnSp>
        <p:nvCxnSpPr>
          <p:cNvPr id="46" name="Connector: Elbow 45">
            <a:extLst>
              <a:ext uri="{FF2B5EF4-FFF2-40B4-BE49-F238E27FC236}">
                <a16:creationId xmlns:a16="http://schemas.microsoft.com/office/drawing/2014/main" id="{1379B013-172A-4BAE-B7B6-0FC73FE6BAE1}"/>
              </a:ext>
            </a:extLst>
          </p:cNvPr>
          <p:cNvCxnSpPr>
            <a:cxnSpLocks/>
            <a:stCxn id="17" idx="0"/>
            <a:endCxn id="26" idx="4"/>
          </p:cNvCxnSpPr>
          <p:nvPr/>
        </p:nvCxnSpPr>
        <p:spPr>
          <a:xfrm rot="16200000" flipV="1">
            <a:off x="4734423" y="4036905"/>
            <a:ext cx="572956" cy="604259"/>
          </a:xfrm>
          <a:prstGeom prst="bentConnector3">
            <a:avLst/>
          </a:prstGeom>
        </p:spPr>
        <p:style>
          <a:lnRef idx="2">
            <a:schemeClr val="dk1"/>
          </a:lnRef>
          <a:fillRef idx="0">
            <a:schemeClr val="dk1"/>
          </a:fillRef>
          <a:effectRef idx="1">
            <a:schemeClr val="dk1"/>
          </a:effectRef>
          <a:fontRef idx="minor">
            <a:schemeClr val="tx1"/>
          </a:fontRef>
        </p:style>
      </p:cxnSp>
      <p:cxnSp>
        <p:nvCxnSpPr>
          <p:cNvPr id="50" name="Connector: Elbow 49">
            <a:extLst>
              <a:ext uri="{FF2B5EF4-FFF2-40B4-BE49-F238E27FC236}">
                <a16:creationId xmlns:a16="http://schemas.microsoft.com/office/drawing/2014/main" id="{4D1486D0-317B-2130-5D23-F82E0ECB8A0C}"/>
              </a:ext>
            </a:extLst>
          </p:cNvPr>
          <p:cNvCxnSpPr>
            <a:cxnSpLocks/>
            <a:stCxn id="18" idx="0"/>
            <a:endCxn id="29" idx="4"/>
          </p:cNvCxnSpPr>
          <p:nvPr/>
        </p:nvCxnSpPr>
        <p:spPr>
          <a:xfrm rot="16200000" flipV="1">
            <a:off x="6194779" y="4085278"/>
            <a:ext cx="572956" cy="507513"/>
          </a:xfrm>
          <a:prstGeom prst="bentConnector3">
            <a:avLst/>
          </a:prstGeom>
        </p:spPr>
        <p:style>
          <a:lnRef idx="2">
            <a:schemeClr val="dk1"/>
          </a:lnRef>
          <a:fillRef idx="0">
            <a:schemeClr val="dk1"/>
          </a:fillRef>
          <a:effectRef idx="1">
            <a:schemeClr val="dk1"/>
          </a:effectRef>
          <a:fontRef idx="minor">
            <a:schemeClr val="tx1"/>
          </a:fontRef>
        </p:style>
      </p:cxnSp>
      <p:cxnSp>
        <p:nvCxnSpPr>
          <p:cNvPr id="52" name="Connector: Elbow 51">
            <a:extLst>
              <a:ext uri="{FF2B5EF4-FFF2-40B4-BE49-F238E27FC236}">
                <a16:creationId xmlns:a16="http://schemas.microsoft.com/office/drawing/2014/main" id="{AAC09000-3D02-CE60-0413-D19E37CE4CCB}"/>
              </a:ext>
            </a:extLst>
          </p:cNvPr>
          <p:cNvCxnSpPr>
            <a:stCxn id="15" idx="2"/>
            <a:endCxn id="30" idx="0"/>
          </p:cNvCxnSpPr>
          <p:nvPr/>
        </p:nvCxnSpPr>
        <p:spPr>
          <a:xfrm rot="16200000" flipH="1">
            <a:off x="7678832" y="3368677"/>
            <a:ext cx="577692" cy="424307"/>
          </a:xfrm>
          <a:prstGeom prst="bentConnector3">
            <a:avLst/>
          </a:prstGeom>
          <a:ln>
            <a:solidFill>
              <a:schemeClr val="bg1">
                <a:lumMod val="75000"/>
              </a:schemeClr>
            </a:solidFill>
          </a:ln>
        </p:spPr>
        <p:style>
          <a:lnRef idx="2">
            <a:schemeClr val="dk1"/>
          </a:lnRef>
          <a:fillRef idx="0">
            <a:schemeClr val="dk1"/>
          </a:fillRef>
          <a:effectRef idx="1">
            <a:schemeClr val="dk1"/>
          </a:effectRef>
          <a:fontRef idx="minor">
            <a:schemeClr val="tx1"/>
          </a:fontRef>
        </p:style>
      </p:cxnSp>
      <p:cxnSp>
        <p:nvCxnSpPr>
          <p:cNvPr id="54" name="Connector: Elbow 53">
            <a:extLst>
              <a:ext uri="{FF2B5EF4-FFF2-40B4-BE49-F238E27FC236}">
                <a16:creationId xmlns:a16="http://schemas.microsoft.com/office/drawing/2014/main" id="{CEFFFEB8-04A0-C968-FC40-FAB57013244A}"/>
              </a:ext>
            </a:extLst>
          </p:cNvPr>
          <p:cNvCxnSpPr>
            <a:stCxn id="14" idx="2"/>
            <a:endCxn id="31" idx="0"/>
          </p:cNvCxnSpPr>
          <p:nvPr/>
        </p:nvCxnSpPr>
        <p:spPr>
          <a:xfrm rot="16200000" flipH="1">
            <a:off x="8639999" y="3580447"/>
            <a:ext cx="577692" cy="767"/>
          </a:xfrm>
          <a:prstGeom prst="bentConnector3">
            <a:avLst/>
          </a:prstGeom>
          <a:ln>
            <a:solidFill>
              <a:schemeClr val="bg1">
                <a:lumMod val="75000"/>
              </a:schemeClr>
            </a:solidFill>
          </a:ln>
        </p:spPr>
        <p:style>
          <a:lnRef idx="2">
            <a:schemeClr val="dk1"/>
          </a:lnRef>
          <a:fillRef idx="0">
            <a:schemeClr val="dk1"/>
          </a:fillRef>
          <a:effectRef idx="1">
            <a:schemeClr val="dk1"/>
          </a:effectRef>
          <a:fontRef idx="minor">
            <a:schemeClr val="tx1"/>
          </a:fontRef>
        </p:style>
      </p:cxnSp>
      <p:cxnSp>
        <p:nvCxnSpPr>
          <p:cNvPr id="65" name="Connector: Elbow 64">
            <a:extLst>
              <a:ext uri="{FF2B5EF4-FFF2-40B4-BE49-F238E27FC236}">
                <a16:creationId xmlns:a16="http://schemas.microsoft.com/office/drawing/2014/main" id="{B7220060-D6E8-4FD4-3A85-91FB42B5E446}"/>
              </a:ext>
            </a:extLst>
          </p:cNvPr>
          <p:cNvCxnSpPr>
            <a:stCxn id="16" idx="2"/>
            <a:endCxn id="27" idx="0"/>
          </p:cNvCxnSpPr>
          <p:nvPr/>
        </p:nvCxnSpPr>
        <p:spPr>
          <a:xfrm rot="16200000" flipH="1">
            <a:off x="4872934" y="3580147"/>
            <a:ext cx="577692" cy="1367"/>
          </a:xfrm>
          <a:prstGeom prst="bentConnector3">
            <a:avLst/>
          </a:prstGeom>
        </p:spPr>
        <p:style>
          <a:lnRef idx="2">
            <a:schemeClr val="dk1"/>
          </a:lnRef>
          <a:fillRef idx="0">
            <a:schemeClr val="dk1"/>
          </a:fillRef>
          <a:effectRef idx="1">
            <a:schemeClr val="dk1"/>
          </a:effectRef>
          <a:fontRef idx="minor">
            <a:schemeClr val="tx1"/>
          </a:fontRef>
        </p:style>
      </p:cxnSp>
      <p:sp>
        <p:nvSpPr>
          <p:cNvPr id="68" name="TextBox 67">
            <a:extLst>
              <a:ext uri="{FF2B5EF4-FFF2-40B4-BE49-F238E27FC236}">
                <a16:creationId xmlns:a16="http://schemas.microsoft.com/office/drawing/2014/main" id="{0545A2A1-93D8-83D0-0BEF-248D5DDC5C7B}"/>
              </a:ext>
            </a:extLst>
          </p:cNvPr>
          <p:cNvSpPr txBox="1"/>
          <p:nvPr/>
        </p:nvSpPr>
        <p:spPr>
          <a:xfrm>
            <a:off x="6206225" y="5530850"/>
            <a:ext cx="5070858" cy="646331"/>
          </a:xfrm>
          <a:prstGeom prst="rect">
            <a:avLst/>
          </a:prstGeom>
          <a:noFill/>
        </p:spPr>
        <p:txBody>
          <a:bodyPr wrap="square" rtlCol="0">
            <a:spAutoFit/>
          </a:bodyPr>
          <a:lstStyle/>
          <a:p>
            <a:r>
              <a:rPr lang="en-US" sz="1200">
                <a:latin typeface="Franklin Gothic Book" panose="020B0503020102020204" pitchFamily="34" charset="0"/>
              </a:rPr>
              <a:t>* The placement of tasks on the spectrum are approximations that assume </a:t>
            </a:r>
          </a:p>
          <a:p>
            <a:r>
              <a:rPr lang="en-US" sz="1200">
                <a:latin typeface="Franklin Gothic Book" panose="020B0503020102020204" pitchFamily="34" charset="0"/>
              </a:rPr>
              <a:t>    an optimized prompt with a moderate scope running against validated </a:t>
            </a:r>
          </a:p>
          <a:p>
            <a:r>
              <a:rPr lang="en-US" sz="1200">
                <a:latin typeface="Franklin Gothic Book" panose="020B0503020102020204" pitchFamily="34" charset="0"/>
              </a:rPr>
              <a:t>    data—not simply generated outputs from the model's training dataset.</a:t>
            </a:r>
          </a:p>
        </p:txBody>
      </p:sp>
      <p:sp>
        <p:nvSpPr>
          <p:cNvPr id="71" name="TextBox 70">
            <a:extLst>
              <a:ext uri="{FF2B5EF4-FFF2-40B4-BE49-F238E27FC236}">
                <a16:creationId xmlns:a16="http://schemas.microsoft.com/office/drawing/2014/main" id="{7B52244E-946B-179F-1F9F-F6B9851F4A1C}"/>
              </a:ext>
            </a:extLst>
          </p:cNvPr>
          <p:cNvSpPr txBox="1"/>
          <p:nvPr/>
        </p:nvSpPr>
        <p:spPr>
          <a:xfrm>
            <a:off x="2358644" y="1796735"/>
            <a:ext cx="2021067" cy="584775"/>
          </a:xfrm>
          <a:prstGeom prst="rect">
            <a:avLst/>
          </a:prstGeom>
          <a:noFill/>
        </p:spPr>
        <p:txBody>
          <a:bodyPr wrap="none" rtlCol="0">
            <a:spAutoFit/>
          </a:bodyPr>
          <a:lstStyle/>
          <a:p>
            <a:pPr algn="ctr"/>
            <a:r>
              <a:rPr lang="en-US" b="1">
                <a:latin typeface="Franklin Gothic Book" panose="020B0503020102020204" pitchFamily="34" charset="0"/>
              </a:rPr>
              <a:t>Soft Power Project </a:t>
            </a:r>
          </a:p>
          <a:p>
            <a:pPr algn="ctr"/>
            <a:r>
              <a:rPr lang="en-US" sz="1400">
                <a:latin typeface="Franklin Gothic Book" panose="020B0503020102020204" pitchFamily="34" charset="0"/>
              </a:rPr>
              <a:t>GAI Prompts</a:t>
            </a:r>
          </a:p>
        </p:txBody>
      </p:sp>
    </p:spTree>
    <p:extLst>
      <p:ext uri="{BB962C8B-B14F-4D97-AF65-F5344CB8AC3E}">
        <p14:creationId xmlns:p14="http://schemas.microsoft.com/office/powerpoint/2010/main" val="4003658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4CA44B4-8B06-CD07-0FC7-AFBB7561FDF1}"/>
              </a:ext>
            </a:extLst>
          </p:cNvPr>
          <p:cNvSpPr txBox="1"/>
          <p:nvPr/>
        </p:nvSpPr>
        <p:spPr>
          <a:xfrm>
            <a:off x="338666" y="266786"/>
            <a:ext cx="10541000" cy="6309420"/>
          </a:xfrm>
          <a:prstGeom prst="rect">
            <a:avLst/>
          </a:prstGeom>
          <a:noFill/>
        </p:spPr>
        <p:txBody>
          <a:bodyPr wrap="square">
            <a:spAutoFit/>
          </a:bodyPr>
          <a:lstStyle/>
          <a:p>
            <a:pPr>
              <a:buNone/>
            </a:pPr>
            <a:r>
              <a:rPr lang="en-US" b="1" dirty="0"/>
              <a:t>GAI Workflow Lifecycle</a:t>
            </a:r>
          </a:p>
          <a:p>
            <a:pPr>
              <a:buNone/>
            </a:pPr>
            <a:endParaRPr lang="en-US" b="1" dirty="0"/>
          </a:p>
          <a:p>
            <a:pPr>
              <a:buNone/>
            </a:pPr>
            <a:r>
              <a:rPr lang="en-US" sz="1600" b="1" dirty="0"/>
              <a:t>Phase 1 – Exploration &amp; Experimentation</a:t>
            </a:r>
            <a:endParaRPr lang="en-US" sz="1600" dirty="0"/>
          </a:p>
          <a:p>
            <a:pPr>
              <a:buFont typeface="Arial" panose="020B0604020202020204" pitchFamily="34" charset="0"/>
              <a:buChar char="•"/>
            </a:pPr>
            <a:r>
              <a:rPr lang="en-US" sz="1600" dirty="0"/>
              <a:t>Run small-scale </a:t>
            </a:r>
            <a:r>
              <a:rPr lang="en-US" sz="1600" dirty="0" err="1"/>
              <a:t>PoCs</a:t>
            </a:r>
            <a:r>
              <a:rPr lang="en-US" sz="1600" dirty="0"/>
              <a:t> with </a:t>
            </a:r>
            <a:r>
              <a:rPr lang="en-US" sz="1600" dirty="0" err="1"/>
              <a:t>CompassAI</a:t>
            </a:r>
            <a:r>
              <a:rPr lang="en-US" sz="1600" dirty="0"/>
              <a:t>/Workbench or sandbox environments.</a:t>
            </a:r>
          </a:p>
          <a:p>
            <a:pPr>
              <a:buFont typeface="Arial" panose="020B0604020202020204" pitchFamily="34" charset="0"/>
              <a:buChar char="•"/>
            </a:pPr>
            <a:r>
              <a:rPr lang="en-US" sz="1600" dirty="0"/>
              <a:t>Test prompt designs, evaluate output quality, and document caveats.</a:t>
            </a:r>
          </a:p>
          <a:p>
            <a:pPr>
              <a:buFont typeface="Arial" panose="020B0604020202020204" pitchFamily="34" charset="0"/>
              <a:buChar char="•"/>
            </a:pPr>
            <a:r>
              <a:rPr lang="en-US" sz="1600" dirty="0"/>
              <a:t>Establish early human-in-the-loop validation checkpoints.</a:t>
            </a:r>
          </a:p>
          <a:p>
            <a:endParaRPr lang="en-US" sz="1600" dirty="0"/>
          </a:p>
          <a:p>
            <a:pPr>
              <a:buNone/>
            </a:pPr>
            <a:r>
              <a:rPr lang="en-US" sz="1600" b="1" dirty="0"/>
              <a:t>Phase 2 – Implementation into Development Pipeline</a:t>
            </a:r>
            <a:endParaRPr lang="en-US" sz="1600" dirty="0"/>
          </a:p>
          <a:p>
            <a:pPr>
              <a:buFont typeface="Arial" panose="020B0604020202020204" pitchFamily="34" charset="0"/>
              <a:buChar char="•"/>
            </a:pPr>
            <a:r>
              <a:rPr lang="en-US" sz="1600" dirty="0"/>
              <a:t>Programmatic integration of GAI via API into dev workflows.</a:t>
            </a:r>
          </a:p>
          <a:p>
            <a:pPr>
              <a:buFont typeface="Arial" panose="020B0604020202020204" pitchFamily="34" charset="0"/>
              <a:buChar char="•"/>
            </a:pPr>
            <a:r>
              <a:rPr lang="en-US" sz="1600" dirty="0"/>
              <a:t>Refine model selection by task; optimize latency and cost.</a:t>
            </a:r>
          </a:p>
          <a:p>
            <a:pPr>
              <a:buFont typeface="Arial" panose="020B0604020202020204" pitchFamily="34" charset="0"/>
              <a:buChar char="•"/>
            </a:pPr>
            <a:r>
              <a:rPr lang="en-US" sz="1600" dirty="0"/>
              <a:t>Deploy supporting infrastructure (vector DBs, observability, monitoring).</a:t>
            </a:r>
          </a:p>
          <a:p>
            <a:pPr>
              <a:buFont typeface="Arial" panose="020B0604020202020204" pitchFamily="34" charset="0"/>
              <a:buChar char="•"/>
            </a:pPr>
            <a:r>
              <a:rPr lang="en-US" sz="1600" dirty="0"/>
              <a:t>Demonstrate value at scale (tens of thousands of samples).</a:t>
            </a:r>
          </a:p>
          <a:p>
            <a:pPr>
              <a:buFont typeface="Arial" panose="020B0604020202020204" pitchFamily="34" charset="0"/>
              <a:buChar char="•"/>
            </a:pPr>
            <a:r>
              <a:rPr lang="en-US" sz="1600" dirty="0"/>
              <a:t>Apply governance &amp; risk management frameworks across the pipeline.</a:t>
            </a:r>
          </a:p>
          <a:p>
            <a:pPr>
              <a:buFont typeface="Arial" panose="020B0604020202020204" pitchFamily="34" charset="0"/>
              <a:buChar char="•"/>
            </a:pPr>
            <a:endParaRPr lang="en-US" sz="1600" dirty="0"/>
          </a:p>
          <a:p>
            <a:pPr>
              <a:buNone/>
            </a:pPr>
            <a:r>
              <a:rPr lang="en-US" sz="1600" b="1" dirty="0"/>
              <a:t>Phase 3 – Maintenance &amp; Evaluation</a:t>
            </a:r>
            <a:endParaRPr lang="en-US" sz="1600" dirty="0"/>
          </a:p>
          <a:p>
            <a:pPr>
              <a:buFont typeface="Arial" panose="020B0604020202020204" pitchFamily="34" charset="0"/>
              <a:buChar char="•"/>
            </a:pPr>
            <a:r>
              <a:rPr lang="en-US" sz="1600" dirty="0"/>
              <a:t>Continuously update prompts and workflows as new requirements emerge.</a:t>
            </a:r>
          </a:p>
          <a:p>
            <a:pPr>
              <a:buFont typeface="Arial" panose="020B0604020202020204" pitchFamily="34" charset="0"/>
              <a:buChar char="•"/>
            </a:pPr>
            <a:r>
              <a:rPr lang="en-US" sz="1600" dirty="0"/>
              <a:t>Monitor for model drift, data quality issues, and compliance risks.</a:t>
            </a:r>
          </a:p>
          <a:p>
            <a:pPr>
              <a:buFont typeface="Arial" panose="020B0604020202020204" pitchFamily="34" charset="0"/>
              <a:buChar char="•"/>
            </a:pPr>
            <a:r>
              <a:rPr lang="en-US" sz="1600" dirty="0"/>
              <a:t>Introduce feedback loops from user edits or analyst corrections to improve models.</a:t>
            </a:r>
          </a:p>
          <a:p>
            <a:pPr>
              <a:buFont typeface="Arial" panose="020B0604020202020204" pitchFamily="34" charset="0"/>
              <a:buChar char="•"/>
            </a:pPr>
            <a:r>
              <a:rPr lang="en-US" sz="1600" dirty="0"/>
              <a:t>Periodically evaluate against benchmarks and update documentation.</a:t>
            </a:r>
          </a:p>
          <a:p>
            <a:pPr>
              <a:buFont typeface="Arial" panose="020B0604020202020204" pitchFamily="34" charset="0"/>
              <a:buChar char="•"/>
            </a:pPr>
            <a:endParaRPr lang="en-US" sz="1600" dirty="0"/>
          </a:p>
          <a:p>
            <a:pPr>
              <a:buNone/>
            </a:pPr>
            <a:r>
              <a:rPr lang="en-US" sz="1600" b="1" dirty="0"/>
              <a:t>Phase 4 – Distillation &amp; Specialization</a:t>
            </a:r>
            <a:endParaRPr lang="en-US" sz="1600" dirty="0"/>
          </a:p>
          <a:p>
            <a:pPr>
              <a:buFont typeface="Arial" panose="020B0604020202020204" pitchFamily="34" charset="0"/>
              <a:buChar char="•"/>
            </a:pPr>
            <a:r>
              <a:rPr lang="en-US" sz="1600" dirty="0"/>
              <a:t>Fine-tune SLMs or student models on production-generated datasets.</a:t>
            </a:r>
          </a:p>
          <a:p>
            <a:pPr>
              <a:buFont typeface="Arial" panose="020B0604020202020204" pitchFamily="34" charset="0"/>
              <a:buChar char="•"/>
            </a:pPr>
            <a:r>
              <a:rPr lang="en-US" sz="1600" dirty="0"/>
              <a:t>Build lightweight, domain-specific models for efficiency and portability.</a:t>
            </a:r>
          </a:p>
          <a:p>
            <a:pPr>
              <a:buFont typeface="Arial" panose="020B0604020202020204" pitchFamily="34" charset="0"/>
              <a:buChar char="•"/>
            </a:pPr>
            <a:r>
              <a:rPr lang="en-US" sz="1600" dirty="0"/>
              <a:t>Retire or replace outdated models with updated baselines.</a:t>
            </a:r>
          </a:p>
          <a:p>
            <a:pPr>
              <a:buFont typeface="Arial" panose="020B0604020202020204" pitchFamily="34" charset="0"/>
              <a:buChar char="•"/>
            </a:pPr>
            <a:r>
              <a:rPr lang="en-US" sz="1600" dirty="0"/>
              <a:t>Continue human validation and governance oversight.</a:t>
            </a:r>
          </a:p>
        </p:txBody>
      </p:sp>
      <p:sp>
        <p:nvSpPr>
          <p:cNvPr id="10" name="Star: 5 Points 9">
            <a:extLst>
              <a:ext uri="{FF2B5EF4-FFF2-40B4-BE49-F238E27FC236}">
                <a16:creationId xmlns:a16="http://schemas.microsoft.com/office/drawing/2014/main" id="{9740656C-66C8-9C9E-BD00-E426C680F420}"/>
              </a:ext>
            </a:extLst>
          </p:cNvPr>
          <p:cNvSpPr/>
          <p:nvPr/>
        </p:nvSpPr>
        <p:spPr>
          <a:xfrm>
            <a:off x="6922398" y="3516964"/>
            <a:ext cx="412955" cy="357122"/>
          </a:xfrm>
          <a:prstGeom prst="star5">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E2FF11AD-4765-338F-49A6-52039D2F91CB}"/>
              </a:ext>
            </a:extLst>
          </p:cNvPr>
          <p:cNvCxnSpPr/>
          <p:nvPr/>
        </p:nvCxnSpPr>
        <p:spPr>
          <a:xfrm>
            <a:off x="7462684" y="3210935"/>
            <a:ext cx="0" cy="96918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380933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5EFDBAB-9DCB-7B70-2352-2F1812C238E2}"/>
              </a:ext>
            </a:extLst>
          </p:cNvPr>
          <p:cNvPicPr>
            <a:picLocks noChangeAspect="1"/>
          </p:cNvPicPr>
          <p:nvPr/>
        </p:nvPicPr>
        <p:blipFill>
          <a:blip r:embed="rId2"/>
          <a:stretch>
            <a:fillRect/>
          </a:stretch>
        </p:blipFill>
        <p:spPr>
          <a:xfrm>
            <a:off x="0" y="2012877"/>
            <a:ext cx="6255071" cy="1416123"/>
          </a:xfrm>
          <a:prstGeom prst="rect">
            <a:avLst/>
          </a:prstGeom>
        </p:spPr>
      </p:pic>
      <p:pic>
        <p:nvPicPr>
          <p:cNvPr id="7" name="Picture 6">
            <a:extLst>
              <a:ext uri="{FF2B5EF4-FFF2-40B4-BE49-F238E27FC236}">
                <a16:creationId xmlns:a16="http://schemas.microsoft.com/office/drawing/2014/main" id="{7E7D1CA3-5E70-42B5-92E1-E6CE0F7E1BA3}"/>
              </a:ext>
            </a:extLst>
          </p:cNvPr>
          <p:cNvPicPr>
            <a:picLocks noChangeAspect="1"/>
          </p:cNvPicPr>
          <p:nvPr/>
        </p:nvPicPr>
        <p:blipFill>
          <a:blip r:embed="rId3"/>
          <a:stretch>
            <a:fillRect/>
          </a:stretch>
        </p:blipFill>
        <p:spPr>
          <a:xfrm>
            <a:off x="270087" y="3930721"/>
            <a:ext cx="4864350" cy="2502029"/>
          </a:xfrm>
          <a:prstGeom prst="rect">
            <a:avLst/>
          </a:prstGeom>
        </p:spPr>
      </p:pic>
      <p:pic>
        <p:nvPicPr>
          <p:cNvPr id="11" name="Picture 10">
            <a:extLst>
              <a:ext uri="{FF2B5EF4-FFF2-40B4-BE49-F238E27FC236}">
                <a16:creationId xmlns:a16="http://schemas.microsoft.com/office/drawing/2014/main" id="{00FFC35B-92AB-CF41-48CB-ADF7CF61CBB0}"/>
              </a:ext>
            </a:extLst>
          </p:cNvPr>
          <p:cNvPicPr>
            <a:picLocks noChangeAspect="1"/>
          </p:cNvPicPr>
          <p:nvPr/>
        </p:nvPicPr>
        <p:blipFill>
          <a:blip r:embed="rId4"/>
          <a:stretch>
            <a:fillRect/>
          </a:stretch>
        </p:blipFill>
        <p:spPr>
          <a:xfrm>
            <a:off x="5578614" y="1508289"/>
            <a:ext cx="6565843" cy="2898611"/>
          </a:xfrm>
          <a:prstGeom prst="rect">
            <a:avLst/>
          </a:prstGeom>
        </p:spPr>
      </p:pic>
      <p:pic>
        <p:nvPicPr>
          <p:cNvPr id="13" name="Picture 12">
            <a:extLst>
              <a:ext uri="{FF2B5EF4-FFF2-40B4-BE49-F238E27FC236}">
                <a16:creationId xmlns:a16="http://schemas.microsoft.com/office/drawing/2014/main" id="{A37D0D34-AB46-15E8-B8B4-24DFD37DA7E7}"/>
              </a:ext>
            </a:extLst>
          </p:cNvPr>
          <p:cNvPicPr>
            <a:picLocks noChangeAspect="1"/>
          </p:cNvPicPr>
          <p:nvPr/>
        </p:nvPicPr>
        <p:blipFill>
          <a:blip r:embed="rId5"/>
          <a:stretch>
            <a:fillRect/>
          </a:stretch>
        </p:blipFill>
        <p:spPr>
          <a:xfrm>
            <a:off x="5527859" y="4694549"/>
            <a:ext cx="6312224" cy="1511378"/>
          </a:xfrm>
          <a:prstGeom prst="rect">
            <a:avLst/>
          </a:prstGeom>
        </p:spPr>
      </p:pic>
      <p:sp>
        <p:nvSpPr>
          <p:cNvPr id="16" name="Title 15">
            <a:extLst>
              <a:ext uri="{FF2B5EF4-FFF2-40B4-BE49-F238E27FC236}">
                <a16:creationId xmlns:a16="http://schemas.microsoft.com/office/drawing/2014/main" id="{4DFD9A27-E695-9AD0-B45A-0F2AC5ACDFBF}"/>
              </a:ext>
            </a:extLst>
          </p:cNvPr>
          <p:cNvSpPr>
            <a:spLocks noGrp="1"/>
          </p:cNvSpPr>
          <p:nvPr>
            <p:ph type="title"/>
          </p:nvPr>
        </p:nvSpPr>
        <p:spPr>
          <a:xfrm>
            <a:off x="403411" y="104595"/>
            <a:ext cx="10177556" cy="1133475"/>
          </a:xfrm>
        </p:spPr>
        <p:txBody>
          <a:bodyPr>
            <a:normAutofit/>
          </a:bodyPr>
          <a:lstStyle/>
          <a:p>
            <a:r>
              <a:rPr lang="en-US" sz="4000" dirty="0"/>
              <a:t>Knowledge Distillation (Classification)</a:t>
            </a:r>
          </a:p>
        </p:txBody>
      </p:sp>
    </p:spTree>
    <p:extLst>
      <p:ext uri="{BB962C8B-B14F-4D97-AF65-F5344CB8AC3E}">
        <p14:creationId xmlns:p14="http://schemas.microsoft.com/office/powerpoint/2010/main" val="5318327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4C4DFAD-63D6-0C8E-5D6D-E367A4E6DD5A}"/>
              </a:ext>
            </a:extLst>
          </p:cNvPr>
          <p:cNvPicPr>
            <a:picLocks noChangeAspect="1"/>
          </p:cNvPicPr>
          <p:nvPr/>
        </p:nvPicPr>
        <p:blipFill>
          <a:blip r:embed="rId2"/>
          <a:stretch>
            <a:fillRect/>
          </a:stretch>
        </p:blipFill>
        <p:spPr>
          <a:xfrm>
            <a:off x="285797" y="1680379"/>
            <a:ext cx="5629569" cy="2916790"/>
          </a:xfrm>
          <a:prstGeom prst="rect">
            <a:avLst/>
          </a:prstGeom>
        </p:spPr>
      </p:pic>
      <p:pic>
        <p:nvPicPr>
          <p:cNvPr id="7" name="Picture 6">
            <a:extLst>
              <a:ext uri="{FF2B5EF4-FFF2-40B4-BE49-F238E27FC236}">
                <a16:creationId xmlns:a16="http://schemas.microsoft.com/office/drawing/2014/main" id="{3BF146F5-7EE2-4039-6857-7858936C10EC}"/>
              </a:ext>
            </a:extLst>
          </p:cNvPr>
          <p:cNvPicPr>
            <a:picLocks noChangeAspect="1"/>
          </p:cNvPicPr>
          <p:nvPr/>
        </p:nvPicPr>
        <p:blipFill>
          <a:blip r:embed="rId3"/>
          <a:stretch>
            <a:fillRect/>
          </a:stretch>
        </p:blipFill>
        <p:spPr>
          <a:xfrm>
            <a:off x="5600329" y="1756684"/>
            <a:ext cx="6305874" cy="3130711"/>
          </a:xfrm>
          <a:prstGeom prst="rect">
            <a:avLst/>
          </a:prstGeom>
        </p:spPr>
      </p:pic>
      <p:sp>
        <p:nvSpPr>
          <p:cNvPr id="9" name="TextBox 8">
            <a:extLst>
              <a:ext uri="{FF2B5EF4-FFF2-40B4-BE49-F238E27FC236}">
                <a16:creationId xmlns:a16="http://schemas.microsoft.com/office/drawing/2014/main" id="{2D9CEAF9-5252-F98E-E41C-3F578779144E}"/>
              </a:ext>
            </a:extLst>
          </p:cNvPr>
          <p:cNvSpPr txBox="1"/>
          <p:nvPr/>
        </p:nvSpPr>
        <p:spPr>
          <a:xfrm>
            <a:off x="330201" y="5151238"/>
            <a:ext cx="11700932" cy="1477328"/>
          </a:xfrm>
          <a:prstGeom prst="rect">
            <a:avLst/>
          </a:prstGeom>
          <a:noFill/>
        </p:spPr>
        <p:txBody>
          <a:bodyPr wrap="square">
            <a:spAutoFit/>
          </a:bodyPr>
          <a:lstStyle/>
          <a:p>
            <a:r>
              <a:rPr lang="en-US" b="0" i="0" dirty="0">
                <a:solidFill>
                  <a:srgbClr val="000000"/>
                </a:solidFill>
                <a:effectLst/>
                <a:latin typeface="Times New Roman" panose="02020603050405020304" pitchFamily="18" charset="0"/>
              </a:rPr>
              <a:t>When evaluated against GPT 4o’s synthetic labels, our </a:t>
            </a:r>
            <a:r>
              <a:rPr lang="en-US" b="0" i="0" dirty="0" err="1">
                <a:solidFill>
                  <a:srgbClr val="000000"/>
                </a:solidFill>
                <a:effectLst/>
                <a:latin typeface="Times New Roman" panose="02020603050405020304" pitchFamily="18" charset="0"/>
              </a:rPr>
              <a:t>DistilBERT</a:t>
            </a:r>
            <a:r>
              <a:rPr lang="en-US" b="0" i="0" dirty="0">
                <a:solidFill>
                  <a:srgbClr val="000000"/>
                </a:solidFill>
                <a:effectLst/>
                <a:latin typeface="Times New Roman" panose="02020603050405020304" pitchFamily="18" charset="0"/>
              </a:rPr>
              <a:t> student achieved an overall F1 score of 0.81—closely matching the teacher’s performance with both precision and recall at 0.82. Performance varied by topic, for example Transportation and Public Works led the pack (F1 ≈ 0.97), followed by International Affairs, Science &amp; Technology, and Agriculture &amp; Food (all &gt; 0.95), while Government Operations &amp; Politics was the most challenging category (F1 ≈ 0.71). Across 19 Congressional topics, the student model sustained high accuracy (15 categories &gt; 0.80).</a:t>
            </a:r>
            <a:endParaRPr lang="en-US" dirty="0"/>
          </a:p>
        </p:txBody>
      </p:sp>
      <p:sp>
        <p:nvSpPr>
          <p:cNvPr id="10" name="Title 15">
            <a:extLst>
              <a:ext uri="{FF2B5EF4-FFF2-40B4-BE49-F238E27FC236}">
                <a16:creationId xmlns:a16="http://schemas.microsoft.com/office/drawing/2014/main" id="{5CD90BFE-B84E-2B0B-C0D9-36E7FF638328}"/>
              </a:ext>
            </a:extLst>
          </p:cNvPr>
          <p:cNvSpPr>
            <a:spLocks noGrp="1"/>
          </p:cNvSpPr>
          <p:nvPr>
            <p:ph type="title"/>
          </p:nvPr>
        </p:nvSpPr>
        <p:spPr>
          <a:xfrm>
            <a:off x="403411" y="104595"/>
            <a:ext cx="10177556" cy="1133475"/>
          </a:xfrm>
        </p:spPr>
        <p:txBody>
          <a:bodyPr>
            <a:normAutofit/>
          </a:bodyPr>
          <a:lstStyle/>
          <a:p>
            <a:r>
              <a:rPr lang="en-US" sz="4000" dirty="0"/>
              <a:t>Knowledge Distillation (Cont’d)</a:t>
            </a:r>
          </a:p>
        </p:txBody>
      </p:sp>
    </p:spTree>
    <p:extLst>
      <p:ext uri="{BB962C8B-B14F-4D97-AF65-F5344CB8AC3E}">
        <p14:creationId xmlns:p14="http://schemas.microsoft.com/office/powerpoint/2010/main" val="25810712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9DDE082-08C8-2672-6B21-0A218D65BCEB}"/>
              </a:ext>
            </a:extLst>
          </p:cNvPr>
          <p:cNvSpPr/>
          <p:nvPr/>
        </p:nvSpPr>
        <p:spPr>
          <a:xfrm>
            <a:off x="2740229" y="2416829"/>
            <a:ext cx="1071880" cy="6174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DS&amp;R</a:t>
            </a:r>
          </a:p>
          <a:p>
            <a:pPr algn="ctr"/>
            <a:r>
              <a:rPr lang="en-US" sz="800" dirty="0"/>
              <a:t>Storage</a:t>
            </a:r>
          </a:p>
        </p:txBody>
      </p:sp>
      <p:sp>
        <p:nvSpPr>
          <p:cNvPr id="6" name="Flowchart: Multidocument 5">
            <a:extLst>
              <a:ext uri="{FF2B5EF4-FFF2-40B4-BE49-F238E27FC236}">
                <a16:creationId xmlns:a16="http://schemas.microsoft.com/office/drawing/2014/main" id="{C64A7FC3-9B4F-DD16-6DFD-54D6786A7E90}"/>
              </a:ext>
            </a:extLst>
          </p:cNvPr>
          <p:cNvSpPr/>
          <p:nvPr/>
        </p:nvSpPr>
        <p:spPr>
          <a:xfrm>
            <a:off x="302257" y="2390825"/>
            <a:ext cx="823302" cy="787380"/>
          </a:xfrm>
          <a:prstGeom prst="flowChartMulti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Collections</a:t>
            </a:r>
          </a:p>
        </p:txBody>
      </p:sp>
      <p:sp>
        <p:nvSpPr>
          <p:cNvPr id="7" name="Flowchart: Process 6">
            <a:extLst>
              <a:ext uri="{FF2B5EF4-FFF2-40B4-BE49-F238E27FC236}">
                <a16:creationId xmlns:a16="http://schemas.microsoft.com/office/drawing/2014/main" id="{0DF1A86B-5647-9729-0D42-8685D4B06B52}"/>
              </a:ext>
            </a:extLst>
          </p:cNvPr>
          <p:cNvSpPr/>
          <p:nvPr/>
        </p:nvSpPr>
        <p:spPr>
          <a:xfrm>
            <a:off x="1400522" y="2408768"/>
            <a:ext cx="911317" cy="617438"/>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GAI</a:t>
            </a:r>
          </a:p>
          <a:p>
            <a:pPr algn="ctr"/>
            <a:r>
              <a:rPr lang="en-US" sz="800" dirty="0"/>
              <a:t>Salience &amp; Extraction Runs</a:t>
            </a:r>
          </a:p>
          <a:p>
            <a:pPr algn="ctr"/>
            <a:endParaRPr lang="en-US" sz="800" dirty="0"/>
          </a:p>
        </p:txBody>
      </p:sp>
      <p:sp>
        <p:nvSpPr>
          <p:cNvPr id="8" name="Rectangle 7">
            <a:extLst>
              <a:ext uri="{FF2B5EF4-FFF2-40B4-BE49-F238E27FC236}">
                <a16:creationId xmlns:a16="http://schemas.microsoft.com/office/drawing/2014/main" id="{6F3EA5D7-3517-79B5-85B3-EB308D20B840}"/>
              </a:ext>
            </a:extLst>
          </p:cNvPr>
          <p:cNvSpPr/>
          <p:nvPr/>
        </p:nvSpPr>
        <p:spPr>
          <a:xfrm>
            <a:off x="4164060" y="3255914"/>
            <a:ext cx="1177184" cy="1877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Activity Aggregation</a:t>
            </a:r>
          </a:p>
        </p:txBody>
      </p:sp>
      <p:sp>
        <p:nvSpPr>
          <p:cNvPr id="9" name="Rectangle 8">
            <a:extLst>
              <a:ext uri="{FF2B5EF4-FFF2-40B4-BE49-F238E27FC236}">
                <a16:creationId xmlns:a16="http://schemas.microsoft.com/office/drawing/2014/main" id="{BB01DDE2-DB47-49E4-7120-78537C81E19D}"/>
              </a:ext>
            </a:extLst>
          </p:cNvPr>
          <p:cNvSpPr/>
          <p:nvPr/>
        </p:nvSpPr>
        <p:spPr>
          <a:xfrm>
            <a:off x="4164059" y="3488398"/>
            <a:ext cx="1177185" cy="41825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Daily/Monthly/</a:t>
            </a:r>
            <a:r>
              <a:rPr lang="en-US" sz="800" dirty="0" err="1"/>
              <a:t>WeeklyAggregation</a:t>
            </a:r>
            <a:endParaRPr lang="en-US" sz="800" dirty="0"/>
          </a:p>
        </p:txBody>
      </p:sp>
      <p:sp>
        <p:nvSpPr>
          <p:cNvPr id="10" name="Rectangle 9">
            <a:extLst>
              <a:ext uri="{FF2B5EF4-FFF2-40B4-BE49-F238E27FC236}">
                <a16:creationId xmlns:a16="http://schemas.microsoft.com/office/drawing/2014/main" id="{C70DB165-3BB5-5E74-0D20-5A72BC029880}"/>
              </a:ext>
            </a:extLst>
          </p:cNvPr>
          <p:cNvSpPr/>
          <p:nvPr/>
        </p:nvSpPr>
        <p:spPr>
          <a:xfrm>
            <a:off x="4179304" y="2461084"/>
            <a:ext cx="1071880" cy="6174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Post-Processing</a:t>
            </a:r>
          </a:p>
        </p:txBody>
      </p:sp>
      <p:sp>
        <p:nvSpPr>
          <p:cNvPr id="11" name="Flowchart: Magnetic Disk 10">
            <a:extLst>
              <a:ext uri="{FF2B5EF4-FFF2-40B4-BE49-F238E27FC236}">
                <a16:creationId xmlns:a16="http://schemas.microsoft.com/office/drawing/2014/main" id="{90612F43-46D1-AFF2-28B3-3A0971CA91D2}"/>
              </a:ext>
            </a:extLst>
          </p:cNvPr>
          <p:cNvSpPr/>
          <p:nvPr/>
        </p:nvSpPr>
        <p:spPr>
          <a:xfrm>
            <a:off x="6092358" y="2478449"/>
            <a:ext cx="1195868" cy="478076"/>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err="1"/>
              <a:t>Softpower</a:t>
            </a:r>
            <a:r>
              <a:rPr lang="en-US" sz="800" dirty="0"/>
              <a:t> DB (</a:t>
            </a:r>
            <a:r>
              <a:rPr lang="en-US" sz="800" dirty="0" err="1"/>
              <a:t>pgvector</a:t>
            </a:r>
            <a:r>
              <a:rPr lang="en-US" sz="800" dirty="0"/>
              <a:t>)</a:t>
            </a:r>
          </a:p>
        </p:txBody>
      </p:sp>
      <p:sp>
        <p:nvSpPr>
          <p:cNvPr id="12" name="Flowchart: Document 11">
            <a:extLst>
              <a:ext uri="{FF2B5EF4-FFF2-40B4-BE49-F238E27FC236}">
                <a16:creationId xmlns:a16="http://schemas.microsoft.com/office/drawing/2014/main" id="{BDABCFF3-C9B8-801E-0C66-913A85A0F4B7}"/>
              </a:ext>
            </a:extLst>
          </p:cNvPr>
          <p:cNvSpPr/>
          <p:nvPr/>
        </p:nvSpPr>
        <p:spPr>
          <a:xfrm>
            <a:off x="8619136" y="3028393"/>
            <a:ext cx="931247" cy="719888"/>
          </a:xfrm>
          <a:prstGeom prst="flowChart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Monthly/Weekly Overview</a:t>
            </a:r>
          </a:p>
          <a:p>
            <a:pPr algn="ctr"/>
            <a:r>
              <a:rPr lang="en-US" sz="800" dirty="0"/>
              <a:t>Publication</a:t>
            </a:r>
          </a:p>
        </p:txBody>
      </p:sp>
      <p:sp>
        <p:nvSpPr>
          <p:cNvPr id="13" name="Flowchart: Document 12">
            <a:extLst>
              <a:ext uri="{FF2B5EF4-FFF2-40B4-BE49-F238E27FC236}">
                <a16:creationId xmlns:a16="http://schemas.microsoft.com/office/drawing/2014/main" id="{7B004BF6-BB97-79C7-5840-982BA56847DB}"/>
              </a:ext>
            </a:extLst>
          </p:cNvPr>
          <p:cNvSpPr/>
          <p:nvPr/>
        </p:nvSpPr>
        <p:spPr>
          <a:xfrm>
            <a:off x="8608751" y="2126532"/>
            <a:ext cx="936793" cy="719888"/>
          </a:xfrm>
          <a:prstGeom prst="flowChart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Hosted</a:t>
            </a:r>
          </a:p>
          <a:p>
            <a:pPr algn="ctr"/>
            <a:r>
              <a:rPr lang="en-US" sz="800" dirty="0"/>
              <a:t>Dashboard</a:t>
            </a:r>
          </a:p>
        </p:txBody>
      </p:sp>
      <p:sp>
        <p:nvSpPr>
          <p:cNvPr id="14" name="Flowchart: Document 13">
            <a:extLst>
              <a:ext uri="{FF2B5EF4-FFF2-40B4-BE49-F238E27FC236}">
                <a16:creationId xmlns:a16="http://schemas.microsoft.com/office/drawing/2014/main" id="{562732BF-3098-373F-911C-176E71203BD3}"/>
              </a:ext>
            </a:extLst>
          </p:cNvPr>
          <p:cNvSpPr/>
          <p:nvPr/>
        </p:nvSpPr>
        <p:spPr>
          <a:xfrm>
            <a:off x="8619135" y="3937432"/>
            <a:ext cx="926403" cy="719888"/>
          </a:xfrm>
          <a:prstGeom prst="flowChart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Soft Power Agent UI</a:t>
            </a:r>
          </a:p>
        </p:txBody>
      </p:sp>
      <p:sp>
        <p:nvSpPr>
          <p:cNvPr id="15" name="TextBox 14">
            <a:extLst>
              <a:ext uri="{FF2B5EF4-FFF2-40B4-BE49-F238E27FC236}">
                <a16:creationId xmlns:a16="http://schemas.microsoft.com/office/drawing/2014/main" id="{339323BF-D757-EE7D-123F-9237D64E4D22}"/>
              </a:ext>
            </a:extLst>
          </p:cNvPr>
          <p:cNvSpPr txBox="1"/>
          <p:nvPr/>
        </p:nvSpPr>
        <p:spPr>
          <a:xfrm>
            <a:off x="9643628" y="2975537"/>
            <a:ext cx="931255" cy="507831"/>
          </a:xfrm>
          <a:prstGeom prst="rect">
            <a:avLst/>
          </a:prstGeom>
          <a:noFill/>
        </p:spPr>
        <p:txBody>
          <a:bodyPr wrap="square" rtlCol="0">
            <a:spAutoFit/>
          </a:bodyPr>
          <a:lstStyle/>
          <a:p>
            <a:r>
              <a:rPr lang="en-US" sz="900" dirty="0"/>
              <a:t>Distributed to Community for SA</a:t>
            </a:r>
          </a:p>
        </p:txBody>
      </p:sp>
      <p:sp>
        <p:nvSpPr>
          <p:cNvPr id="16" name="TextBox 15">
            <a:extLst>
              <a:ext uri="{FF2B5EF4-FFF2-40B4-BE49-F238E27FC236}">
                <a16:creationId xmlns:a16="http://schemas.microsoft.com/office/drawing/2014/main" id="{423E2672-61F9-144E-CEE5-FF1A4C819E5E}"/>
              </a:ext>
            </a:extLst>
          </p:cNvPr>
          <p:cNvSpPr txBox="1"/>
          <p:nvPr/>
        </p:nvSpPr>
        <p:spPr>
          <a:xfrm>
            <a:off x="5341244" y="420511"/>
            <a:ext cx="931255" cy="230832"/>
          </a:xfrm>
          <a:prstGeom prst="rect">
            <a:avLst/>
          </a:prstGeom>
          <a:noFill/>
        </p:spPr>
        <p:txBody>
          <a:bodyPr wrap="square" rtlCol="0">
            <a:spAutoFit/>
          </a:bodyPr>
          <a:lstStyle/>
          <a:p>
            <a:r>
              <a:rPr lang="en-US" sz="900" i="1" dirty="0"/>
              <a:t>backend</a:t>
            </a:r>
          </a:p>
        </p:txBody>
      </p:sp>
      <p:sp>
        <p:nvSpPr>
          <p:cNvPr id="17" name="TextBox 16">
            <a:extLst>
              <a:ext uri="{FF2B5EF4-FFF2-40B4-BE49-F238E27FC236}">
                <a16:creationId xmlns:a16="http://schemas.microsoft.com/office/drawing/2014/main" id="{F2762B5D-04F5-8EF0-330B-5B2A22D3E69B}"/>
              </a:ext>
            </a:extLst>
          </p:cNvPr>
          <p:cNvSpPr txBox="1"/>
          <p:nvPr/>
        </p:nvSpPr>
        <p:spPr>
          <a:xfrm>
            <a:off x="9595391" y="3873051"/>
            <a:ext cx="1385684" cy="507831"/>
          </a:xfrm>
          <a:prstGeom prst="rect">
            <a:avLst/>
          </a:prstGeom>
          <a:noFill/>
        </p:spPr>
        <p:txBody>
          <a:bodyPr wrap="square" rtlCol="0">
            <a:spAutoFit/>
          </a:bodyPr>
          <a:lstStyle/>
          <a:p>
            <a:r>
              <a:rPr lang="en-US" sz="900" dirty="0"/>
              <a:t>Dynamic interactions with SP data via prompts</a:t>
            </a:r>
          </a:p>
        </p:txBody>
      </p:sp>
      <p:sp>
        <p:nvSpPr>
          <p:cNvPr id="18" name="Flowchart: Document 17">
            <a:extLst>
              <a:ext uri="{FF2B5EF4-FFF2-40B4-BE49-F238E27FC236}">
                <a16:creationId xmlns:a16="http://schemas.microsoft.com/office/drawing/2014/main" id="{0F9C67BE-8E95-345F-55DD-4D697788FD9C}"/>
              </a:ext>
            </a:extLst>
          </p:cNvPr>
          <p:cNvSpPr/>
          <p:nvPr/>
        </p:nvSpPr>
        <p:spPr>
          <a:xfrm>
            <a:off x="8614302" y="1222891"/>
            <a:ext cx="931242" cy="719888"/>
          </a:xfrm>
          <a:prstGeom prst="flowChart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Hard Target Project &amp; Event Index</a:t>
            </a:r>
          </a:p>
        </p:txBody>
      </p:sp>
      <p:sp>
        <p:nvSpPr>
          <p:cNvPr id="19" name="TextBox 18">
            <a:extLst>
              <a:ext uri="{FF2B5EF4-FFF2-40B4-BE49-F238E27FC236}">
                <a16:creationId xmlns:a16="http://schemas.microsoft.com/office/drawing/2014/main" id="{B6749CE2-0EE8-7CD2-F2B0-EBA73E80066A}"/>
              </a:ext>
            </a:extLst>
          </p:cNvPr>
          <p:cNvSpPr txBox="1"/>
          <p:nvPr/>
        </p:nvSpPr>
        <p:spPr>
          <a:xfrm>
            <a:off x="9643628" y="1142595"/>
            <a:ext cx="931255" cy="784830"/>
          </a:xfrm>
          <a:prstGeom prst="rect">
            <a:avLst/>
          </a:prstGeom>
          <a:noFill/>
        </p:spPr>
        <p:txBody>
          <a:bodyPr wrap="square" rtlCol="0">
            <a:spAutoFit/>
          </a:bodyPr>
          <a:lstStyle/>
          <a:p>
            <a:r>
              <a:rPr lang="en-US" sz="900" dirty="0"/>
              <a:t>Status tracking of hard target SP projects and events of interest</a:t>
            </a:r>
          </a:p>
        </p:txBody>
      </p:sp>
      <p:cxnSp>
        <p:nvCxnSpPr>
          <p:cNvPr id="21" name="Straight Connector 20">
            <a:extLst>
              <a:ext uri="{FF2B5EF4-FFF2-40B4-BE49-F238E27FC236}">
                <a16:creationId xmlns:a16="http://schemas.microsoft.com/office/drawing/2014/main" id="{9E4F9420-3E69-2779-62B0-72111F2F0F63}"/>
              </a:ext>
            </a:extLst>
          </p:cNvPr>
          <p:cNvCxnSpPr/>
          <p:nvPr/>
        </p:nvCxnSpPr>
        <p:spPr>
          <a:xfrm>
            <a:off x="2568676" y="1023572"/>
            <a:ext cx="0" cy="4041058"/>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2" name="Straight Connector 21">
            <a:extLst>
              <a:ext uri="{FF2B5EF4-FFF2-40B4-BE49-F238E27FC236}">
                <a16:creationId xmlns:a16="http://schemas.microsoft.com/office/drawing/2014/main" id="{E1F9F763-73BE-D44D-16D7-4087BFD80AD9}"/>
              </a:ext>
            </a:extLst>
          </p:cNvPr>
          <p:cNvCxnSpPr/>
          <p:nvPr/>
        </p:nvCxnSpPr>
        <p:spPr>
          <a:xfrm>
            <a:off x="8228644" y="1005677"/>
            <a:ext cx="0" cy="4041058"/>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3" name="TextBox 22">
            <a:extLst>
              <a:ext uri="{FF2B5EF4-FFF2-40B4-BE49-F238E27FC236}">
                <a16:creationId xmlns:a16="http://schemas.microsoft.com/office/drawing/2014/main" id="{0E425686-7516-2B69-2A8E-2590BE507C7C}"/>
              </a:ext>
            </a:extLst>
          </p:cNvPr>
          <p:cNvSpPr txBox="1"/>
          <p:nvPr/>
        </p:nvSpPr>
        <p:spPr>
          <a:xfrm>
            <a:off x="9608174" y="2067660"/>
            <a:ext cx="931255" cy="646331"/>
          </a:xfrm>
          <a:prstGeom prst="rect">
            <a:avLst/>
          </a:prstGeom>
          <a:noFill/>
        </p:spPr>
        <p:txBody>
          <a:bodyPr wrap="square" rtlCol="0">
            <a:spAutoFit/>
          </a:bodyPr>
          <a:lstStyle/>
          <a:p>
            <a:r>
              <a:rPr lang="en-US" sz="900" dirty="0"/>
              <a:t>Deep dive on analytics, data quality, and sourcing</a:t>
            </a:r>
          </a:p>
        </p:txBody>
      </p:sp>
      <p:sp>
        <p:nvSpPr>
          <p:cNvPr id="24" name="TextBox 23">
            <a:extLst>
              <a:ext uri="{FF2B5EF4-FFF2-40B4-BE49-F238E27FC236}">
                <a16:creationId xmlns:a16="http://schemas.microsoft.com/office/drawing/2014/main" id="{71520804-5826-E65D-3CC8-D67BA81E28D4}"/>
              </a:ext>
            </a:extLst>
          </p:cNvPr>
          <p:cNvSpPr txBox="1"/>
          <p:nvPr/>
        </p:nvSpPr>
        <p:spPr>
          <a:xfrm>
            <a:off x="1467744" y="420511"/>
            <a:ext cx="931255" cy="230832"/>
          </a:xfrm>
          <a:prstGeom prst="rect">
            <a:avLst/>
          </a:prstGeom>
          <a:noFill/>
        </p:spPr>
        <p:txBody>
          <a:bodyPr wrap="square" rtlCol="0">
            <a:spAutoFit/>
          </a:bodyPr>
          <a:lstStyle/>
          <a:p>
            <a:r>
              <a:rPr lang="en-US" sz="900" i="1" dirty="0"/>
              <a:t>Inputs</a:t>
            </a:r>
          </a:p>
        </p:txBody>
      </p:sp>
      <p:sp>
        <p:nvSpPr>
          <p:cNvPr id="25" name="TextBox 24">
            <a:extLst>
              <a:ext uri="{FF2B5EF4-FFF2-40B4-BE49-F238E27FC236}">
                <a16:creationId xmlns:a16="http://schemas.microsoft.com/office/drawing/2014/main" id="{3883C120-5B93-9D9E-9836-91D1586363AE}"/>
              </a:ext>
            </a:extLst>
          </p:cNvPr>
          <p:cNvSpPr txBox="1"/>
          <p:nvPr/>
        </p:nvSpPr>
        <p:spPr>
          <a:xfrm>
            <a:off x="9373902" y="448362"/>
            <a:ext cx="931255" cy="230832"/>
          </a:xfrm>
          <a:prstGeom prst="rect">
            <a:avLst/>
          </a:prstGeom>
          <a:noFill/>
        </p:spPr>
        <p:txBody>
          <a:bodyPr wrap="square" rtlCol="0">
            <a:spAutoFit/>
          </a:bodyPr>
          <a:lstStyle/>
          <a:p>
            <a:r>
              <a:rPr lang="en-US" sz="900" i="1" dirty="0"/>
              <a:t>front end</a:t>
            </a:r>
          </a:p>
        </p:txBody>
      </p:sp>
      <p:sp>
        <p:nvSpPr>
          <p:cNvPr id="2" name="Rectangle 1">
            <a:extLst>
              <a:ext uri="{FF2B5EF4-FFF2-40B4-BE49-F238E27FC236}">
                <a16:creationId xmlns:a16="http://schemas.microsoft.com/office/drawing/2014/main" id="{F5C71D44-0E57-FAAF-AEBD-CE2FA1570FE7}"/>
              </a:ext>
            </a:extLst>
          </p:cNvPr>
          <p:cNvSpPr/>
          <p:nvPr/>
        </p:nvSpPr>
        <p:spPr>
          <a:xfrm>
            <a:off x="5833746" y="3080676"/>
            <a:ext cx="1903559" cy="1877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Document Metadata</a:t>
            </a:r>
          </a:p>
        </p:txBody>
      </p:sp>
      <p:sp>
        <p:nvSpPr>
          <p:cNvPr id="3" name="Rectangle 2">
            <a:extLst>
              <a:ext uri="{FF2B5EF4-FFF2-40B4-BE49-F238E27FC236}">
                <a16:creationId xmlns:a16="http://schemas.microsoft.com/office/drawing/2014/main" id="{BA68493E-E8D4-649A-C61B-4F9BEBBFDC28}"/>
              </a:ext>
            </a:extLst>
          </p:cNvPr>
          <p:cNvSpPr/>
          <p:nvPr/>
        </p:nvSpPr>
        <p:spPr>
          <a:xfrm>
            <a:off x="5832570" y="4020398"/>
            <a:ext cx="1903559" cy="1877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GAI Extraction Data</a:t>
            </a:r>
          </a:p>
        </p:txBody>
      </p:sp>
      <p:sp>
        <p:nvSpPr>
          <p:cNvPr id="20" name="Rectangle 19">
            <a:extLst>
              <a:ext uri="{FF2B5EF4-FFF2-40B4-BE49-F238E27FC236}">
                <a16:creationId xmlns:a16="http://schemas.microsoft.com/office/drawing/2014/main" id="{84365311-926D-2FE5-AEA2-8C117BA0A0D2}"/>
              </a:ext>
            </a:extLst>
          </p:cNvPr>
          <p:cNvSpPr/>
          <p:nvPr/>
        </p:nvSpPr>
        <p:spPr>
          <a:xfrm>
            <a:off x="4162865" y="3984039"/>
            <a:ext cx="1177184" cy="2119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Distilled Text Embedding</a:t>
            </a:r>
          </a:p>
        </p:txBody>
      </p:sp>
      <p:sp>
        <p:nvSpPr>
          <p:cNvPr id="26" name="Rectangle 25">
            <a:extLst>
              <a:ext uri="{FF2B5EF4-FFF2-40B4-BE49-F238E27FC236}">
                <a16:creationId xmlns:a16="http://schemas.microsoft.com/office/drawing/2014/main" id="{93B19D33-8FD3-D85C-2596-4DF8ABA7E963}"/>
              </a:ext>
            </a:extLst>
          </p:cNvPr>
          <p:cNvSpPr/>
          <p:nvPr/>
        </p:nvSpPr>
        <p:spPr>
          <a:xfrm>
            <a:off x="4162865" y="4273333"/>
            <a:ext cx="1187908" cy="2119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Event Embeddings</a:t>
            </a:r>
          </a:p>
        </p:txBody>
      </p:sp>
      <p:sp>
        <p:nvSpPr>
          <p:cNvPr id="27" name="Rectangle 26">
            <a:extLst>
              <a:ext uri="{FF2B5EF4-FFF2-40B4-BE49-F238E27FC236}">
                <a16:creationId xmlns:a16="http://schemas.microsoft.com/office/drawing/2014/main" id="{CB739414-ACDA-19DE-1AF3-FE37B4607AD7}"/>
              </a:ext>
            </a:extLst>
          </p:cNvPr>
          <p:cNvSpPr/>
          <p:nvPr/>
        </p:nvSpPr>
        <p:spPr>
          <a:xfrm>
            <a:off x="4153330" y="4579616"/>
            <a:ext cx="1187908" cy="24061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Project Embeddings</a:t>
            </a:r>
          </a:p>
        </p:txBody>
      </p:sp>
      <p:sp>
        <p:nvSpPr>
          <p:cNvPr id="28" name="Flowchart: Magnetic Disk 27">
            <a:extLst>
              <a:ext uri="{FF2B5EF4-FFF2-40B4-BE49-F238E27FC236}">
                <a16:creationId xmlns:a16="http://schemas.microsoft.com/office/drawing/2014/main" id="{A8343CCA-3455-40BC-4A4E-6EE8E9A0A3E7}"/>
              </a:ext>
            </a:extLst>
          </p:cNvPr>
          <p:cNvSpPr/>
          <p:nvPr/>
        </p:nvSpPr>
        <p:spPr>
          <a:xfrm>
            <a:off x="4204536" y="4907298"/>
            <a:ext cx="1104566" cy="478076"/>
          </a:xfrm>
          <a:prstGeom prst="flowChartMagneticDisk">
            <a:avLst/>
          </a:prstGeom>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("all-MiniLM-L6-v2")</a:t>
            </a:r>
          </a:p>
        </p:txBody>
      </p:sp>
      <p:sp>
        <p:nvSpPr>
          <p:cNvPr id="30" name="TextBox 29">
            <a:extLst>
              <a:ext uri="{FF2B5EF4-FFF2-40B4-BE49-F238E27FC236}">
                <a16:creationId xmlns:a16="http://schemas.microsoft.com/office/drawing/2014/main" id="{B3034F5E-4B12-FC31-30FA-70039C401C63}"/>
              </a:ext>
            </a:extLst>
          </p:cNvPr>
          <p:cNvSpPr txBox="1"/>
          <p:nvPr/>
        </p:nvSpPr>
        <p:spPr>
          <a:xfrm>
            <a:off x="3411987" y="5485372"/>
            <a:ext cx="4601714" cy="707886"/>
          </a:xfrm>
          <a:prstGeom prst="rect">
            <a:avLst/>
          </a:prstGeom>
          <a:noFill/>
        </p:spPr>
        <p:txBody>
          <a:bodyPr wrap="square" rtlCol="0">
            <a:spAutoFit/>
          </a:bodyPr>
          <a:lstStyle/>
          <a:p>
            <a:pPr marL="171450" indent="-171450">
              <a:buFont typeface="Arial" panose="020B0604020202020204" pitchFamily="34" charset="0"/>
              <a:buChar char="•"/>
            </a:pPr>
            <a:r>
              <a:rPr lang="en-US" sz="1000" dirty="0"/>
              <a:t>Document and GAI Extractions data are parsed </a:t>
            </a:r>
          </a:p>
          <a:p>
            <a:pPr marL="171450" indent="-171450">
              <a:buFont typeface="Arial" panose="020B0604020202020204" pitchFamily="34" charset="0"/>
              <a:buChar char="•"/>
            </a:pPr>
            <a:r>
              <a:rPr lang="en-US" sz="1000" dirty="0"/>
              <a:t>Distilled texts are grouped and summarized using GAI</a:t>
            </a:r>
          </a:p>
          <a:p>
            <a:pPr marL="171450" indent="-171450">
              <a:buFont typeface="Arial" panose="020B0604020202020204" pitchFamily="34" charset="0"/>
              <a:buChar char="•"/>
            </a:pPr>
            <a:r>
              <a:rPr lang="en-US" sz="1000" dirty="0"/>
              <a:t>Unique Event &amp; Project identification</a:t>
            </a:r>
          </a:p>
          <a:p>
            <a:pPr marL="171450" indent="-171450">
              <a:buFont typeface="Arial" panose="020B0604020202020204" pitchFamily="34" charset="0"/>
              <a:buChar char="•"/>
            </a:pPr>
            <a:r>
              <a:rPr lang="en-US" sz="1000" dirty="0"/>
              <a:t>Project &amp; Event Summary Updates using GAI</a:t>
            </a:r>
          </a:p>
        </p:txBody>
      </p:sp>
      <p:sp>
        <p:nvSpPr>
          <p:cNvPr id="31" name="Rectangle 30">
            <a:extLst>
              <a:ext uri="{FF2B5EF4-FFF2-40B4-BE49-F238E27FC236}">
                <a16:creationId xmlns:a16="http://schemas.microsoft.com/office/drawing/2014/main" id="{DC35FC2F-8DB2-DBD9-34CB-1678104A1986}"/>
              </a:ext>
            </a:extLst>
          </p:cNvPr>
          <p:cNvSpPr/>
          <p:nvPr/>
        </p:nvSpPr>
        <p:spPr>
          <a:xfrm>
            <a:off x="5832580" y="3550536"/>
            <a:ext cx="1903549" cy="1877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Unique Activity Abstracts</a:t>
            </a:r>
          </a:p>
        </p:txBody>
      </p:sp>
      <p:sp>
        <p:nvSpPr>
          <p:cNvPr id="33" name="Rectangle 32">
            <a:extLst>
              <a:ext uri="{FF2B5EF4-FFF2-40B4-BE49-F238E27FC236}">
                <a16:creationId xmlns:a16="http://schemas.microsoft.com/office/drawing/2014/main" id="{CAD80B12-5867-12EA-6D5B-F830FC02C9CA}"/>
              </a:ext>
            </a:extLst>
          </p:cNvPr>
          <p:cNvSpPr/>
          <p:nvPr/>
        </p:nvSpPr>
        <p:spPr>
          <a:xfrm>
            <a:off x="5832580" y="3791836"/>
            <a:ext cx="1903549" cy="1877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Daily/Weekly/Monthly Abstracts</a:t>
            </a:r>
          </a:p>
        </p:txBody>
      </p:sp>
      <p:sp>
        <p:nvSpPr>
          <p:cNvPr id="34" name="Rectangle 33">
            <a:extLst>
              <a:ext uri="{FF2B5EF4-FFF2-40B4-BE49-F238E27FC236}">
                <a16:creationId xmlns:a16="http://schemas.microsoft.com/office/drawing/2014/main" id="{C7EE0D30-9C9A-1FFC-E482-EEF4B1A32AC2}"/>
              </a:ext>
            </a:extLst>
          </p:cNvPr>
          <p:cNvSpPr/>
          <p:nvPr/>
        </p:nvSpPr>
        <p:spPr>
          <a:xfrm>
            <a:off x="5832570" y="3324978"/>
            <a:ext cx="1903549" cy="1877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GAI Extractions</a:t>
            </a:r>
          </a:p>
        </p:txBody>
      </p:sp>
      <p:sp>
        <p:nvSpPr>
          <p:cNvPr id="35" name="TextBox 34">
            <a:extLst>
              <a:ext uri="{FF2B5EF4-FFF2-40B4-BE49-F238E27FC236}">
                <a16:creationId xmlns:a16="http://schemas.microsoft.com/office/drawing/2014/main" id="{2A8006EE-CCA9-7979-79CD-490869CE8213}"/>
              </a:ext>
            </a:extLst>
          </p:cNvPr>
          <p:cNvSpPr txBox="1"/>
          <p:nvPr/>
        </p:nvSpPr>
        <p:spPr>
          <a:xfrm>
            <a:off x="8520668" y="5512023"/>
            <a:ext cx="3177173" cy="707886"/>
          </a:xfrm>
          <a:prstGeom prst="rect">
            <a:avLst/>
          </a:prstGeom>
          <a:noFill/>
        </p:spPr>
        <p:txBody>
          <a:bodyPr wrap="square" rtlCol="0">
            <a:spAutoFit/>
          </a:bodyPr>
          <a:lstStyle/>
          <a:p>
            <a:pPr marL="171450" indent="-171450">
              <a:buFont typeface="Arial" panose="020B0604020202020204" pitchFamily="34" charset="0"/>
              <a:buChar char="•"/>
            </a:pPr>
            <a:r>
              <a:rPr lang="en-US" sz="1000" dirty="0"/>
              <a:t>Unique Soft Power Event Index</a:t>
            </a:r>
          </a:p>
          <a:p>
            <a:pPr marL="171450" indent="-171450">
              <a:buFont typeface="Arial" panose="020B0604020202020204" pitchFamily="34" charset="0"/>
              <a:buChar char="•"/>
            </a:pPr>
            <a:r>
              <a:rPr lang="en-US" sz="1000" dirty="0"/>
              <a:t>Analytics dashboard (</a:t>
            </a:r>
            <a:r>
              <a:rPr lang="en-US" sz="1000" dirty="0" err="1"/>
              <a:t>streamlit</a:t>
            </a:r>
            <a:r>
              <a:rPr lang="en-US" sz="1000" dirty="0"/>
              <a:t>)</a:t>
            </a:r>
          </a:p>
          <a:p>
            <a:pPr marL="171450" indent="-171450">
              <a:buFont typeface="Arial" panose="020B0604020202020204" pitchFamily="34" charset="0"/>
              <a:buChar char="•"/>
            </a:pPr>
            <a:r>
              <a:rPr lang="en-US" sz="1000" dirty="0"/>
              <a:t>Summary Publications</a:t>
            </a:r>
          </a:p>
          <a:p>
            <a:pPr marL="171450" indent="-171450">
              <a:buFont typeface="Arial" panose="020B0604020202020204" pitchFamily="34" charset="0"/>
              <a:buChar char="•"/>
            </a:pPr>
            <a:r>
              <a:rPr lang="en-US" sz="1000" dirty="0"/>
              <a:t>Research and Insight development via Agentic UI</a:t>
            </a:r>
          </a:p>
        </p:txBody>
      </p:sp>
    </p:spTree>
    <p:extLst>
      <p:ext uri="{BB962C8B-B14F-4D97-AF65-F5344CB8AC3E}">
        <p14:creationId xmlns:p14="http://schemas.microsoft.com/office/powerpoint/2010/main" val="2848748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Text&#10;&#10;AI-generated content may be incorrect.">
            <a:extLst>
              <a:ext uri="{FF2B5EF4-FFF2-40B4-BE49-F238E27FC236}">
                <a16:creationId xmlns:a16="http://schemas.microsoft.com/office/drawing/2014/main" id="{BF95F9C0-1AA2-21F7-0BAF-5EFFFF51B3F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36880" y="133728"/>
            <a:ext cx="4480560" cy="6590544"/>
          </a:xfrm>
        </p:spPr>
      </p:pic>
    </p:spTree>
    <p:extLst>
      <p:ext uri="{BB962C8B-B14F-4D97-AF65-F5344CB8AC3E}">
        <p14:creationId xmlns:p14="http://schemas.microsoft.com/office/powerpoint/2010/main" val="8488957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ext&#10;&#10;AI-generated content may be incorrect.">
            <a:extLst>
              <a:ext uri="{FF2B5EF4-FFF2-40B4-BE49-F238E27FC236}">
                <a16:creationId xmlns:a16="http://schemas.microsoft.com/office/drawing/2014/main" id="{E6D41825-3B08-CD0E-DEF9-A260731D3D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360" y="355600"/>
            <a:ext cx="4611963" cy="6289040"/>
          </a:xfrm>
          <a:prstGeom prst="rect">
            <a:avLst/>
          </a:prstGeom>
        </p:spPr>
      </p:pic>
      <p:pic>
        <p:nvPicPr>
          <p:cNvPr id="7" name="Picture 6" descr="A picture containing text&#10;&#10;AI-generated content may be incorrect.">
            <a:extLst>
              <a:ext uri="{FF2B5EF4-FFF2-40B4-BE49-F238E27FC236}">
                <a16:creationId xmlns:a16="http://schemas.microsoft.com/office/drawing/2014/main" id="{6F710EC9-762F-03B7-0C83-DE51EDCDEE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69000" y="76200"/>
            <a:ext cx="4820581" cy="6573520"/>
          </a:xfrm>
          <a:prstGeom prst="rect">
            <a:avLst/>
          </a:prstGeom>
        </p:spPr>
      </p:pic>
    </p:spTree>
    <p:extLst>
      <p:ext uri="{BB962C8B-B14F-4D97-AF65-F5344CB8AC3E}">
        <p14:creationId xmlns:p14="http://schemas.microsoft.com/office/powerpoint/2010/main" val="32735772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C2D12-72A3-833D-CAA1-B4322063E182}"/>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AD41818D-B837-4A29-AD68-3576E1FD2B40}"/>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DD887D3F-2705-449E-F13C-D9FD83BD403F}"/>
              </a:ext>
            </a:extLst>
          </p:cNvPr>
          <p:cNvPicPr>
            <a:picLocks noChangeAspect="1"/>
          </p:cNvPicPr>
          <p:nvPr/>
        </p:nvPicPr>
        <p:blipFill>
          <a:blip r:embed="rId2"/>
          <a:stretch>
            <a:fillRect/>
          </a:stretch>
        </p:blipFill>
        <p:spPr>
          <a:xfrm>
            <a:off x="31376" y="219262"/>
            <a:ext cx="12192000" cy="6302934"/>
          </a:xfrm>
          <a:prstGeom prst="rect">
            <a:avLst/>
          </a:prstGeom>
        </p:spPr>
      </p:pic>
    </p:spTree>
    <p:extLst>
      <p:ext uri="{BB962C8B-B14F-4D97-AF65-F5344CB8AC3E}">
        <p14:creationId xmlns:p14="http://schemas.microsoft.com/office/powerpoint/2010/main" val="34802450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hart, treemap chart&#10;&#10;AI-generated content may be incorrect.">
            <a:extLst>
              <a:ext uri="{FF2B5EF4-FFF2-40B4-BE49-F238E27FC236}">
                <a16:creationId xmlns:a16="http://schemas.microsoft.com/office/drawing/2014/main" id="{6BC83E98-A1B4-61AE-AC3B-8D32B302FF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93696" y="0"/>
            <a:ext cx="6656832" cy="7396480"/>
          </a:xfrm>
          <a:prstGeom prst="rect">
            <a:avLst/>
          </a:prstGeom>
        </p:spPr>
      </p:pic>
    </p:spTree>
    <p:extLst>
      <p:ext uri="{BB962C8B-B14F-4D97-AF65-F5344CB8AC3E}">
        <p14:creationId xmlns:p14="http://schemas.microsoft.com/office/powerpoint/2010/main" val="37390883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Graphical user interface, text, application&#10;&#10;AI-generated content may be incorrect.">
            <a:extLst>
              <a:ext uri="{FF2B5EF4-FFF2-40B4-BE49-F238E27FC236}">
                <a16:creationId xmlns:a16="http://schemas.microsoft.com/office/drawing/2014/main" id="{C7D996E8-12D1-BF75-1D61-32F7BBD240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5942" y="0"/>
            <a:ext cx="5757620" cy="6858000"/>
          </a:xfrm>
          <a:prstGeom prst="rect">
            <a:avLst/>
          </a:prstGeom>
        </p:spPr>
      </p:pic>
    </p:spTree>
    <p:extLst>
      <p:ext uri="{BB962C8B-B14F-4D97-AF65-F5344CB8AC3E}">
        <p14:creationId xmlns:p14="http://schemas.microsoft.com/office/powerpoint/2010/main" val="14189109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86A2A34-C96C-7EE9-5B1D-F0169856DAA7}"/>
              </a:ext>
            </a:extLst>
          </p:cNvPr>
          <p:cNvPicPr>
            <a:picLocks noChangeAspect="1"/>
          </p:cNvPicPr>
          <p:nvPr/>
        </p:nvPicPr>
        <p:blipFill>
          <a:blip r:embed="rId2"/>
          <a:stretch>
            <a:fillRect/>
          </a:stretch>
        </p:blipFill>
        <p:spPr>
          <a:xfrm>
            <a:off x="309283" y="762112"/>
            <a:ext cx="5199960" cy="5549041"/>
          </a:xfrm>
          <a:prstGeom prst="rect">
            <a:avLst/>
          </a:prstGeom>
        </p:spPr>
      </p:pic>
      <p:pic>
        <p:nvPicPr>
          <p:cNvPr id="7" name="Picture 6" descr="Graphical user interface, text, application, email&#10;&#10;AI-generated content may be incorrect.">
            <a:extLst>
              <a:ext uri="{FF2B5EF4-FFF2-40B4-BE49-F238E27FC236}">
                <a16:creationId xmlns:a16="http://schemas.microsoft.com/office/drawing/2014/main" id="{5A79260F-7442-C7CD-AB9E-270B251696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92131" y="762112"/>
            <a:ext cx="5809464" cy="4713339"/>
          </a:xfrm>
          <a:prstGeom prst="rect">
            <a:avLst/>
          </a:prstGeom>
        </p:spPr>
      </p:pic>
    </p:spTree>
    <p:extLst>
      <p:ext uri="{BB962C8B-B14F-4D97-AF65-F5344CB8AC3E}">
        <p14:creationId xmlns:p14="http://schemas.microsoft.com/office/powerpoint/2010/main" val="27457815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hart, line chart&#10;&#10;AI-generated content may be incorrect.">
            <a:extLst>
              <a:ext uri="{FF2B5EF4-FFF2-40B4-BE49-F238E27FC236}">
                <a16:creationId xmlns:a16="http://schemas.microsoft.com/office/drawing/2014/main" id="{A900EC4D-BC3F-5F33-48E9-F4D7E58315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1345" y="724636"/>
            <a:ext cx="11699124" cy="5239283"/>
          </a:xfrm>
          <a:prstGeom prst="rect">
            <a:avLst/>
          </a:prstGeom>
        </p:spPr>
      </p:pic>
    </p:spTree>
    <p:extLst>
      <p:ext uri="{BB962C8B-B14F-4D97-AF65-F5344CB8AC3E}">
        <p14:creationId xmlns:p14="http://schemas.microsoft.com/office/powerpoint/2010/main" val="9939638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5D9C416-8F5A-B9B8-AA62-F1346F2AADC9}"/>
              </a:ext>
            </a:extLst>
          </p:cNvPr>
          <p:cNvSpPr>
            <a:spLocks noGrp="1"/>
          </p:cNvSpPr>
          <p:nvPr>
            <p:ph type="body" idx="1"/>
          </p:nvPr>
        </p:nvSpPr>
        <p:spPr/>
        <p:txBody>
          <a:bodyPr/>
          <a:lstStyle/>
          <a:p>
            <a:endParaRPr lang="en-US" dirty="0"/>
          </a:p>
        </p:txBody>
      </p:sp>
      <p:pic>
        <p:nvPicPr>
          <p:cNvPr id="9" name="Picture 8">
            <a:extLst>
              <a:ext uri="{FF2B5EF4-FFF2-40B4-BE49-F238E27FC236}">
                <a16:creationId xmlns:a16="http://schemas.microsoft.com/office/drawing/2014/main" id="{1A6796F3-5029-F604-3B19-C12F50F85D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0064"/>
            <a:ext cx="8676640" cy="6267139"/>
          </a:xfrm>
          <a:prstGeom prst="rect">
            <a:avLst/>
          </a:prstGeom>
        </p:spPr>
      </p:pic>
    </p:spTree>
    <p:extLst>
      <p:ext uri="{BB962C8B-B14F-4D97-AF65-F5344CB8AC3E}">
        <p14:creationId xmlns:p14="http://schemas.microsoft.com/office/powerpoint/2010/main" val="35135280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475C3-D265-FCB8-0919-00BEC0875074}"/>
              </a:ext>
            </a:extLst>
          </p:cNvPr>
          <p:cNvSpPr>
            <a:spLocks noGrp="1"/>
          </p:cNvSpPr>
          <p:nvPr>
            <p:ph type="title"/>
          </p:nvPr>
        </p:nvSpPr>
        <p:spPr>
          <a:xfrm>
            <a:off x="569383" y="283369"/>
            <a:ext cx="10515600" cy="969962"/>
          </a:xfrm>
        </p:spPr>
        <p:txBody>
          <a:bodyPr>
            <a:normAutofit/>
          </a:bodyPr>
          <a:lstStyle/>
          <a:p>
            <a:r>
              <a:rPr lang="en-US" sz="4000" dirty="0"/>
              <a:t>Challenges</a:t>
            </a:r>
          </a:p>
        </p:txBody>
      </p:sp>
      <p:sp>
        <p:nvSpPr>
          <p:cNvPr id="3" name="Text Placeholder 2">
            <a:extLst>
              <a:ext uri="{FF2B5EF4-FFF2-40B4-BE49-F238E27FC236}">
                <a16:creationId xmlns:a16="http://schemas.microsoft.com/office/drawing/2014/main" id="{4AAD12DF-AFC7-8B83-0A1D-985AD5941F8B}"/>
              </a:ext>
            </a:extLst>
          </p:cNvPr>
          <p:cNvSpPr>
            <a:spLocks noGrp="1"/>
          </p:cNvSpPr>
          <p:nvPr>
            <p:ph type="body" idx="1"/>
          </p:nvPr>
        </p:nvSpPr>
        <p:spPr>
          <a:xfrm>
            <a:off x="611717" y="1702330"/>
            <a:ext cx="10515600" cy="1500187"/>
          </a:xfrm>
        </p:spPr>
        <p:txBody>
          <a:bodyPr>
            <a:normAutofit fontScale="92500" lnSpcReduction="10000"/>
          </a:bodyPr>
          <a:lstStyle/>
          <a:p>
            <a:pPr marL="342900" indent="-342900">
              <a:buFont typeface="Arial" panose="020B0604020202020204" pitchFamily="34" charset="0"/>
              <a:buChar char="•"/>
            </a:pPr>
            <a:r>
              <a:rPr lang="en-US" dirty="0">
                <a:solidFill>
                  <a:schemeClr val="tx1"/>
                </a:solidFill>
              </a:rPr>
              <a:t>Limited ability to provide consistent scoring metrics (material vs symbolic, sentiment) implementing agentic internal review steps</a:t>
            </a:r>
          </a:p>
          <a:p>
            <a:pPr marL="342900" indent="-342900">
              <a:buFont typeface="Arial" panose="020B0604020202020204" pitchFamily="34" charset="0"/>
              <a:buChar char="•"/>
            </a:pPr>
            <a:r>
              <a:rPr lang="en-US" dirty="0">
                <a:solidFill>
                  <a:schemeClr val="tx1"/>
                </a:solidFill>
              </a:rPr>
              <a:t>Understanding “quality” vs “relevant” source.</a:t>
            </a:r>
          </a:p>
          <a:p>
            <a:pPr marL="342900" indent="-342900">
              <a:buFont typeface="Arial" panose="020B0604020202020204" pitchFamily="34" charset="0"/>
              <a:buChar char="•"/>
            </a:pPr>
            <a:r>
              <a:rPr lang="en-US" dirty="0">
                <a:solidFill>
                  <a:schemeClr val="tx1"/>
                </a:solidFill>
              </a:rPr>
              <a:t>Temporal context of events (upcoming vs occurred)</a:t>
            </a:r>
          </a:p>
          <a:p>
            <a:pPr marL="342900" indent="-342900">
              <a:buFont typeface="Arial" panose="020B0604020202020204" pitchFamily="34" charset="0"/>
              <a:buChar char="•"/>
            </a:pPr>
            <a:endParaRPr lang="en-US" dirty="0"/>
          </a:p>
          <a:p>
            <a:endParaRPr lang="en-US" dirty="0"/>
          </a:p>
          <a:p>
            <a:pPr marL="342900" indent="-342900">
              <a:buFont typeface="Arial" panose="020B0604020202020204" pitchFamily="34" charset="0"/>
              <a:buChar char="•"/>
            </a:pPr>
            <a:endParaRPr lang="en-US" u="sng" dirty="0"/>
          </a:p>
          <a:p>
            <a:pPr marL="342900" indent="-342900">
              <a:buFont typeface="Arial" panose="020B0604020202020204" pitchFamily="34" charset="0"/>
              <a:buChar char="•"/>
            </a:pPr>
            <a:endParaRPr lang="en-US" dirty="0"/>
          </a:p>
        </p:txBody>
      </p:sp>
      <p:sp>
        <p:nvSpPr>
          <p:cNvPr id="4" name="Title 1">
            <a:extLst>
              <a:ext uri="{FF2B5EF4-FFF2-40B4-BE49-F238E27FC236}">
                <a16:creationId xmlns:a16="http://schemas.microsoft.com/office/drawing/2014/main" id="{4A9D32E6-7AEB-B767-2E5F-3B9B4660E640}"/>
              </a:ext>
            </a:extLst>
          </p:cNvPr>
          <p:cNvSpPr txBox="1">
            <a:spLocks/>
          </p:cNvSpPr>
          <p:nvPr/>
        </p:nvSpPr>
        <p:spPr>
          <a:xfrm>
            <a:off x="463549" y="3382169"/>
            <a:ext cx="10515600" cy="600551"/>
          </a:xfrm>
          <a:prstGeom prst="rect">
            <a:avLst/>
          </a:prstGeom>
        </p:spPr>
        <p:txBody>
          <a:bodyPr vert="horz" lIns="91440" tIns="45720" rIns="91440" bIns="45720" rtlCol="0" anchor="b">
            <a:normAutofit lnSpcReduction="10000"/>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US" sz="4000" dirty="0"/>
          </a:p>
        </p:txBody>
      </p:sp>
    </p:spTree>
    <p:extLst>
      <p:ext uri="{BB962C8B-B14F-4D97-AF65-F5344CB8AC3E}">
        <p14:creationId xmlns:p14="http://schemas.microsoft.com/office/powerpoint/2010/main" val="13695982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8C66C-B212-4565-135E-20B6DBBDFCEB}"/>
              </a:ext>
            </a:extLst>
          </p:cNvPr>
          <p:cNvSpPr>
            <a:spLocks noGrp="1"/>
          </p:cNvSpPr>
          <p:nvPr>
            <p:ph type="title"/>
          </p:nvPr>
        </p:nvSpPr>
        <p:spPr>
          <a:xfrm>
            <a:off x="560917" y="596373"/>
            <a:ext cx="10515600" cy="957262"/>
          </a:xfrm>
        </p:spPr>
        <p:txBody>
          <a:bodyPr/>
          <a:lstStyle/>
          <a:p>
            <a:r>
              <a:rPr lang="en-US" dirty="0"/>
              <a:t>Techniques &amp; Lessons learned	</a:t>
            </a:r>
          </a:p>
        </p:txBody>
      </p:sp>
      <p:sp>
        <p:nvSpPr>
          <p:cNvPr id="6" name="Rectangle 1">
            <a:extLst>
              <a:ext uri="{FF2B5EF4-FFF2-40B4-BE49-F238E27FC236}">
                <a16:creationId xmlns:a16="http://schemas.microsoft.com/office/drawing/2014/main" id="{4FEA5831-AFA6-16D0-CCC8-249656DFD287}"/>
              </a:ext>
            </a:extLst>
          </p:cNvPr>
          <p:cNvSpPr>
            <a:spLocks noChangeArrowheads="1"/>
          </p:cNvSpPr>
          <p:nvPr/>
        </p:nvSpPr>
        <p:spPr bwMode="auto">
          <a:xfrm>
            <a:off x="698500" y="1553635"/>
            <a:ext cx="6235700" cy="4862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Arial" panose="020B0604020202020204" pitchFamily="34" charset="0"/>
              </a:rPr>
              <a:t>Model Strategy &amp; Cost Optimization</a:t>
            </a:r>
            <a:endParaRPr kumimoji="0" lang="en-US" altLang="en-US" sz="1000" b="0" i="0" u="none" strike="noStrike" cap="none" normalizeH="0" baseline="0" dirty="0">
              <a:ln>
                <a:noFill/>
              </a:ln>
              <a:solidFill>
                <a:schemeClr val="tx1"/>
              </a:solidFill>
              <a:effectLst/>
              <a:latin typeface="Arial" panose="020B0604020202020204" pitchFamily="34" charset="0"/>
            </a:endParaRPr>
          </a:p>
          <a:p>
            <a:pPr lvl="1" eaLnBrk="0" fontAlgn="base" hangingPunct="0">
              <a:spcBef>
                <a:spcPct val="0"/>
              </a:spcBef>
              <a:spcAft>
                <a:spcPct val="0"/>
              </a:spcAft>
              <a:buFontTx/>
              <a:buChar char="•"/>
            </a:pPr>
            <a:r>
              <a:rPr kumimoji="0" lang="en-US" altLang="en-US" sz="1000" b="0" i="0" u="none" strike="noStrike" cap="none" normalizeH="0" baseline="0" dirty="0">
                <a:ln>
                  <a:noFill/>
                </a:ln>
                <a:solidFill>
                  <a:schemeClr val="tx1"/>
                </a:solidFill>
                <a:effectLst/>
                <a:latin typeface="Arial" panose="020B0604020202020204" pitchFamily="34" charset="0"/>
              </a:rPr>
              <a:t>Matched model to task:</a:t>
            </a:r>
          </a:p>
          <a:p>
            <a:pPr lvl="2" eaLnBrk="0" fontAlgn="base" hangingPunct="0">
              <a:spcBef>
                <a:spcPct val="0"/>
              </a:spcBef>
              <a:spcAft>
                <a:spcPct val="0"/>
              </a:spcAft>
              <a:buFontTx/>
              <a:buChar char="•"/>
            </a:pPr>
            <a:r>
              <a:rPr kumimoji="0" lang="en-US" altLang="en-US" sz="1000" b="0" i="0" u="none" strike="noStrike" cap="none" normalizeH="0" baseline="0" dirty="0">
                <a:ln>
                  <a:noFill/>
                </a:ln>
                <a:solidFill>
                  <a:schemeClr val="tx1"/>
                </a:solidFill>
                <a:effectLst/>
                <a:latin typeface="Arial" panose="020B0604020202020204" pitchFamily="34" charset="0"/>
              </a:rPr>
              <a:t>GPT-4o-mini → salience filtering</a:t>
            </a:r>
          </a:p>
          <a:p>
            <a:pPr lvl="2" eaLnBrk="0" fontAlgn="base" hangingPunct="0">
              <a:spcBef>
                <a:spcPct val="0"/>
              </a:spcBef>
              <a:spcAft>
                <a:spcPct val="0"/>
              </a:spcAft>
              <a:buFontTx/>
              <a:buChar char="•"/>
            </a:pPr>
            <a:r>
              <a:rPr kumimoji="0" lang="en-US" altLang="en-US" sz="1000" b="0" i="0" u="none" strike="noStrike" cap="none" normalizeH="0" baseline="0" dirty="0">
                <a:ln>
                  <a:noFill/>
                </a:ln>
                <a:solidFill>
                  <a:schemeClr val="tx1"/>
                </a:solidFill>
                <a:effectLst/>
                <a:latin typeface="Arial" panose="020B0604020202020204" pitchFamily="34" charset="0"/>
              </a:rPr>
              <a:t>GPT-4o → full extraction</a:t>
            </a:r>
          </a:p>
          <a:p>
            <a:pPr lvl="2" eaLnBrk="0" fontAlgn="base" hangingPunct="0">
              <a:spcBef>
                <a:spcPct val="0"/>
              </a:spcBef>
              <a:spcAft>
                <a:spcPct val="0"/>
              </a:spcAft>
              <a:buFontTx/>
              <a:buChar char="•"/>
            </a:pPr>
            <a:r>
              <a:rPr kumimoji="0" lang="en-US" altLang="en-US" sz="1000" b="0" i="0" u="none" strike="noStrike" cap="none" normalizeH="0" baseline="0" dirty="0">
                <a:ln>
                  <a:noFill/>
                </a:ln>
                <a:solidFill>
                  <a:schemeClr val="tx1"/>
                </a:solidFill>
                <a:effectLst/>
                <a:latin typeface="Arial" panose="020B0604020202020204" pitchFamily="34" charset="0"/>
              </a:rPr>
              <a:t>GPT-4.1 → deduplication, sourcing, clustering</a:t>
            </a:r>
          </a:p>
          <a:p>
            <a:pPr lvl="1" eaLnBrk="0" fontAlgn="base" hangingPunct="0">
              <a:spcBef>
                <a:spcPct val="0"/>
              </a:spcBef>
              <a:spcAft>
                <a:spcPct val="0"/>
              </a:spcAft>
              <a:buFontTx/>
              <a:buChar char="•"/>
            </a:pPr>
            <a:r>
              <a:rPr kumimoji="0" lang="en-US" altLang="en-US" sz="1000" b="0" i="0" u="none" strike="noStrike" cap="none" normalizeH="0" baseline="0" dirty="0">
                <a:ln>
                  <a:noFill/>
                </a:ln>
                <a:solidFill>
                  <a:schemeClr val="tx1"/>
                </a:solidFill>
                <a:effectLst/>
                <a:latin typeface="Arial" panose="020B0604020202020204" pitchFamily="34" charset="0"/>
              </a:rPr>
              <a:t>Open-source embeddings (MiniLM-L6-v2) for chunking &amp; retrieval reduced token costs.</a:t>
            </a:r>
          </a:p>
          <a:p>
            <a:pPr lvl="1" eaLnBrk="0" fontAlgn="base" hangingPunct="0">
              <a:spcBef>
                <a:spcPct val="0"/>
              </a:spcBef>
              <a:spcAft>
                <a:spcPct val="0"/>
              </a:spcAft>
              <a:buFontTx/>
              <a:buChar char="•"/>
            </a:pPr>
            <a:endParaRPr kumimoji="0" lang="en-US" altLang="en-US"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Arial" panose="020B0604020202020204" pitchFamily="34" charset="0"/>
              </a:rPr>
              <a:t>Scalable High-Signal Artifacts</a:t>
            </a:r>
            <a:endParaRPr kumimoji="0" lang="en-US" altLang="en-US" sz="1000" b="0" i="0" u="none" strike="noStrike" cap="none" normalizeH="0" baseline="0" dirty="0">
              <a:ln>
                <a:noFill/>
              </a:ln>
              <a:solidFill>
                <a:schemeClr val="tx1"/>
              </a:solidFill>
              <a:effectLst/>
              <a:latin typeface="Arial" panose="020B0604020202020204" pitchFamily="34" charset="0"/>
            </a:endParaRPr>
          </a:p>
          <a:p>
            <a:pPr lvl="1" eaLnBrk="0" fontAlgn="base" hangingPunct="0">
              <a:spcBef>
                <a:spcPct val="0"/>
              </a:spcBef>
              <a:spcAft>
                <a:spcPct val="0"/>
              </a:spcAft>
              <a:buFontTx/>
              <a:buChar char="•"/>
            </a:pPr>
            <a:r>
              <a:rPr kumimoji="0" lang="en-US" altLang="en-US" sz="1000" b="0" i="0" u="none" strike="noStrike" cap="none" normalizeH="0" baseline="0" dirty="0">
                <a:ln>
                  <a:noFill/>
                </a:ln>
                <a:solidFill>
                  <a:schemeClr val="tx1"/>
                </a:solidFill>
                <a:effectLst/>
                <a:latin typeface="Arial" panose="020B0604020202020204" pitchFamily="34" charset="0"/>
              </a:rPr>
              <a:t>Distilled texts into </a:t>
            </a:r>
            <a:r>
              <a:rPr kumimoji="0" lang="en-US" altLang="en-US" sz="1000" i="0" u="none" strike="noStrike" cap="none" normalizeH="0" baseline="0" dirty="0">
                <a:ln>
                  <a:noFill/>
                </a:ln>
                <a:solidFill>
                  <a:schemeClr val="tx1"/>
                </a:solidFill>
                <a:effectLst/>
                <a:latin typeface="Arial" panose="020B0604020202020204" pitchFamily="34" charset="0"/>
              </a:rPr>
              <a:t>signal-only summaries </a:t>
            </a:r>
            <a:r>
              <a:rPr kumimoji="0" lang="en-US" altLang="en-US" sz="1000" b="0" i="0" u="none" strike="noStrike" cap="none" normalizeH="0" baseline="0" dirty="0">
                <a:ln>
                  <a:noFill/>
                </a:ln>
                <a:solidFill>
                  <a:schemeClr val="tx1"/>
                </a:solidFill>
                <a:effectLst/>
                <a:latin typeface="Arial" panose="020B0604020202020204" pitchFamily="34" charset="0"/>
              </a:rPr>
              <a:t>for model efficiency.</a:t>
            </a:r>
          </a:p>
          <a:p>
            <a:pPr lvl="1" eaLnBrk="0" fontAlgn="base" hangingPunct="0">
              <a:spcBef>
                <a:spcPct val="0"/>
              </a:spcBef>
              <a:spcAft>
                <a:spcPct val="0"/>
              </a:spcAft>
              <a:buFontTx/>
              <a:buChar char="•"/>
            </a:pPr>
            <a:r>
              <a:rPr kumimoji="0" lang="en-US" altLang="en-US" sz="1000" i="0" u="none" strike="noStrike" cap="none" normalizeH="0" baseline="0" dirty="0">
                <a:ln>
                  <a:noFill/>
                </a:ln>
                <a:solidFill>
                  <a:schemeClr val="tx1"/>
                </a:solidFill>
                <a:effectLst/>
                <a:latin typeface="Arial" panose="020B0604020202020204" pitchFamily="34" charset="0"/>
              </a:rPr>
              <a:t>Daily → Weekly → Monthly roll-ups </a:t>
            </a:r>
            <a:r>
              <a:rPr kumimoji="0" lang="en-US" altLang="en-US" sz="1000" b="0" i="0" u="none" strike="noStrike" cap="none" normalizeH="0" baseline="0" dirty="0">
                <a:ln>
                  <a:noFill/>
                </a:ln>
                <a:solidFill>
                  <a:schemeClr val="tx1"/>
                </a:solidFill>
                <a:effectLst/>
                <a:latin typeface="Arial" panose="020B0604020202020204" pitchFamily="34" charset="0"/>
              </a:rPr>
              <a:t>provided scalable and traceable insights.</a:t>
            </a:r>
          </a:p>
          <a:p>
            <a:pPr lvl="1" eaLnBrk="0" fontAlgn="base" hangingPunct="0">
              <a:spcBef>
                <a:spcPct val="0"/>
              </a:spcBef>
              <a:spcAft>
                <a:spcPct val="0"/>
              </a:spcAft>
              <a:buFontTx/>
              <a:buChar char="•"/>
            </a:pPr>
            <a:r>
              <a:rPr kumimoji="0" lang="en-US" altLang="en-US" sz="1000" b="0" i="0" u="none" strike="noStrike" cap="none" normalizeH="0" baseline="0" dirty="0">
                <a:ln>
                  <a:noFill/>
                </a:ln>
                <a:solidFill>
                  <a:schemeClr val="tx1"/>
                </a:solidFill>
                <a:effectLst/>
                <a:latin typeface="Arial" panose="020B0604020202020204" pitchFamily="34" charset="0"/>
              </a:rPr>
              <a:t>Used </a:t>
            </a:r>
            <a:r>
              <a:rPr kumimoji="0" lang="en-US" altLang="en-US" sz="1000" i="0" u="none" strike="noStrike" cap="none" normalizeH="0" baseline="0" dirty="0">
                <a:ln>
                  <a:noFill/>
                </a:ln>
                <a:solidFill>
                  <a:schemeClr val="tx1"/>
                </a:solidFill>
                <a:effectLst/>
                <a:latin typeface="Arial" panose="020B0604020202020204" pitchFamily="34" charset="0"/>
              </a:rPr>
              <a:t>proxy identifiers </a:t>
            </a:r>
            <a:r>
              <a:rPr kumimoji="0" lang="en-US" altLang="en-US" sz="1000" b="0" i="0" u="none" strike="noStrike" cap="none" normalizeH="0" baseline="0" dirty="0">
                <a:ln>
                  <a:noFill/>
                </a:ln>
                <a:solidFill>
                  <a:schemeClr val="tx1"/>
                </a:solidFill>
                <a:effectLst/>
                <a:latin typeface="Arial" panose="020B0604020202020204" pitchFamily="34" charset="0"/>
              </a:rPr>
              <a:t>to avoid token overflow from long UUIDs.</a:t>
            </a:r>
          </a:p>
          <a:p>
            <a:pPr lvl="1" eaLnBrk="0" fontAlgn="base" hangingPunct="0">
              <a:spcBef>
                <a:spcPct val="0"/>
              </a:spcBef>
              <a:spcAft>
                <a:spcPct val="0"/>
              </a:spcAft>
              <a:buFontTx/>
              <a:buChar char="•"/>
            </a:pPr>
            <a:endParaRPr kumimoji="0" lang="en-US" altLang="en-US"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Arial" panose="020B0604020202020204" pitchFamily="34" charset="0"/>
              </a:rPr>
              <a:t>Output Structuring &amp; Formatting</a:t>
            </a:r>
            <a:endParaRPr kumimoji="0" lang="en-US" altLang="en-US" sz="1000" b="0" i="0" u="none" strike="noStrike" cap="none" normalizeH="0" baseline="0" dirty="0">
              <a:ln>
                <a:noFill/>
              </a:ln>
              <a:solidFill>
                <a:schemeClr val="tx1"/>
              </a:solidFill>
              <a:effectLst/>
              <a:latin typeface="Arial" panose="020B0604020202020204" pitchFamily="34" charset="0"/>
            </a:endParaRPr>
          </a:p>
          <a:p>
            <a:pPr lvl="1" eaLnBrk="0" fontAlgn="base" hangingPunct="0">
              <a:spcBef>
                <a:spcPct val="0"/>
              </a:spcBef>
              <a:spcAft>
                <a:spcPct val="0"/>
              </a:spcAft>
              <a:buFontTx/>
              <a:buChar char="•"/>
            </a:pPr>
            <a:r>
              <a:rPr kumimoji="0" lang="en-US" altLang="en-US" sz="1000" b="0" i="0" u="none" strike="noStrike" cap="none" normalizeH="0" baseline="0" dirty="0">
                <a:ln>
                  <a:noFill/>
                </a:ln>
                <a:solidFill>
                  <a:schemeClr val="tx1"/>
                </a:solidFill>
                <a:effectLst/>
                <a:latin typeface="Arial" panose="020B0604020202020204" pitchFamily="34" charset="0"/>
              </a:rPr>
              <a:t>Enforced </a:t>
            </a:r>
            <a:r>
              <a:rPr kumimoji="0" lang="en-US" altLang="en-US" sz="1000" i="0" u="none" strike="noStrike" cap="none" normalizeH="0" baseline="0" dirty="0">
                <a:ln>
                  <a:noFill/>
                </a:ln>
                <a:solidFill>
                  <a:schemeClr val="tx1"/>
                </a:solidFill>
                <a:effectLst/>
                <a:latin typeface="Arial" panose="020B0604020202020204" pitchFamily="34" charset="0"/>
              </a:rPr>
              <a:t>JSON schemas </a:t>
            </a:r>
            <a:r>
              <a:rPr kumimoji="0" lang="en-US" altLang="en-US" sz="1000" b="0" i="0" u="none" strike="noStrike" cap="none" normalizeH="0" baseline="0" dirty="0">
                <a:ln>
                  <a:noFill/>
                </a:ln>
                <a:solidFill>
                  <a:schemeClr val="tx1"/>
                </a:solidFill>
                <a:effectLst/>
                <a:latin typeface="Arial" panose="020B0604020202020204" pitchFamily="34" charset="0"/>
              </a:rPr>
              <a:t>for reliable machine-readable output.</a:t>
            </a:r>
          </a:p>
          <a:p>
            <a:pPr lvl="1" eaLnBrk="0" fontAlgn="base" hangingPunct="0">
              <a:spcBef>
                <a:spcPct val="0"/>
              </a:spcBef>
              <a:spcAft>
                <a:spcPct val="0"/>
              </a:spcAft>
              <a:buFontTx/>
              <a:buChar char="•"/>
            </a:pPr>
            <a:r>
              <a:rPr kumimoji="0" lang="en-US" altLang="en-US" sz="1000" b="0" i="0" u="none" strike="noStrike" cap="none" normalizeH="0" baseline="0" dirty="0">
                <a:ln>
                  <a:noFill/>
                </a:ln>
                <a:solidFill>
                  <a:schemeClr val="tx1"/>
                </a:solidFill>
                <a:effectLst/>
                <a:latin typeface="Arial" panose="020B0604020202020204" pitchFamily="34" charset="0"/>
              </a:rPr>
              <a:t>Prompt precision mattered — quotation style, placeholder use (</a:t>
            </a:r>
            <a:r>
              <a:rPr kumimoji="0" lang="en-US" altLang="en-US" sz="1000" b="0" i="0" u="none" strike="noStrike" cap="none" normalizeH="0" baseline="0" dirty="0">
                <a:ln>
                  <a:noFill/>
                </a:ln>
                <a:solidFill>
                  <a:schemeClr val="tx1"/>
                </a:solidFill>
                <a:effectLst/>
                <a:latin typeface="Arial Unicode MS"/>
              </a:rPr>
              <a:t>&lt;</a:t>
            </a:r>
            <a:r>
              <a:rPr kumimoji="0" lang="en-US" altLang="en-US" sz="1000" b="0" i="0" u="none" strike="noStrike" cap="none" normalizeH="0" baseline="0" dirty="0" err="1">
                <a:ln>
                  <a:noFill/>
                </a:ln>
                <a:solidFill>
                  <a:schemeClr val="tx1"/>
                </a:solidFill>
                <a:effectLst/>
                <a:latin typeface="Arial Unicode MS"/>
              </a:rPr>
              <a:t>initiating_country</a:t>
            </a:r>
            <a:r>
              <a:rPr kumimoji="0" lang="en-US" altLang="en-US" sz="1000" b="0" i="0" u="none" strike="noStrike" cap="none" normalizeH="0" baseline="0" dirty="0">
                <a:ln>
                  <a:noFill/>
                </a:ln>
                <a:solidFill>
                  <a:schemeClr val="tx1"/>
                </a:solidFill>
                <a:effectLst/>
                <a:latin typeface="Arial Unicode MS"/>
              </a:rPr>
              <a:t>&gt;</a:t>
            </a:r>
            <a:r>
              <a:rPr kumimoji="0" lang="en-US" altLang="en-US" sz="1000" b="0" i="0" u="none" strike="noStrike" cap="none" normalizeH="0" baseline="0" dirty="0">
                <a:ln>
                  <a:noFill/>
                </a:ln>
                <a:solidFill>
                  <a:schemeClr val="tx1"/>
                </a:solidFill>
                <a:effectLst/>
              </a:rPr>
              <a:t>).</a:t>
            </a:r>
            <a:endParaRPr kumimoji="0" lang="en-US" altLang="en-US" sz="1000" b="0" i="0" u="none" strike="noStrike" cap="none" normalizeH="0" baseline="0" dirty="0">
              <a:ln>
                <a:noFill/>
              </a:ln>
              <a:solidFill>
                <a:schemeClr val="tx1"/>
              </a:solidFill>
              <a:effectLst/>
              <a:latin typeface="Arial" panose="020B0604020202020204" pitchFamily="34" charset="0"/>
            </a:endParaRPr>
          </a:p>
          <a:p>
            <a:pPr lvl="1" eaLnBrk="0" fontAlgn="base" hangingPunct="0">
              <a:spcBef>
                <a:spcPct val="0"/>
              </a:spcBef>
              <a:spcAft>
                <a:spcPct val="0"/>
              </a:spcAft>
              <a:buFontTx/>
              <a:buChar char="•"/>
            </a:pPr>
            <a:r>
              <a:rPr kumimoji="0" lang="en-US" altLang="en-US" sz="1000" b="0" i="0" u="none" strike="noStrike" cap="none" normalizeH="0" baseline="0" dirty="0">
                <a:ln>
                  <a:noFill/>
                </a:ln>
                <a:solidFill>
                  <a:schemeClr val="tx1"/>
                </a:solidFill>
                <a:effectLst/>
                <a:latin typeface="Arial" panose="020B0604020202020204" pitchFamily="34" charset="0"/>
              </a:rPr>
              <a:t>Embedding </a:t>
            </a:r>
            <a:r>
              <a:rPr kumimoji="0" lang="en-US" altLang="en-US" sz="1000" i="0" u="none" strike="noStrike" cap="none" normalizeH="0" baseline="0" dirty="0">
                <a:ln>
                  <a:noFill/>
                </a:ln>
                <a:solidFill>
                  <a:schemeClr val="tx1"/>
                </a:solidFill>
                <a:effectLst/>
                <a:latin typeface="Arial" panose="020B0604020202020204" pitchFamily="34" charset="0"/>
              </a:rPr>
              <a:t>markdown metrics/charts </a:t>
            </a:r>
            <a:r>
              <a:rPr kumimoji="0" lang="en-US" altLang="en-US" sz="1000" b="0" i="0" u="none" strike="noStrike" cap="none" normalizeH="0" baseline="0" dirty="0">
                <a:ln>
                  <a:noFill/>
                </a:ln>
                <a:solidFill>
                  <a:schemeClr val="tx1"/>
                </a:solidFill>
                <a:effectLst/>
                <a:latin typeface="Arial" panose="020B0604020202020204" pitchFamily="34" charset="0"/>
              </a:rPr>
              <a:t>in prompts boosted ranking task accuracy.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Arial" panose="020B0604020202020204" pitchFamily="34" charset="0"/>
              </a:rPr>
              <a:t>Sourcing &amp; Claim Verification</a:t>
            </a:r>
            <a:endParaRPr kumimoji="0" lang="en-US" altLang="en-US" sz="1000" b="0" i="0" u="none" strike="noStrike" cap="none" normalizeH="0" baseline="0" dirty="0">
              <a:ln>
                <a:noFill/>
              </a:ln>
              <a:solidFill>
                <a:schemeClr val="tx1"/>
              </a:solidFill>
              <a:effectLst/>
              <a:latin typeface="Arial" panose="020B0604020202020204" pitchFamily="34" charset="0"/>
            </a:endParaRPr>
          </a:p>
          <a:p>
            <a:pPr lvl="1" eaLnBrk="0" fontAlgn="base" hangingPunct="0">
              <a:spcBef>
                <a:spcPct val="0"/>
              </a:spcBef>
              <a:spcAft>
                <a:spcPct val="0"/>
              </a:spcAft>
              <a:buFontTx/>
              <a:buChar char="•"/>
            </a:pPr>
            <a:r>
              <a:rPr kumimoji="0" lang="en-US" altLang="en-US" sz="1000" b="0" i="0" u="none" strike="noStrike" cap="none" normalizeH="0" baseline="0" dirty="0">
                <a:ln>
                  <a:noFill/>
                </a:ln>
                <a:solidFill>
                  <a:schemeClr val="tx1"/>
                </a:solidFill>
                <a:effectLst/>
                <a:latin typeface="Arial" panose="020B0604020202020204" pitchFamily="34" charset="0"/>
              </a:rPr>
              <a:t>Split </a:t>
            </a:r>
            <a:r>
              <a:rPr kumimoji="0" lang="en-US" altLang="en-US" sz="1000" i="0" u="none" strike="noStrike" cap="none" normalizeH="0" baseline="0" dirty="0">
                <a:ln>
                  <a:noFill/>
                </a:ln>
                <a:solidFill>
                  <a:schemeClr val="tx1"/>
                </a:solidFill>
                <a:effectLst/>
                <a:latin typeface="Arial" panose="020B0604020202020204" pitchFamily="34" charset="0"/>
              </a:rPr>
              <a:t>summarization</a:t>
            </a:r>
            <a:r>
              <a:rPr kumimoji="0" lang="en-US" altLang="en-US" sz="1000" b="0" i="0" u="none" strike="noStrike" cap="none" normalizeH="0" baseline="0" dirty="0">
                <a:ln>
                  <a:noFill/>
                </a:ln>
                <a:solidFill>
                  <a:schemeClr val="tx1"/>
                </a:solidFill>
                <a:effectLst/>
                <a:latin typeface="Arial" panose="020B0604020202020204" pitchFamily="34" charset="0"/>
              </a:rPr>
              <a:t> from </a:t>
            </a:r>
            <a:r>
              <a:rPr kumimoji="0" lang="en-US" altLang="en-US" sz="1000" i="0" u="none" strike="noStrike" cap="none" normalizeH="0" baseline="0" dirty="0">
                <a:ln>
                  <a:noFill/>
                </a:ln>
                <a:solidFill>
                  <a:schemeClr val="tx1"/>
                </a:solidFill>
                <a:effectLst/>
                <a:latin typeface="Arial" panose="020B0604020202020204" pitchFamily="34" charset="0"/>
              </a:rPr>
              <a:t>sourcing</a:t>
            </a:r>
            <a:r>
              <a:rPr kumimoji="0" lang="en-US" altLang="en-US" sz="1000" b="0" i="0" u="none" strike="noStrike" cap="none" normalizeH="0" baseline="0" dirty="0">
                <a:ln>
                  <a:noFill/>
                </a:ln>
                <a:solidFill>
                  <a:schemeClr val="tx1"/>
                </a:solidFill>
                <a:effectLst/>
                <a:latin typeface="Arial" panose="020B0604020202020204" pitchFamily="34" charset="0"/>
              </a:rPr>
              <a:t> to improve citation fidelity.</a:t>
            </a:r>
          </a:p>
          <a:p>
            <a:pPr lvl="1" eaLnBrk="0" fontAlgn="base" hangingPunct="0">
              <a:spcBef>
                <a:spcPct val="0"/>
              </a:spcBef>
              <a:spcAft>
                <a:spcPct val="0"/>
              </a:spcAft>
              <a:buFontTx/>
              <a:buChar char="•"/>
            </a:pPr>
            <a:r>
              <a:rPr kumimoji="0" lang="en-US" altLang="en-US" sz="1000" b="0" i="0" u="none" strike="noStrike" cap="none" normalizeH="0" baseline="0" dirty="0">
                <a:ln>
                  <a:noFill/>
                </a:ln>
                <a:solidFill>
                  <a:schemeClr val="tx1"/>
                </a:solidFill>
                <a:effectLst/>
                <a:latin typeface="Arial" panose="020B0604020202020204" pitchFamily="34" charset="0"/>
              </a:rPr>
              <a:t>Applied </a:t>
            </a:r>
            <a:r>
              <a:rPr kumimoji="0" lang="en-US" altLang="en-US" sz="1000" i="0" u="none" strike="noStrike" cap="none" normalizeH="0" baseline="0" dirty="0">
                <a:ln>
                  <a:noFill/>
                </a:ln>
                <a:solidFill>
                  <a:schemeClr val="tx1"/>
                </a:solidFill>
                <a:effectLst/>
                <a:latin typeface="Arial" panose="020B0604020202020204" pitchFamily="34" charset="0"/>
              </a:rPr>
              <a:t>TF-IDF narrowing </a:t>
            </a:r>
            <a:r>
              <a:rPr kumimoji="0" lang="en-US" altLang="en-US" sz="1000" b="0" i="0" u="none" strike="noStrike" cap="none" normalizeH="0" baseline="0" dirty="0">
                <a:ln>
                  <a:noFill/>
                </a:ln>
                <a:solidFill>
                  <a:schemeClr val="tx1"/>
                </a:solidFill>
                <a:effectLst/>
                <a:latin typeface="Arial" panose="020B0604020202020204" pitchFamily="34" charset="0"/>
              </a:rPr>
              <a:t>before model claim sourcing.</a:t>
            </a:r>
          </a:p>
          <a:p>
            <a:pPr lvl="1" eaLnBrk="0" fontAlgn="base" hangingPunct="0">
              <a:spcBef>
                <a:spcPct val="0"/>
              </a:spcBef>
              <a:spcAft>
                <a:spcPct val="0"/>
              </a:spcAft>
              <a:buFontTx/>
              <a:buChar char="•"/>
            </a:pPr>
            <a:r>
              <a:rPr kumimoji="0" lang="en-US" altLang="en-US" sz="1000" b="0" i="0" u="none" strike="noStrike" cap="none" normalizeH="0" baseline="0" dirty="0">
                <a:ln>
                  <a:noFill/>
                </a:ln>
                <a:solidFill>
                  <a:schemeClr val="tx1"/>
                </a:solidFill>
                <a:effectLst/>
                <a:latin typeface="Arial" panose="020B0604020202020204" pitchFamily="34" charset="0"/>
              </a:rPr>
              <a:t>Deduplication consolidated events while preserving all underlying sources.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Arial" panose="020B0604020202020204" pitchFamily="34" charset="0"/>
              </a:rPr>
              <a:t>Context Window </a:t>
            </a:r>
            <a:r>
              <a:rPr kumimoji="0" lang="en-US" altLang="en-US" sz="1000" b="1" i="0" u="none" strike="noStrike" cap="none" normalizeH="0" baseline="0" dirty="0" err="1">
                <a:ln>
                  <a:noFill/>
                </a:ln>
                <a:solidFill>
                  <a:schemeClr val="tx1"/>
                </a:solidFill>
                <a:effectLst/>
                <a:latin typeface="Arial" panose="020B0604020202020204" pitchFamily="34" charset="0"/>
              </a:rPr>
              <a:t>Managment</a:t>
            </a:r>
            <a:endParaRPr kumimoji="0" lang="en-US" altLang="en-US" sz="1000" b="0" i="0" u="none" strike="noStrike" cap="none" normalizeH="0" baseline="0" dirty="0">
              <a:ln>
                <a:noFill/>
              </a:ln>
              <a:solidFill>
                <a:schemeClr val="tx1"/>
              </a:solidFill>
              <a:effectLst/>
              <a:latin typeface="Arial" panose="020B0604020202020204" pitchFamily="34" charset="0"/>
            </a:endParaRPr>
          </a:p>
          <a:p>
            <a:pPr lvl="1" eaLnBrk="0" fontAlgn="base" hangingPunct="0">
              <a:spcBef>
                <a:spcPct val="0"/>
              </a:spcBef>
              <a:spcAft>
                <a:spcPct val="0"/>
              </a:spcAft>
              <a:buFontTx/>
              <a:buChar char="•"/>
            </a:pPr>
            <a:r>
              <a:rPr kumimoji="0" lang="en-US" altLang="en-US" sz="1000" b="0" i="0" u="none" strike="noStrike" cap="none" normalizeH="0" baseline="0" dirty="0">
                <a:ln>
                  <a:noFill/>
                </a:ln>
                <a:solidFill>
                  <a:schemeClr val="tx1"/>
                </a:solidFill>
                <a:effectLst/>
                <a:latin typeface="Arial" panose="020B0604020202020204" pitchFamily="34" charset="0"/>
              </a:rPr>
              <a:t>Preprocessing, chunking, clustering reduced raw reporting overload.</a:t>
            </a:r>
          </a:p>
          <a:p>
            <a:pPr lvl="1" eaLnBrk="0" fontAlgn="base" hangingPunct="0">
              <a:spcBef>
                <a:spcPct val="0"/>
              </a:spcBef>
              <a:spcAft>
                <a:spcPct val="0"/>
              </a:spcAft>
              <a:buFontTx/>
              <a:buChar char="•"/>
            </a:pPr>
            <a:r>
              <a:rPr kumimoji="0" lang="en-US" altLang="en-US" sz="1000" b="0" i="0" u="none" strike="noStrike" cap="none" normalizeH="0" baseline="0" dirty="0">
                <a:ln>
                  <a:noFill/>
                </a:ln>
                <a:solidFill>
                  <a:schemeClr val="tx1"/>
                </a:solidFill>
                <a:effectLst/>
                <a:latin typeface="Arial" panose="020B0604020202020204" pitchFamily="34" charset="0"/>
              </a:rPr>
              <a:t>Deduplication avoided event inflation from redundant coverage.</a:t>
            </a:r>
          </a:p>
          <a:p>
            <a:pPr lvl="1" eaLnBrk="0" fontAlgn="base" hangingPunct="0">
              <a:spcBef>
                <a:spcPct val="0"/>
              </a:spcBef>
              <a:spcAft>
                <a:spcPct val="0"/>
              </a:spcAft>
              <a:buFontTx/>
              <a:buChar char="•"/>
            </a:pPr>
            <a:r>
              <a:rPr kumimoji="0" lang="en-US" altLang="en-US" sz="1000" b="0" i="0" u="none" strike="noStrike" cap="none" normalizeH="0" baseline="0" dirty="0">
                <a:ln>
                  <a:noFill/>
                </a:ln>
                <a:solidFill>
                  <a:schemeClr val="tx1"/>
                </a:solidFill>
                <a:effectLst/>
                <a:latin typeface="Arial" panose="020B0604020202020204" pitchFamily="34" charset="0"/>
              </a:rPr>
              <a:t>Tiered summarization ensured detailed enrichment only for high-volume events.</a:t>
            </a:r>
          </a:p>
          <a:p>
            <a:pPr lvl="1" eaLnBrk="0" fontAlgn="base" hangingPunct="0">
              <a:spcBef>
                <a:spcPct val="0"/>
              </a:spcBef>
              <a:spcAft>
                <a:spcPct val="0"/>
              </a:spcAft>
              <a:buFontTx/>
              <a:buChar char="•"/>
            </a:pPr>
            <a:endParaRPr kumimoji="0" lang="en-US" altLang="en-US"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Arial" panose="020B0604020202020204" pitchFamily="34" charset="0"/>
              </a:rPr>
              <a:t>Human-in-the-Loop &amp; Governance</a:t>
            </a:r>
            <a:endParaRPr kumimoji="0" lang="en-US" altLang="en-US" sz="1000" b="0" i="0" u="none" strike="noStrike" cap="none" normalizeH="0" baseline="0" dirty="0">
              <a:ln>
                <a:noFill/>
              </a:ln>
              <a:solidFill>
                <a:schemeClr val="tx1"/>
              </a:solidFill>
              <a:effectLst/>
              <a:latin typeface="Arial" panose="020B0604020202020204" pitchFamily="34" charset="0"/>
            </a:endParaRPr>
          </a:p>
          <a:p>
            <a:pPr lvl="1" eaLnBrk="0" fontAlgn="base" hangingPunct="0">
              <a:spcBef>
                <a:spcPct val="0"/>
              </a:spcBef>
              <a:spcAft>
                <a:spcPct val="0"/>
              </a:spcAft>
              <a:buFontTx/>
              <a:buChar char="•"/>
            </a:pPr>
            <a:r>
              <a:rPr kumimoji="0" lang="en-US" altLang="en-US" sz="1000" b="0" i="0" u="none" strike="noStrike" cap="none" normalizeH="0" baseline="0" dirty="0">
                <a:ln>
                  <a:noFill/>
                </a:ln>
                <a:solidFill>
                  <a:schemeClr val="tx1"/>
                </a:solidFill>
                <a:effectLst/>
                <a:latin typeface="Arial" panose="020B0604020202020204" pitchFamily="34" charset="0"/>
              </a:rPr>
              <a:t>Analysts validated high-stakes events and anomalies.</a:t>
            </a:r>
          </a:p>
          <a:p>
            <a:pPr lvl="1" eaLnBrk="0" fontAlgn="base" hangingPunct="0">
              <a:spcBef>
                <a:spcPct val="0"/>
              </a:spcBef>
              <a:spcAft>
                <a:spcPct val="0"/>
              </a:spcAft>
              <a:buFontTx/>
              <a:buChar char="•"/>
            </a:pPr>
            <a:r>
              <a:rPr kumimoji="0" lang="en-US" altLang="en-US" sz="1000" b="0" i="0" u="none" strike="noStrike" cap="none" normalizeH="0" baseline="0" dirty="0">
                <a:ln>
                  <a:noFill/>
                </a:ln>
                <a:solidFill>
                  <a:schemeClr val="tx1"/>
                </a:solidFill>
                <a:effectLst/>
                <a:latin typeface="Arial" panose="020B0604020202020204" pitchFamily="34" charset="0"/>
              </a:rPr>
              <a:t>Risk controls prevented unchecked propagation of hallucinated content.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754572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61E5942A271C94E996945351C621101" ma:contentTypeVersion="16" ma:contentTypeDescription="Create a new document." ma:contentTypeScope="" ma:versionID="4b9fb02b50de1d59f4c30469d8c4f1bd">
  <xsd:schema xmlns:xsd="http://www.w3.org/2001/XMLSchema" xmlns:xs="http://www.w3.org/2001/XMLSchema" xmlns:p="http://schemas.microsoft.com/office/2006/metadata/properties" xmlns:ns1="http://schemas.microsoft.com/sharepoint/v3" xmlns:ns3="6d4320c2-4399-437e-8726-af424a4f0256" xmlns:ns4="8599a3b9-162c-44b8-ab5c-26c7720457bf" targetNamespace="http://schemas.microsoft.com/office/2006/metadata/properties" ma:root="true" ma:fieldsID="229f6a1a90a21e1040b985f8d3cd4605" ns1:_="" ns3:_="" ns4:_="">
    <xsd:import namespace="http://schemas.microsoft.com/sharepoint/v3"/>
    <xsd:import namespace="6d4320c2-4399-437e-8726-af424a4f0256"/>
    <xsd:import namespace="8599a3b9-162c-44b8-ab5c-26c7720457bf"/>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ystemTags" minOccurs="0"/>
                <xsd:element ref="ns3:MediaServiceOCR" minOccurs="0"/>
                <xsd:element ref="ns3:MediaServiceGenerationTime" minOccurs="0"/>
                <xsd:element ref="ns3:MediaServiceEventHashCode" minOccurs="0"/>
                <xsd:element ref="ns3:MediaServiceSearchProperties" minOccurs="0"/>
                <xsd:element ref="ns3:MediaServiceDateTaken" minOccurs="0"/>
                <xsd:element ref="ns3:_activity" minOccurs="0"/>
                <xsd:element ref="ns4:SharedWithUsers" minOccurs="0"/>
                <xsd:element ref="ns4:SharedWithDetails" minOccurs="0"/>
                <xsd:element ref="ns4:SharingHintHash" minOccurs="0"/>
                <xsd:element ref="ns3:MediaLengthInSecond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2" nillable="true" ma:displayName="Unified Compliance Policy Properties" ma:hidden="true" ma:internalName="_ip_UnifiedCompliancePolicyProperties">
      <xsd:simpleType>
        <xsd:restriction base="dms:Note"/>
      </xsd:simpleType>
    </xsd:element>
    <xsd:element name="_ip_UnifiedCompliancePolicyUIAction" ma:index="2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d4320c2-4399-437e-8726-af424a4f025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ystemTags" ma:index="11" nillable="true" ma:displayName="MediaServiceSystemTags" ma:hidden="true" ma:internalName="MediaServiceSystemTags" ma:readOnly="true">
      <xsd:simpleType>
        <xsd:restriction base="dms:Note"/>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_activity" ma:index="17" nillable="true" ma:displayName="_activity" ma:hidden="true" ma:internalName="_activity">
      <xsd:simpleType>
        <xsd:restriction base="dms:Note"/>
      </xsd:simpleType>
    </xsd:element>
    <xsd:element name="MediaLengthInSeconds" ma:index="2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599a3b9-162c-44b8-ab5c-26c7720457bf"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activity xmlns="6d4320c2-4399-437e-8726-af424a4f0256"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F99FCD76-3D27-4BE7-B7B7-8548C50E4B1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6d4320c2-4399-437e-8726-af424a4f0256"/>
    <ds:schemaRef ds:uri="8599a3b9-162c-44b8-ab5c-26c7720457b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D9C82EC-888F-46EF-9A29-2949466BD818}">
  <ds:schemaRefs>
    <ds:schemaRef ds:uri="http://schemas.microsoft.com/sharepoint/v3/contenttype/forms"/>
  </ds:schemaRefs>
</ds:datastoreItem>
</file>

<file path=customXml/itemProps3.xml><?xml version="1.0" encoding="utf-8"?>
<ds:datastoreItem xmlns:ds="http://schemas.openxmlformats.org/officeDocument/2006/customXml" ds:itemID="{644F2D95-27B5-456E-9F40-DB4AADA79578}">
  <ds:schemaRefs>
    <ds:schemaRef ds:uri="http://purl.org/dc/dcmitype/"/>
    <ds:schemaRef ds:uri="http://schemas.microsoft.com/office/2006/metadata/properties"/>
    <ds:schemaRef ds:uri="8599a3b9-162c-44b8-ab5c-26c7720457bf"/>
    <ds:schemaRef ds:uri="http://purl.org/dc/elements/1.1/"/>
    <ds:schemaRef ds:uri="http://schemas.openxmlformats.org/package/2006/metadata/core-properties"/>
    <ds:schemaRef ds:uri="http://www.w3.org/XML/1998/namespace"/>
    <ds:schemaRef ds:uri="http://schemas.microsoft.com/office/infopath/2007/PartnerControls"/>
    <ds:schemaRef ds:uri="http://schemas.microsoft.com/office/2006/documentManagement/types"/>
    <ds:schemaRef ds:uri="6d4320c2-4399-437e-8726-af424a4f0256"/>
    <ds:schemaRef ds:uri="http://schemas.microsoft.com/sharepoint/v3"/>
    <ds:schemaRef ds:uri="http://purl.org/dc/terms/"/>
  </ds:schemaRefs>
</ds:datastoreItem>
</file>

<file path=docProps/app.xml><?xml version="1.0" encoding="utf-8"?>
<Properties xmlns="http://schemas.openxmlformats.org/officeDocument/2006/extended-properties" xmlns:vt="http://schemas.openxmlformats.org/officeDocument/2006/docPropsVTypes">
  <TotalTime>495</TotalTime>
  <Words>1885</Words>
  <Application>Microsoft Office PowerPoint</Application>
  <PresentationFormat>Widescreen</PresentationFormat>
  <Paragraphs>262</Paragraphs>
  <Slides>25</Slides>
  <Notes>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25</vt:i4>
      </vt:variant>
    </vt:vector>
  </HeadingPairs>
  <TitlesOfParts>
    <vt:vector size="36" baseType="lpstr">
      <vt:lpstr>Amazon Ember</vt:lpstr>
      <vt:lpstr>-apple-system</vt:lpstr>
      <vt:lpstr>Arial Unicode MS</vt:lpstr>
      <vt:lpstr>Aptos</vt:lpstr>
      <vt:lpstr>Aptos Display</vt:lpstr>
      <vt:lpstr>Arial</vt:lpstr>
      <vt:lpstr>Calibri</vt:lpstr>
      <vt:lpstr>Franklin Gothic Book</vt:lpstr>
      <vt:lpstr>Segoe UI</vt:lpstr>
      <vt:lpstr>Times New Roman</vt:lpstr>
      <vt:lpstr>Office Theme</vt:lpstr>
      <vt:lpstr>Tech Talk </vt:lpstr>
      <vt:lpstr>Agenda </vt:lpstr>
      <vt:lpstr>What is Data Science? The practice of using data through collection, processing, statistical analysis, and machine learning to generate knowledge, predictions, and data informed decisions. </vt:lpstr>
      <vt:lpstr>Natural Language Processing (NLP) </vt:lpstr>
      <vt:lpstr>Key NLP Terms</vt:lpstr>
      <vt:lpstr>Soft Power Project Background</vt:lpstr>
      <vt:lpstr>Approach</vt:lpstr>
      <vt:lpstr>Prompt Experimentation</vt:lpstr>
      <vt:lpstr>Categorization and Extraction (GCDF)</vt:lpstr>
      <vt:lpstr>PowerPoint Presentation</vt:lpstr>
      <vt:lpstr>PowerPoint Presentation</vt:lpstr>
      <vt:lpstr>PowerPoint Presentation</vt:lpstr>
      <vt:lpstr>Knowledge Distillation (Classification)</vt:lpstr>
      <vt:lpstr>Knowledge Distillation (Cont’d)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Challenges</vt:lpstr>
      <vt:lpstr>Techniques &amp; Lessons learned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matthew50</dc:creator>
  <cp:lastModifiedBy>matthew50</cp:lastModifiedBy>
  <cp:revision>2</cp:revision>
  <dcterms:created xsi:type="dcterms:W3CDTF">2025-09-16T14:27:43Z</dcterms:created>
  <dcterms:modified xsi:type="dcterms:W3CDTF">2025-11-12T16:53:09Z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9b2fef4-3f15-4422-b43e-bb42715023dc_Enabled">
    <vt:lpwstr>true</vt:lpwstr>
  </property>
  <property fmtid="{D5CDD505-2E9C-101B-9397-08002B2CF9AE}" pid="3" name="MSIP_Label_99b2fef4-3f15-4422-b43e-bb42715023dc_SetDate">
    <vt:lpwstr>2025-09-16T14:27:59Z</vt:lpwstr>
  </property>
  <property fmtid="{D5CDD505-2E9C-101B-9397-08002B2CF9AE}" pid="4" name="MSIP_Label_99b2fef4-3f15-4422-b43e-bb42715023dc_Method">
    <vt:lpwstr>Privileged</vt:lpwstr>
  </property>
  <property fmtid="{D5CDD505-2E9C-101B-9397-08002B2CF9AE}" pid="5" name="MSIP_Label_99b2fef4-3f15-4422-b43e-bb42715023dc_Name">
    <vt:lpwstr>UNCLASSIFIED</vt:lpwstr>
  </property>
  <property fmtid="{D5CDD505-2E9C-101B-9397-08002B2CF9AE}" pid="6" name="MSIP_Label_99b2fef4-3f15-4422-b43e-bb42715023dc_SiteId">
    <vt:lpwstr>f8f6d4e3-afa9-4149-9012-cb5b450afd4f</vt:lpwstr>
  </property>
  <property fmtid="{D5CDD505-2E9C-101B-9397-08002B2CF9AE}" pid="7" name="MSIP_Label_99b2fef4-3f15-4422-b43e-bb42715023dc_ActionId">
    <vt:lpwstr>ac4d333c-4c86-4d26-850d-613896ee809f</vt:lpwstr>
  </property>
  <property fmtid="{D5CDD505-2E9C-101B-9397-08002B2CF9AE}" pid="8" name="MSIP_Label_99b2fef4-3f15-4422-b43e-bb42715023dc_ContentBits">
    <vt:lpwstr>0</vt:lpwstr>
  </property>
  <property fmtid="{D5CDD505-2E9C-101B-9397-08002B2CF9AE}" pid="9" name="MSIP_Label_99b2fef4-3f15-4422-b43e-bb42715023dc_Tag">
    <vt:lpwstr>10, 0, 1, 1</vt:lpwstr>
  </property>
  <property fmtid="{D5CDD505-2E9C-101B-9397-08002B2CF9AE}" pid="10" name="ContentTypeId">
    <vt:lpwstr>0x010100F61E5942A271C94E996945351C621101</vt:lpwstr>
  </property>
</Properties>
</file>